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444" r:id="rId2"/>
    <p:sldId id="499" r:id="rId3"/>
    <p:sldId id="525" r:id="rId4"/>
    <p:sldId id="526" r:id="rId5"/>
    <p:sldId id="529" r:id="rId6"/>
    <p:sldId id="530" r:id="rId7"/>
    <p:sldId id="531" r:id="rId8"/>
    <p:sldId id="532" r:id="rId9"/>
    <p:sldId id="533" r:id="rId10"/>
    <p:sldId id="534" r:id="rId11"/>
    <p:sldId id="501" r:id="rId12"/>
    <p:sldId id="502" r:id="rId1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 Narrow" panose="020B0606020202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  <a:srgbClr val="FF00FF"/>
    <a:srgbClr val="0000CC"/>
    <a:srgbClr val="339933"/>
    <a:srgbClr val="3399FF"/>
    <a:srgbClr val="CC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/>
    <p:restoredTop sz="80892" autoAdjust="0"/>
  </p:normalViewPr>
  <p:slideViewPr>
    <p:cSldViewPr showGuides="1">
      <p:cViewPr varScale="1">
        <p:scale>
          <a:sx n="89" d="100"/>
          <a:sy n="89" d="100"/>
        </p:scale>
        <p:origin x="1836" y="90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 b="0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2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第五级</a:t>
            </a:r>
          </a:p>
        </p:txBody>
      </p:sp>
      <p:sp>
        <p:nvSpPr>
          <p:cNvPr id="182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 b="0"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82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Verdan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EA7418D-7457-4D74-9800-BFF8FF0FDD7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zh-CN" dirty="0">
                <a:latin typeface="Verdana" panose="020B0604030504040204" pitchFamily="34" charset="0"/>
              </a:rPr>
              <a:t>1</a:t>
            </a:fld>
            <a:endParaRPr lang="en-US" altLang="zh-CN" dirty="0"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440" tIns="45720" rIns="91440" bIns="45720" anchor="t" anchorCtr="0"/>
          <a:lstStyle/>
          <a:p>
            <a:pPr lvl="0" eaLnBrk="1" hangingPunct="1"/>
            <a:r>
              <a:rPr lang="zh-CN" altLang="en-US" dirty="0"/>
              <a:t>此处说明电压电流等为什麽用相量形式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正弦波、三角波、方波、语音信号。只有方波是数字信号。方波在幅度上只有高低两种电平，如果时间上也是量化的（用时钟周期确定），那就是标准的数字信号；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13360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>
                <a:ea typeface="隶书" pitchFamily="49" charset="-122"/>
              </a:defRPr>
            </a:lvl1pPr>
          </a:lstStyle>
          <a:p>
            <a:pPr lvl="0"/>
            <a:r>
              <a:rPr lang="en-US" altLang="zh-CN" noProof="0"/>
              <a:t>abcd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4213" y="3141663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zh-CN" noProof="0"/>
              <a:t>abcdefg</a:t>
            </a:r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1188" y="1628775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7888" y="1628775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04000" y="260350"/>
            <a:ext cx="2008188" cy="56356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4675" y="260350"/>
            <a:ext cx="5876925" cy="56356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4"/>
          <p:cNvSpPr>
            <a:spLocks noChangeArrowheads="1"/>
          </p:cNvSpPr>
          <p:nvPr/>
        </p:nvSpPr>
        <p:spPr bwMode="auto">
          <a:xfrm>
            <a:off x="0" y="1219200"/>
            <a:ext cx="9144000" cy="4800600"/>
          </a:xfrm>
          <a:prstGeom prst="rect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 Narrow" panose="020B0606020202030204" pitchFamily="34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/>
            <a:r>
              <a:rPr lang="zh-CN" altLang="en-US" dirty="0"/>
              <a:t>单击此处编辑母版标题样式</a:t>
            </a:r>
            <a:r>
              <a:rPr lang="en-US" altLang="zh-CN" dirty="0"/>
              <a:t>abcd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611188" y="1628775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abvd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/>
          <p:nvPr/>
        </p:nvSpPr>
        <p:spPr>
          <a:xfrm>
            <a:off x="609600" y="105251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  <a:cxn ang="0">
                <a:pos x="2147483646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>
              <a:alpha val="100000"/>
            </a:schemeClr>
          </a:solidFill>
          <a:ln w="9525" cap="flat" cmpd="sng">
            <a:solidFill>
              <a:schemeClr val="accent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308725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1030" name="Picture 17" descr="未标题-3 拷贝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6425" y="6589713"/>
            <a:ext cx="150813" cy="14446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 Narrow" panose="020B0606020202030204" pitchFamily="34" charset="0"/>
          <a:ea typeface="楷体_GB2312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800" b="1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4"/>
          <p:cNvSpPr/>
          <p:nvPr/>
        </p:nvSpPr>
        <p:spPr>
          <a:xfrm>
            <a:off x="1476375" y="1109663"/>
            <a:ext cx="4476750" cy="823912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4800" dirty="0">
                <a:solidFill>
                  <a:schemeClr val="accent2"/>
                </a:solidFill>
                <a:latin typeface="楷体_GB2312" pitchFamily="49" charset="-122"/>
              </a:rPr>
              <a:t>1.</a:t>
            </a:r>
            <a:r>
              <a:rPr lang="zh-CN" altLang="en-US" sz="4800" dirty="0">
                <a:solidFill>
                  <a:schemeClr val="accent2"/>
                </a:solidFill>
                <a:latin typeface="楷体_GB2312" pitchFamily="49" charset="-122"/>
              </a:rPr>
              <a:t>数字逻辑基础</a:t>
            </a:r>
          </a:p>
        </p:txBody>
      </p:sp>
      <p:sp>
        <p:nvSpPr>
          <p:cNvPr id="19459" name="Rectangle 25"/>
          <p:cNvSpPr/>
          <p:nvPr/>
        </p:nvSpPr>
        <p:spPr>
          <a:xfrm>
            <a:off x="1258888" y="2301875"/>
            <a:ext cx="3892550" cy="1323975"/>
          </a:xfrm>
          <a:prstGeom prst="rect">
            <a:avLst/>
          </a:prstGeom>
          <a:noFill/>
          <a:ln w="889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3200" dirty="0">
                <a:solidFill>
                  <a:srgbClr val="0000CC"/>
                </a:solidFill>
                <a:ea typeface="宋体" pitchFamily="2" charset="-122"/>
              </a:rPr>
              <a:t>数字系统的基本概念</a:t>
            </a:r>
            <a:endParaRPr lang="zh-CN" altLang="en-US" sz="3200" i="1" dirty="0">
              <a:ea typeface="宋体" pitchFamily="2" charset="-122"/>
            </a:endParaRP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endParaRPr lang="zh-CN" altLang="en-US" sz="3200" dirty="0">
              <a:solidFill>
                <a:srgbClr val="000066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5"/>
          <p:cNvSpPr txBox="1"/>
          <p:nvPr/>
        </p:nvSpPr>
        <p:spPr>
          <a:xfrm>
            <a:off x="423863" y="328613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800000"/>
                </a:solidFill>
                <a:latin typeface="Times New Roman" panose="02020603050405020304" pitchFamily="18" charset="0"/>
                <a:ea typeface="宋体" pitchFamily="2" charset="-122"/>
              </a:rPr>
              <a:t>二、数字系统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71488" y="1404938"/>
            <a:ext cx="8105775" cy="1385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   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数字系统是一个能对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数字信号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进行存储、传递和加工的实体，它由实现各种功能的数字逻辑电路相互连接构成。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 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例如，数字计算机。 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785813" y="28575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  <a:ea typeface="宋体" pitchFamily="2" charset="-122"/>
                <a:cs typeface="+mn-cs"/>
              </a:rPr>
              <a:t>1</a:t>
            </a:r>
            <a:r>
              <a:rPr kumimoji="0" lang="zh-CN" altLang="en-US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  <a:ea typeface="宋体" pitchFamily="2" charset="-122"/>
                <a:cs typeface="+mn-cs"/>
              </a:rPr>
              <a:t>、数字信号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304800" y="3409950"/>
            <a:ext cx="8610600" cy="20621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    若信号的变化在时间上和数值上都是离散的，或者说断续的，则称为离散信号。离散信号的变化可用不同的数字反映，所以又称为数字信号，简称为数字量。</a:t>
            </a:r>
          </a:p>
          <a:p>
            <a:pPr marR="0" algn="just" defTabSz="914400" eaLnBrk="1" hangingPunct="1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solidFill>
                  <a:srgbClr val="FF3300"/>
                </a:solidFill>
                <a:latin typeface="+mn-ea"/>
                <a:ea typeface="+mn-ea"/>
                <a:cs typeface="+mn-cs"/>
              </a:rPr>
              <a:t>    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例如，学生成绩记录，工厂产品统计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,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电路中开关的状态等。</a:t>
            </a:r>
          </a:p>
          <a:p>
            <a:pPr marR="0" algn="just" defTabSz="914400" eaLnBrk="1" hangingPunct="1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    </a:t>
            </a:r>
            <a:r>
              <a:rPr kumimoji="0" lang="zh-CN" altLang="en-US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数字系统只能处理数字信号，当数字系统要与模拟信号发生联系时，必须经过模</a:t>
            </a:r>
            <a:r>
              <a:rPr kumimoji="0" lang="en-US" altLang="zh-CN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数</a:t>
            </a:r>
            <a:r>
              <a:rPr kumimoji="0" lang="en-US" altLang="zh-CN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(A/D)</a:t>
            </a:r>
            <a:r>
              <a:rPr kumimoji="0" lang="zh-CN" altLang="en-US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转换和数</a:t>
            </a:r>
            <a:r>
              <a:rPr kumimoji="0" lang="en-US" altLang="zh-CN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/</a:t>
            </a:r>
            <a:r>
              <a:rPr kumimoji="0" lang="zh-CN" altLang="en-US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模</a:t>
            </a:r>
            <a:r>
              <a:rPr kumimoji="0" lang="en-US" altLang="zh-CN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(D/A)</a:t>
            </a:r>
            <a:r>
              <a:rPr kumimoji="0" lang="zh-CN" altLang="en-US" sz="2000" kern="1200" cap="none" spc="0" normalizeH="0" baseline="0" noProof="0" dirty="0">
                <a:solidFill>
                  <a:srgbClr val="800000"/>
                </a:solidFill>
                <a:latin typeface="+mn-ea"/>
                <a:ea typeface="+mn-ea"/>
                <a:cs typeface="+mn-cs"/>
              </a:rPr>
              <a:t>转换电路，对信号类型进行变换。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09600" y="825500"/>
            <a:ext cx="4338638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什么是数字系统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?   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0"/>
            <a:ext cx="8358188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注意：客观世界中的大量信号都是连续量。例如，温度、压力、流量等。可以对它们进行模拟、转化！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4" name="Rectangle 4"/>
          <p:cNvSpPr/>
          <p:nvPr/>
        </p:nvSpPr>
        <p:spPr>
          <a:xfrm>
            <a:off x="1676400" y="2616200"/>
            <a:ext cx="5848350" cy="3671888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CC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dirty="0">
              <a:ea typeface="宋体" pitchFamily="2" charset="-122"/>
            </a:endParaRPr>
          </a:p>
        </p:txBody>
      </p:sp>
      <p:sp>
        <p:nvSpPr>
          <p:cNvPr id="24579" name="Text Box 5"/>
          <p:cNvSpPr txBox="1"/>
          <p:nvPr/>
        </p:nvSpPr>
        <p:spPr>
          <a:xfrm>
            <a:off x="790575" y="1844675"/>
            <a:ext cx="8353425" cy="6032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00066"/>
                </a:solidFill>
                <a:latin typeface="楷体_GB2312" pitchFamily="49" charset="-122"/>
              </a:rPr>
              <a:t>---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</a:rPr>
              <a:t>时间和数值均连续变化的电信号，如正弦波、三角波等 </a:t>
            </a:r>
          </a:p>
        </p:txBody>
      </p:sp>
      <p:grpSp>
        <p:nvGrpSpPr>
          <p:cNvPr id="399366" name="Group 6"/>
          <p:cNvGrpSpPr/>
          <p:nvPr/>
        </p:nvGrpSpPr>
        <p:grpSpPr>
          <a:xfrm>
            <a:off x="2676525" y="4813300"/>
            <a:ext cx="3748088" cy="1512888"/>
            <a:chOff x="1686" y="2721"/>
            <a:chExt cx="2361" cy="953"/>
          </a:xfrm>
        </p:grpSpPr>
        <p:sp>
          <p:nvSpPr>
            <p:cNvPr id="24600" name="Line 7"/>
            <p:cNvSpPr/>
            <p:nvPr/>
          </p:nvSpPr>
          <p:spPr>
            <a:xfrm>
              <a:off x="1887" y="2897"/>
              <a:ext cx="1" cy="7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1" name="Line 8"/>
            <p:cNvSpPr/>
            <p:nvPr/>
          </p:nvSpPr>
          <p:spPr>
            <a:xfrm flipH="1">
              <a:off x="1887" y="3355"/>
              <a:ext cx="205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Line 9"/>
            <p:cNvSpPr/>
            <p:nvPr/>
          </p:nvSpPr>
          <p:spPr>
            <a:xfrm flipV="1">
              <a:off x="1887" y="2946"/>
              <a:ext cx="304" cy="4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3" name="Line 10"/>
            <p:cNvSpPr/>
            <p:nvPr/>
          </p:nvSpPr>
          <p:spPr>
            <a:xfrm>
              <a:off x="2186" y="2946"/>
              <a:ext cx="299" cy="40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Line 11"/>
            <p:cNvSpPr/>
            <p:nvPr/>
          </p:nvSpPr>
          <p:spPr>
            <a:xfrm flipV="1">
              <a:off x="2485" y="2935"/>
              <a:ext cx="311" cy="4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Line 12"/>
            <p:cNvSpPr/>
            <p:nvPr/>
          </p:nvSpPr>
          <p:spPr>
            <a:xfrm>
              <a:off x="2791" y="2935"/>
              <a:ext cx="307" cy="4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Line 13"/>
            <p:cNvSpPr/>
            <p:nvPr/>
          </p:nvSpPr>
          <p:spPr>
            <a:xfrm flipV="1">
              <a:off x="3093" y="2949"/>
              <a:ext cx="298" cy="40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7" name="Line 14"/>
            <p:cNvSpPr/>
            <p:nvPr/>
          </p:nvSpPr>
          <p:spPr>
            <a:xfrm>
              <a:off x="3386" y="2946"/>
              <a:ext cx="304" cy="40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Line 15"/>
            <p:cNvSpPr/>
            <p:nvPr/>
          </p:nvSpPr>
          <p:spPr>
            <a:xfrm>
              <a:off x="3895" y="3352"/>
              <a:ext cx="109" cy="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9" name="Freeform 16"/>
            <p:cNvSpPr/>
            <p:nvPr/>
          </p:nvSpPr>
          <p:spPr>
            <a:xfrm>
              <a:off x="3911" y="3338"/>
              <a:ext cx="93" cy="31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0" y="0"/>
                </a:cxn>
                <a:cxn ang="0">
                  <a:pos x="93" y="14"/>
                </a:cxn>
                <a:cxn ang="0">
                  <a:pos x="0" y="31"/>
                </a:cxn>
              </a:cxnLst>
              <a:rect l="0" t="0" r="0" b="0"/>
              <a:pathLst>
                <a:path w="93" h="31">
                  <a:moveTo>
                    <a:pt x="0" y="31"/>
                  </a:moveTo>
                  <a:lnTo>
                    <a:pt x="0" y="0"/>
                  </a:lnTo>
                  <a:lnTo>
                    <a:pt x="93" y="14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Freeform 17"/>
            <p:cNvSpPr/>
            <p:nvPr/>
          </p:nvSpPr>
          <p:spPr>
            <a:xfrm>
              <a:off x="3911" y="3338"/>
              <a:ext cx="93" cy="31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0" y="0"/>
                </a:cxn>
                <a:cxn ang="0">
                  <a:pos x="93" y="14"/>
                </a:cxn>
                <a:cxn ang="0">
                  <a:pos x="0" y="31"/>
                </a:cxn>
              </a:cxnLst>
              <a:rect l="0" t="0" r="0" b="0"/>
              <a:pathLst>
                <a:path w="93" h="31">
                  <a:moveTo>
                    <a:pt x="0" y="31"/>
                  </a:moveTo>
                  <a:lnTo>
                    <a:pt x="0" y="0"/>
                  </a:lnTo>
                  <a:lnTo>
                    <a:pt x="93" y="14"/>
                  </a:lnTo>
                  <a:lnTo>
                    <a:pt x="0" y="31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18"/>
            <p:cNvSpPr/>
            <p:nvPr/>
          </p:nvSpPr>
          <p:spPr>
            <a:xfrm flipV="1">
              <a:off x="1890" y="2774"/>
              <a:ext cx="2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Freeform 19"/>
            <p:cNvSpPr/>
            <p:nvPr/>
          </p:nvSpPr>
          <p:spPr>
            <a:xfrm>
              <a:off x="1879" y="2774"/>
              <a:ext cx="24" cy="126"/>
            </a:xfrm>
            <a:custGeom>
              <a:avLst/>
              <a:gdLst/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0" t="0" r="0" b="0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3" name="Freeform 20"/>
            <p:cNvSpPr/>
            <p:nvPr/>
          </p:nvSpPr>
          <p:spPr>
            <a:xfrm>
              <a:off x="1879" y="2774"/>
              <a:ext cx="24" cy="126"/>
            </a:xfrm>
            <a:custGeom>
              <a:avLst/>
              <a:gdLst/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0" t="0" r="0" b="0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Rectangle 21"/>
            <p:cNvSpPr/>
            <p:nvPr/>
          </p:nvSpPr>
          <p:spPr>
            <a:xfrm>
              <a:off x="1687" y="2721"/>
              <a:ext cx="9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 dirty="0">
                  <a:latin typeface="Symbol" pitchFamily="18" charset="2"/>
                  <a:ea typeface="宋体" pitchFamily="2" charset="-122"/>
                </a:rPr>
                <a:t>u</a:t>
              </a:r>
              <a:endParaRPr lang="en-US" altLang="zh-CN" sz="2000" dirty="0"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24615" name="Rectangle 22"/>
            <p:cNvSpPr/>
            <p:nvPr/>
          </p:nvSpPr>
          <p:spPr>
            <a:xfrm>
              <a:off x="1686" y="3219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宋体" pitchFamily="2" charset="-122"/>
                </a:rPr>
                <a:t>O</a:t>
              </a:r>
              <a:endParaRPr lang="en-US" altLang="zh-CN" sz="2000" dirty="0"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24616" name="Rectangle 23"/>
            <p:cNvSpPr/>
            <p:nvPr/>
          </p:nvSpPr>
          <p:spPr>
            <a:xfrm flipH="1">
              <a:off x="3980" y="3347"/>
              <a:ext cx="6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宋体" pitchFamily="2" charset="-122"/>
                </a:rPr>
                <a:t>t</a:t>
              </a:r>
              <a:endParaRPr lang="en-US" altLang="zh-CN" sz="2000" dirty="0">
                <a:latin typeface="Garamond" pitchFamily="18" charset="0"/>
                <a:ea typeface="宋体" pitchFamily="2" charset="-122"/>
              </a:endParaRPr>
            </a:p>
          </p:txBody>
        </p:sp>
      </p:grpSp>
      <p:grpSp>
        <p:nvGrpSpPr>
          <p:cNvPr id="399384" name="Group 24"/>
          <p:cNvGrpSpPr/>
          <p:nvPr/>
        </p:nvGrpSpPr>
        <p:grpSpPr>
          <a:xfrm>
            <a:off x="2097088" y="2919413"/>
            <a:ext cx="4371975" cy="1592262"/>
            <a:chOff x="1321" y="1771"/>
            <a:chExt cx="2754" cy="1003"/>
          </a:xfrm>
        </p:grpSpPr>
        <p:sp>
          <p:nvSpPr>
            <p:cNvPr id="24584" name="Rectangle 25"/>
            <p:cNvSpPr/>
            <p:nvPr/>
          </p:nvSpPr>
          <p:spPr>
            <a:xfrm>
              <a:off x="1321" y="2234"/>
              <a:ext cx="34" cy="1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700" b="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itchFamily="2" charset="-122"/>
                </a:rPr>
                <a:t> </a:t>
              </a:r>
              <a:endParaRPr lang="en-US" altLang="zh-CN" sz="1800" b="0" dirty="0"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24585" name="Line 26"/>
            <p:cNvSpPr/>
            <p:nvPr/>
          </p:nvSpPr>
          <p:spPr>
            <a:xfrm>
              <a:off x="1881" y="2474"/>
              <a:ext cx="1951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6" name="Freeform 27"/>
            <p:cNvSpPr/>
            <p:nvPr/>
          </p:nvSpPr>
          <p:spPr>
            <a:xfrm>
              <a:off x="1881" y="2167"/>
              <a:ext cx="409" cy="287"/>
            </a:xfrm>
            <a:custGeom>
              <a:avLst/>
              <a:gdLst/>
              <a:ahLst/>
              <a:cxnLst>
                <a:cxn ang="0">
                  <a:pos x="0" y="287"/>
                </a:cxn>
                <a:cxn ang="0">
                  <a:pos x="26" y="234"/>
                </a:cxn>
                <a:cxn ang="0">
                  <a:pos x="51" y="182"/>
                </a:cxn>
                <a:cxn ang="0">
                  <a:pos x="77" y="133"/>
                </a:cxn>
                <a:cxn ang="0">
                  <a:pos x="89" y="110"/>
                </a:cxn>
                <a:cxn ang="0">
                  <a:pos x="102" y="89"/>
                </a:cxn>
                <a:cxn ang="0">
                  <a:pos x="115" y="71"/>
                </a:cxn>
                <a:cxn ang="0">
                  <a:pos x="128" y="53"/>
                </a:cxn>
                <a:cxn ang="0">
                  <a:pos x="141" y="38"/>
                </a:cxn>
                <a:cxn ang="0">
                  <a:pos x="153" y="25"/>
                </a:cxn>
                <a:cxn ang="0">
                  <a:pos x="166" y="14"/>
                </a:cxn>
                <a:cxn ang="0">
                  <a:pos x="179" y="6"/>
                </a:cxn>
                <a:cxn ang="0">
                  <a:pos x="192" y="2"/>
                </a:cxn>
                <a:cxn ang="0">
                  <a:pos x="205" y="0"/>
                </a:cxn>
                <a:cxn ang="0">
                  <a:pos x="218" y="2"/>
                </a:cxn>
                <a:cxn ang="0">
                  <a:pos x="231" y="6"/>
                </a:cxn>
                <a:cxn ang="0">
                  <a:pos x="243" y="14"/>
                </a:cxn>
                <a:cxn ang="0">
                  <a:pos x="256" y="25"/>
                </a:cxn>
                <a:cxn ang="0">
                  <a:pos x="269" y="38"/>
                </a:cxn>
                <a:cxn ang="0">
                  <a:pos x="282" y="53"/>
                </a:cxn>
                <a:cxn ang="0">
                  <a:pos x="294" y="71"/>
                </a:cxn>
                <a:cxn ang="0">
                  <a:pos x="307" y="89"/>
                </a:cxn>
                <a:cxn ang="0">
                  <a:pos x="320" y="110"/>
                </a:cxn>
                <a:cxn ang="0">
                  <a:pos x="333" y="133"/>
                </a:cxn>
                <a:cxn ang="0">
                  <a:pos x="358" y="182"/>
                </a:cxn>
                <a:cxn ang="0">
                  <a:pos x="384" y="234"/>
                </a:cxn>
                <a:cxn ang="0">
                  <a:pos x="409" y="287"/>
                </a:cxn>
              </a:cxnLst>
              <a:rect l="0" t="0" r="0" b="0"/>
              <a:pathLst>
                <a:path w="409" h="287">
                  <a:moveTo>
                    <a:pt x="0" y="287"/>
                  </a:moveTo>
                  <a:lnTo>
                    <a:pt x="26" y="234"/>
                  </a:lnTo>
                  <a:lnTo>
                    <a:pt x="51" y="182"/>
                  </a:lnTo>
                  <a:lnTo>
                    <a:pt x="77" y="133"/>
                  </a:lnTo>
                  <a:lnTo>
                    <a:pt x="89" y="110"/>
                  </a:lnTo>
                  <a:lnTo>
                    <a:pt x="102" y="89"/>
                  </a:lnTo>
                  <a:lnTo>
                    <a:pt x="115" y="71"/>
                  </a:lnTo>
                  <a:lnTo>
                    <a:pt x="128" y="53"/>
                  </a:lnTo>
                  <a:lnTo>
                    <a:pt x="141" y="38"/>
                  </a:lnTo>
                  <a:lnTo>
                    <a:pt x="153" y="25"/>
                  </a:lnTo>
                  <a:lnTo>
                    <a:pt x="166" y="14"/>
                  </a:lnTo>
                  <a:lnTo>
                    <a:pt x="179" y="6"/>
                  </a:lnTo>
                  <a:lnTo>
                    <a:pt x="192" y="2"/>
                  </a:lnTo>
                  <a:lnTo>
                    <a:pt x="205" y="0"/>
                  </a:lnTo>
                  <a:lnTo>
                    <a:pt x="218" y="2"/>
                  </a:lnTo>
                  <a:lnTo>
                    <a:pt x="231" y="6"/>
                  </a:lnTo>
                  <a:lnTo>
                    <a:pt x="243" y="14"/>
                  </a:lnTo>
                  <a:lnTo>
                    <a:pt x="256" y="25"/>
                  </a:lnTo>
                  <a:lnTo>
                    <a:pt x="269" y="38"/>
                  </a:lnTo>
                  <a:lnTo>
                    <a:pt x="282" y="53"/>
                  </a:lnTo>
                  <a:lnTo>
                    <a:pt x="294" y="71"/>
                  </a:lnTo>
                  <a:lnTo>
                    <a:pt x="307" y="89"/>
                  </a:lnTo>
                  <a:lnTo>
                    <a:pt x="320" y="110"/>
                  </a:lnTo>
                  <a:lnTo>
                    <a:pt x="333" y="133"/>
                  </a:lnTo>
                  <a:lnTo>
                    <a:pt x="358" y="182"/>
                  </a:lnTo>
                  <a:lnTo>
                    <a:pt x="384" y="234"/>
                  </a:lnTo>
                  <a:lnTo>
                    <a:pt x="409" y="287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7" name="Freeform 28"/>
            <p:cNvSpPr/>
            <p:nvPr/>
          </p:nvSpPr>
          <p:spPr>
            <a:xfrm>
              <a:off x="2287" y="2466"/>
              <a:ext cx="411" cy="2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7" y="53"/>
                </a:cxn>
                <a:cxn ang="0">
                  <a:pos x="52" y="105"/>
                </a:cxn>
                <a:cxn ang="0">
                  <a:pos x="78" y="153"/>
                </a:cxn>
                <a:cxn ang="0">
                  <a:pos x="91" y="177"/>
                </a:cxn>
                <a:cxn ang="0">
                  <a:pos x="104" y="197"/>
                </a:cxn>
                <a:cxn ang="0">
                  <a:pos x="116" y="216"/>
                </a:cxn>
                <a:cxn ang="0">
                  <a:pos x="129" y="233"/>
                </a:cxn>
                <a:cxn ang="0">
                  <a:pos x="142" y="249"/>
                </a:cxn>
                <a:cxn ang="0">
                  <a:pos x="155" y="262"/>
                </a:cxn>
                <a:cxn ang="0">
                  <a:pos x="168" y="273"/>
                </a:cxn>
                <a:cxn ang="0">
                  <a:pos x="180" y="280"/>
                </a:cxn>
                <a:cxn ang="0">
                  <a:pos x="193" y="285"/>
                </a:cxn>
                <a:cxn ang="0">
                  <a:pos x="206" y="287"/>
                </a:cxn>
                <a:cxn ang="0">
                  <a:pos x="219" y="285"/>
                </a:cxn>
                <a:cxn ang="0">
                  <a:pos x="232" y="280"/>
                </a:cxn>
                <a:cxn ang="0">
                  <a:pos x="244" y="273"/>
                </a:cxn>
                <a:cxn ang="0">
                  <a:pos x="257" y="262"/>
                </a:cxn>
                <a:cxn ang="0">
                  <a:pos x="270" y="249"/>
                </a:cxn>
                <a:cxn ang="0">
                  <a:pos x="283" y="233"/>
                </a:cxn>
                <a:cxn ang="0">
                  <a:pos x="295" y="216"/>
                </a:cxn>
                <a:cxn ang="0">
                  <a:pos x="308" y="197"/>
                </a:cxn>
                <a:cxn ang="0">
                  <a:pos x="321" y="177"/>
                </a:cxn>
                <a:cxn ang="0">
                  <a:pos x="334" y="153"/>
                </a:cxn>
                <a:cxn ang="0">
                  <a:pos x="359" y="105"/>
                </a:cxn>
                <a:cxn ang="0">
                  <a:pos x="385" y="53"/>
                </a:cxn>
                <a:cxn ang="0">
                  <a:pos x="411" y="0"/>
                </a:cxn>
              </a:cxnLst>
              <a:rect l="0" t="0" r="0" b="0"/>
              <a:pathLst>
                <a:path w="411" h="287">
                  <a:moveTo>
                    <a:pt x="0" y="0"/>
                  </a:moveTo>
                  <a:lnTo>
                    <a:pt x="27" y="53"/>
                  </a:lnTo>
                  <a:lnTo>
                    <a:pt x="52" y="105"/>
                  </a:lnTo>
                  <a:lnTo>
                    <a:pt x="78" y="153"/>
                  </a:lnTo>
                  <a:lnTo>
                    <a:pt x="91" y="177"/>
                  </a:lnTo>
                  <a:lnTo>
                    <a:pt x="104" y="197"/>
                  </a:lnTo>
                  <a:lnTo>
                    <a:pt x="116" y="216"/>
                  </a:lnTo>
                  <a:lnTo>
                    <a:pt x="129" y="233"/>
                  </a:lnTo>
                  <a:lnTo>
                    <a:pt x="142" y="249"/>
                  </a:lnTo>
                  <a:lnTo>
                    <a:pt x="155" y="262"/>
                  </a:lnTo>
                  <a:lnTo>
                    <a:pt x="168" y="273"/>
                  </a:lnTo>
                  <a:lnTo>
                    <a:pt x="180" y="280"/>
                  </a:lnTo>
                  <a:lnTo>
                    <a:pt x="193" y="285"/>
                  </a:lnTo>
                  <a:lnTo>
                    <a:pt x="206" y="287"/>
                  </a:lnTo>
                  <a:lnTo>
                    <a:pt x="219" y="285"/>
                  </a:lnTo>
                  <a:lnTo>
                    <a:pt x="232" y="280"/>
                  </a:lnTo>
                  <a:lnTo>
                    <a:pt x="244" y="273"/>
                  </a:lnTo>
                  <a:lnTo>
                    <a:pt x="257" y="262"/>
                  </a:lnTo>
                  <a:lnTo>
                    <a:pt x="270" y="249"/>
                  </a:lnTo>
                  <a:lnTo>
                    <a:pt x="283" y="233"/>
                  </a:lnTo>
                  <a:lnTo>
                    <a:pt x="295" y="216"/>
                  </a:lnTo>
                  <a:lnTo>
                    <a:pt x="308" y="197"/>
                  </a:lnTo>
                  <a:lnTo>
                    <a:pt x="321" y="177"/>
                  </a:lnTo>
                  <a:lnTo>
                    <a:pt x="334" y="153"/>
                  </a:lnTo>
                  <a:lnTo>
                    <a:pt x="359" y="105"/>
                  </a:lnTo>
                  <a:lnTo>
                    <a:pt x="385" y="53"/>
                  </a:lnTo>
                  <a:lnTo>
                    <a:pt x="411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Freeform 29"/>
            <p:cNvSpPr/>
            <p:nvPr/>
          </p:nvSpPr>
          <p:spPr>
            <a:xfrm>
              <a:off x="2696" y="2185"/>
              <a:ext cx="409" cy="285"/>
            </a:xfrm>
            <a:custGeom>
              <a:avLst/>
              <a:gdLst/>
              <a:ahLst/>
              <a:cxnLst>
                <a:cxn ang="0">
                  <a:pos x="0" y="285"/>
                </a:cxn>
                <a:cxn ang="0">
                  <a:pos x="26" y="232"/>
                </a:cxn>
                <a:cxn ang="0">
                  <a:pos x="51" y="180"/>
                </a:cxn>
                <a:cxn ang="0">
                  <a:pos x="77" y="132"/>
                </a:cxn>
                <a:cxn ang="0">
                  <a:pos x="89" y="110"/>
                </a:cxn>
                <a:cxn ang="0">
                  <a:pos x="102" y="89"/>
                </a:cxn>
                <a:cxn ang="0">
                  <a:pos x="115" y="71"/>
                </a:cxn>
                <a:cxn ang="0">
                  <a:pos x="128" y="53"/>
                </a:cxn>
                <a:cxn ang="0">
                  <a:pos x="140" y="38"/>
                </a:cxn>
                <a:cxn ang="0">
                  <a:pos x="153" y="25"/>
                </a:cxn>
                <a:cxn ang="0">
                  <a:pos x="166" y="14"/>
                </a:cxn>
                <a:cxn ang="0">
                  <a:pos x="179" y="6"/>
                </a:cxn>
                <a:cxn ang="0">
                  <a:pos x="191" y="2"/>
                </a:cxn>
                <a:cxn ang="0">
                  <a:pos x="204" y="0"/>
                </a:cxn>
                <a:cxn ang="0">
                  <a:pos x="217" y="2"/>
                </a:cxn>
                <a:cxn ang="0">
                  <a:pos x="230" y="6"/>
                </a:cxn>
                <a:cxn ang="0">
                  <a:pos x="242" y="14"/>
                </a:cxn>
                <a:cxn ang="0">
                  <a:pos x="255" y="25"/>
                </a:cxn>
                <a:cxn ang="0">
                  <a:pos x="268" y="38"/>
                </a:cxn>
                <a:cxn ang="0">
                  <a:pos x="281" y="53"/>
                </a:cxn>
                <a:cxn ang="0">
                  <a:pos x="294" y="71"/>
                </a:cxn>
                <a:cxn ang="0">
                  <a:pos x="307" y="89"/>
                </a:cxn>
                <a:cxn ang="0">
                  <a:pos x="319" y="110"/>
                </a:cxn>
                <a:cxn ang="0">
                  <a:pos x="332" y="132"/>
                </a:cxn>
                <a:cxn ang="0">
                  <a:pos x="358" y="180"/>
                </a:cxn>
                <a:cxn ang="0">
                  <a:pos x="383" y="232"/>
                </a:cxn>
                <a:cxn ang="0">
                  <a:pos x="409" y="285"/>
                </a:cxn>
              </a:cxnLst>
              <a:rect l="0" t="0" r="0" b="0"/>
              <a:pathLst>
                <a:path w="409" h="285">
                  <a:moveTo>
                    <a:pt x="0" y="285"/>
                  </a:moveTo>
                  <a:lnTo>
                    <a:pt x="26" y="232"/>
                  </a:lnTo>
                  <a:lnTo>
                    <a:pt x="51" y="180"/>
                  </a:lnTo>
                  <a:lnTo>
                    <a:pt x="77" y="132"/>
                  </a:lnTo>
                  <a:lnTo>
                    <a:pt x="89" y="110"/>
                  </a:lnTo>
                  <a:lnTo>
                    <a:pt x="102" y="89"/>
                  </a:lnTo>
                  <a:lnTo>
                    <a:pt x="115" y="71"/>
                  </a:lnTo>
                  <a:lnTo>
                    <a:pt x="128" y="53"/>
                  </a:lnTo>
                  <a:lnTo>
                    <a:pt x="140" y="38"/>
                  </a:lnTo>
                  <a:lnTo>
                    <a:pt x="153" y="25"/>
                  </a:lnTo>
                  <a:lnTo>
                    <a:pt x="166" y="14"/>
                  </a:lnTo>
                  <a:lnTo>
                    <a:pt x="179" y="6"/>
                  </a:lnTo>
                  <a:lnTo>
                    <a:pt x="191" y="2"/>
                  </a:lnTo>
                  <a:lnTo>
                    <a:pt x="204" y="0"/>
                  </a:lnTo>
                  <a:lnTo>
                    <a:pt x="217" y="2"/>
                  </a:lnTo>
                  <a:lnTo>
                    <a:pt x="230" y="6"/>
                  </a:lnTo>
                  <a:lnTo>
                    <a:pt x="242" y="14"/>
                  </a:lnTo>
                  <a:lnTo>
                    <a:pt x="255" y="25"/>
                  </a:lnTo>
                  <a:lnTo>
                    <a:pt x="268" y="38"/>
                  </a:lnTo>
                  <a:lnTo>
                    <a:pt x="281" y="53"/>
                  </a:lnTo>
                  <a:lnTo>
                    <a:pt x="294" y="71"/>
                  </a:lnTo>
                  <a:lnTo>
                    <a:pt x="307" y="89"/>
                  </a:lnTo>
                  <a:lnTo>
                    <a:pt x="319" y="110"/>
                  </a:lnTo>
                  <a:lnTo>
                    <a:pt x="332" y="132"/>
                  </a:lnTo>
                  <a:lnTo>
                    <a:pt x="358" y="180"/>
                  </a:lnTo>
                  <a:lnTo>
                    <a:pt x="383" y="232"/>
                  </a:lnTo>
                  <a:lnTo>
                    <a:pt x="409" y="285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9" name="Freeform 30"/>
            <p:cNvSpPr/>
            <p:nvPr/>
          </p:nvSpPr>
          <p:spPr>
            <a:xfrm>
              <a:off x="3103" y="2466"/>
              <a:ext cx="410" cy="28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53"/>
                </a:cxn>
                <a:cxn ang="0">
                  <a:pos x="51" y="105"/>
                </a:cxn>
                <a:cxn ang="0">
                  <a:pos x="77" y="153"/>
                </a:cxn>
                <a:cxn ang="0">
                  <a:pos x="89" y="177"/>
                </a:cxn>
                <a:cxn ang="0">
                  <a:pos x="102" y="197"/>
                </a:cxn>
                <a:cxn ang="0">
                  <a:pos x="115" y="216"/>
                </a:cxn>
                <a:cxn ang="0">
                  <a:pos x="128" y="233"/>
                </a:cxn>
                <a:cxn ang="0">
                  <a:pos x="141" y="249"/>
                </a:cxn>
                <a:cxn ang="0">
                  <a:pos x="153" y="262"/>
                </a:cxn>
                <a:cxn ang="0">
                  <a:pos x="166" y="273"/>
                </a:cxn>
                <a:cxn ang="0">
                  <a:pos x="179" y="280"/>
                </a:cxn>
                <a:cxn ang="0">
                  <a:pos x="192" y="285"/>
                </a:cxn>
                <a:cxn ang="0">
                  <a:pos x="205" y="287"/>
                </a:cxn>
                <a:cxn ang="0">
                  <a:pos x="218" y="285"/>
                </a:cxn>
                <a:cxn ang="0">
                  <a:pos x="231" y="280"/>
                </a:cxn>
                <a:cxn ang="0">
                  <a:pos x="243" y="273"/>
                </a:cxn>
                <a:cxn ang="0">
                  <a:pos x="256" y="262"/>
                </a:cxn>
                <a:cxn ang="0">
                  <a:pos x="270" y="249"/>
                </a:cxn>
                <a:cxn ang="0">
                  <a:pos x="283" y="233"/>
                </a:cxn>
                <a:cxn ang="0">
                  <a:pos x="295" y="216"/>
                </a:cxn>
                <a:cxn ang="0">
                  <a:pos x="308" y="197"/>
                </a:cxn>
                <a:cxn ang="0">
                  <a:pos x="321" y="177"/>
                </a:cxn>
                <a:cxn ang="0">
                  <a:pos x="334" y="153"/>
                </a:cxn>
                <a:cxn ang="0">
                  <a:pos x="359" y="105"/>
                </a:cxn>
                <a:cxn ang="0">
                  <a:pos x="385" y="53"/>
                </a:cxn>
                <a:cxn ang="0">
                  <a:pos x="410" y="0"/>
                </a:cxn>
              </a:cxnLst>
              <a:rect l="0" t="0" r="0" b="0"/>
              <a:pathLst>
                <a:path w="410" h="287">
                  <a:moveTo>
                    <a:pt x="0" y="0"/>
                  </a:moveTo>
                  <a:lnTo>
                    <a:pt x="26" y="53"/>
                  </a:lnTo>
                  <a:lnTo>
                    <a:pt x="51" y="105"/>
                  </a:lnTo>
                  <a:lnTo>
                    <a:pt x="77" y="153"/>
                  </a:lnTo>
                  <a:lnTo>
                    <a:pt x="89" y="177"/>
                  </a:lnTo>
                  <a:lnTo>
                    <a:pt x="102" y="197"/>
                  </a:lnTo>
                  <a:lnTo>
                    <a:pt x="115" y="216"/>
                  </a:lnTo>
                  <a:lnTo>
                    <a:pt x="128" y="233"/>
                  </a:lnTo>
                  <a:lnTo>
                    <a:pt x="141" y="249"/>
                  </a:lnTo>
                  <a:lnTo>
                    <a:pt x="153" y="262"/>
                  </a:lnTo>
                  <a:lnTo>
                    <a:pt x="166" y="273"/>
                  </a:lnTo>
                  <a:lnTo>
                    <a:pt x="179" y="280"/>
                  </a:lnTo>
                  <a:lnTo>
                    <a:pt x="192" y="285"/>
                  </a:lnTo>
                  <a:lnTo>
                    <a:pt x="205" y="287"/>
                  </a:lnTo>
                  <a:lnTo>
                    <a:pt x="218" y="285"/>
                  </a:lnTo>
                  <a:lnTo>
                    <a:pt x="231" y="280"/>
                  </a:lnTo>
                  <a:lnTo>
                    <a:pt x="243" y="273"/>
                  </a:lnTo>
                  <a:lnTo>
                    <a:pt x="256" y="262"/>
                  </a:lnTo>
                  <a:lnTo>
                    <a:pt x="270" y="249"/>
                  </a:lnTo>
                  <a:lnTo>
                    <a:pt x="283" y="233"/>
                  </a:lnTo>
                  <a:lnTo>
                    <a:pt x="295" y="216"/>
                  </a:lnTo>
                  <a:lnTo>
                    <a:pt x="308" y="197"/>
                  </a:lnTo>
                  <a:lnTo>
                    <a:pt x="321" y="177"/>
                  </a:lnTo>
                  <a:lnTo>
                    <a:pt x="334" y="153"/>
                  </a:lnTo>
                  <a:lnTo>
                    <a:pt x="359" y="105"/>
                  </a:lnTo>
                  <a:lnTo>
                    <a:pt x="385" y="53"/>
                  </a:lnTo>
                  <a:lnTo>
                    <a:pt x="410" y="0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Freeform 31"/>
            <p:cNvSpPr/>
            <p:nvPr/>
          </p:nvSpPr>
          <p:spPr>
            <a:xfrm>
              <a:off x="3491" y="2187"/>
              <a:ext cx="250" cy="321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48" y="238"/>
                </a:cxn>
                <a:cxn ang="0">
                  <a:pos x="71" y="197"/>
                </a:cxn>
                <a:cxn ang="0">
                  <a:pos x="93" y="160"/>
                </a:cxn>
                <a:cxn ang="0">
                  <a:pos x="115" y="125"/>
                </a:cxn>
                <a:cxn ang="0">
                  <a:pos x="135" y="94"/>
                </a:cxn>
                <a:cxn ang="0">
                  <a:pos x="153" y="66"/>
                </a:cxn>
                <a:cxn ang="0">
                  <a:pos x="170" y="44"/>
                </a:cxn>
                <a:cxn ang="0">
                  <a:pos x="184" y="26"/>
                </a:cxn>
                <a:cxn ang="0">
                  <a:pos x="197" y="15"/>
                </a:cxn>
                <a:cxn ang="0">
                  <a:pos x="208" y="8"/>
                </a:cxn>
                <a:cxn ang="0">
                  <a:pos x="218" y="3"/>
                </a:cxn>
                <a:cxn ang="0">
                  <a:pos x="227" y="0"/>
                </a:cxn>
                <a:cxn ang="0">
                  <a:pos x="235" y="0"/>
                </a:cxn>
                <a:cxn ang="0">
                  <a:pos x="250" y="3"/>
                </a:cxn>
              </a:cxnLst>
              <a:rect l="0" t="0" r="0" b="0"/>
              <a:pathLst>
                <a:path w="250" h="321">
                  <a:moveTo>
                    <a:pt x="0" y="321"/>
                  </a:moveTo>
                  <a:lnTo>
                    <a:pt x="48" y="238"/>
                  </a:lnTo>
                  <a:lnTo>
                    <a:pt x="71" y="197"/>
                  </a:lnTo>
                  <a:lnTo>
                    <a:pt x="93" y="160"/>
                  </a:lnTo>
                  <a:lnTo>
                    <a:pt x="115" y="125"/>
                  </a:lnTo>
                  <a:lnTo>
                    <a:pt x="135" y="94"/>
                  </a:lnTo>
                  <a:lnTo>
                    <a:pt x="153" y="66"/>
                  </a:lnTo>
                  <a:lnTo>
                    <a:pt x="170" y="44"/>
                  </a:lnTo>
                  <a:lnTo>
                    <a:pt x="184" y="26"/>
                  </a:lnTo>
                  <a:lnTo>
                    <a:pt x="197" y="15"/>
                  </a:lnTo>
                  <a:lnTo>
                    <a:pt x="208" y="8"/>
                  </a:lnTo>
                  <a:lnTo>
                    <a:pt x="218" y="3"/>
                  </a:lnTo>
                  <a:lnTo>
                    <a:pt x="227" y="0"/>
                  </a:lnTo>
                  <a:lnTo>
                    <a:pt x="235" y="0"/>
                  </a:lnTo>
                  <a:lnTo>
                    <a:pt x="250" y="3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Freeform 32"/>
            <p:cNvSpPr/>
            <p:nvPr/>
          </p:nvSpPr>
          <p:spPr>
            <a:xfrm>
              <a:off x="3718" y="2458"/>
              <a:ext cx="72" cy="30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0" y="0"/>
                </a:cxn>
                <a:cxn ang="0">
                  <a:pos x="72" y="14"/>
                </a:cxn>
                <a:cxn ang="0">
                  <a:pos x="0" y="30"/>
                </a:cxn>
              </a:cxnLst>
              <a:rect l="0" t="0" r="0" b="0"/>
              <a:pathLst>
                <a:path w="72" h="30">
                  <a:moveTo>
                    <a:pt x="0" y="30"/>
                  </a:moveTo>
                  <a:lnTo>
                    <a:pt x="0" y="0"/>
                  </a:lnTo>
                  <a:lnTo>
                    <a:pt x="72" y="14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2" name="Line 33"/>
            <p:cNvSpPr/>
            <p:nvPr/>
          </p:nvSpPr>
          <p:spPr>
            <a:xfrm>
              <a:off x="1850" y="1997"/>
              <a:ext cx="1" cy="7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3" name="Line 34"/>
            <p:cNvSpPr/>
            <p:nvPr/>
          </p:nvSpPr>
          <p:spPr>
            <a:xfrm flipH="1">
              <a:off x="1864" y="2472"/>
              <a:ext cx="205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35"/>
            <p:cNvSpPr/>
            <p:nvPr/>
          </p:nvSpPr>
          <p:spPr>
            <a:xfrm flipV="1">
              <a:off x="1853" y="1874"/>
              <a:ext cx="2" cy="1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Freeform 36"/>
            <p:cNvSpPr/>
            <p:nvPr/>
          </p:nvSpPr>
          <p:spPr>
            <a:xfrm>
              <a:off x="1842" y="1874"/>
              <a:ext cx="24" cy="126"/>
            </a:xfrm>
            <a:custGeom>
              <a:avLst/>
              <a:gdLst/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0" t="0" r="0" b="0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Freeform 37"/>
            <p:cNvSpPr/>
            <p:nvPr/>
          </p:nvSpPr>
          <p:spPr>
            <a:xfrm>
              <a:off x="1842" y="1874"/>
              <a:ext cx="24" cy="126"/>
            </a:xfrm>
            <a:custGeom>
              <a:avLst/>
              <a:gdLst/>
              <a:ahLst/>
              <a:cxnLst>
                <a:cxn ang="0">
                  <a:pos x="24" y="126"/>
                </a:cxn>
                <a:cxn ang="0">
                  <a:pos x="0" y="126"/>
                </a:cxn>
                <a:cxn ang="0">
                  <a:pos x="11" y="0"/>
                </a:cxn>
                <a:cxn ang="0">
                  <a:pos x="24" y="126"/>
                </a:cxn>
              </a:cxnLst>
              <a:rect l="0" t="0" r="0" b="0"/>
              <a:pathLst>
                <a:path w="24" h="126">
                  <a:moveTo>
                    <a:pt x="24" y="126"/>
                  </a:moveTo>
                  <a:lnTo>
                    <a:pt x="0" y="126"/>
                  </a:lnTo>
                  <a:lnTo>
                    <a:pt x="11" y="0"/>
                  </a:lnTo>
                  <a:lnTo>
                    <a:pt x="24" y="126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Rectangle 38"/>
            <p:cNvSpPr/>
            <p:nvPr/>
          </p:nvSpPr>
          <p:spPr>
            <a:xfrm>
              <a:off x="1649" y="2319"/>
              <a:ext cx="11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宋体" pitchFamily="2" charset="-122"/>
                </a:rPr>
                <a:t>O</a:t>
              </a:r>
              <a:endParaRPr lang="en-US" altLang="zh-CN" sz="2000" dirty="0"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24598" name="Rectangle 39"/>
            <p:cNvSpPr/>
            <p:nvPr/>
          </p:nvSpPr>
          <p:spPr>
            <a:xfrm flipH="1">
              <a:off x="4008" y="2365"/>
              <a:ext cx="67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 dirty="0">
                  <a:latin typeface="Times New Roman" panose="02020603050405020304" pitchFamily="18" charset="0"/>
                  <a:ea typeface="宋体" pitchFamily="2" charset="-122"/>
                </a:rPr>
                <a:t>t</a:t>
              </a:r>
              <a:endParaRPr lang="en-US" altLang="zh-CN" sz="2000" dirty="0">
                <a:latin typeface="Garamond" pitchFamily="18" charset="0"/>
                <a:ea typeface="宋体" pitchFamily="2" charset="-122"/>
              </a:endParaRPr>
            </a:p>
          </p:txBody>
        </p:sp>
        <p:sp>
          <p:nvSpPr>
            <p:cNvPr id="24599" name="Rectangle 40"/>
            <p:cNvSpPr/>
            <p:nvPr/>
          </p:nvSpPr>
          <p:spPr>
            <a:xfrm>
              <a:off x="1653" y="1771"/>
              <a:ext cx="92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i="1" dirty="0">
                  <a:latin typeface="Symbol" pitchFamily="18" charset="2"/>
                  <a:ea typeface="宋体" pitchFamily="2" charset="-122"/>
                </a:rPr>
                <a:t>u</a:t>
              </a:r>
              <a:endParaRPr lang="en-US" altLang="zh-CN" sz="2000" dirty="0">
                <a:latin typeface="Garamond" pitchFamily="18" charset="0"/>
                <a:ea typeface="宋体" pitchFamily="2" charset="-122"/>
              </a:endParaRPr>
            </a:p>
          </p:txBody>
        </p:sp>
      </p:grpSp>
      <p:sp>
        <p:nvSpPr>
          <p:cNvPr id="399401" name="Rectangle 41"/>
          <p:cNvSpPr>
            <a:spLocks noChangeArrowheads="1"/>
          </p:cNvSpPr>
          <p:nvPr/>
        </p:nvSpPr>
        <p:spPr bwMode="auto">
          <a:xfrm>
            <a:off x="539750" y="1319213"/>
            <a:ext cx="590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模拟信号</a:t>
            </a:r>
          </a:p>
        </p:txBody>
      </p:sp>
      <p:sp>
        <p:nvSpPr>
          <p:cNvPr id="24583" name="Rectangle 42"/>
          <p:cNvSpPr>
            <a:spLocks noChangeArrowheads="1"/>
          </p:cNvSpPr>
          <p:nvPr/>
        </p:nvSpPr>
        <p:spPr bwMode="auto">
          <a:xfrm>
            <a:off x="684213" y="549275"/>
            <a:ext cx="469106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模拟信号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与数字信号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DEAD62-9DE6-3B78-1AC2-2EB8C9B37611}"/>
              </a:ext>
            </a:extLst>
          </p:cNvPr>
          <p:cNvSpPr txBox="1"/>
          <p:nvPr/>
        </p:nvSpPr>
        <p:spPr>
          <a:xfrm>
            <a:off x="3797301" y="289083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凡是连续的信号，都一定可以无限细分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9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9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4" grpId="0" animBg="1"/>
      <p:bldP spid="2457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388" name="Group 4"/>
          <p:cNvGrpSpPr/>
          <p:nvPr/>
        </p:nvGrpSpPr>
        <p:grpSpPr>
          <a:xfrm>
            <a:off x="1403350" y="2041525"/>
            <a:ext cx="6627813" cy="2971800"/>
            <a:chOff x="928" y="1130"/>
            <a:chExt cx="3648" cy="1872"/>
          </a:xfrm>
        </p:grpSpPr>
        <p:sp>
          <p:nvSpPr>
            <p:cNvPr id="25643" name="Text Box 5"/>
            <p:cNvSpPr txBox="1"/>
            <p:nvPr/>
          </p:nvSpPr>
          <p:spPr>
            <a:xfrm>
              <a:off x="2176" y="2762"/>
              <a:ext cx="1056" cy="219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CC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</a:rPr>
                <a:t>数字信号波形</a:t>
              </a:r>
              <a:endParaRPr lang="zh-CN" altLang="en-US" sz="2400" baseline="-25000" dirty="0">
                <a:solidFill>
                  <a:srgbClr val="000066"/>
                </a:solidFill>
                <a:latin typeface="楷体_GB2312" pitchFamily="49" charset="-122"/>
              </a:endParaRPr>
            </a:p>
          </p:txBody>
        </p:sp>
        <p:sp>
          <p:nvSpPr>
            <p:cNvPr id="25644" name="Rectangle 6"/>
            <p:cNvSpPr/>
            <p:nvPr/>
          </p:nvSpPr>
          <p:spPr>
            <a:xfrm>
              <a:off x="928" y="1130"/>
              <a:ext cx="3648" cy="187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rgbClr val="CC0066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itchFamily="2" charset="-122"/>
              </a:endParaRPr>
            </a:p>
          </p:txBody>
        </p:sp>
      </p:grpSp>
      <p:sp>
        <p:nvSpPr>
          <p:cNvPr id="400391" name="Text Box 7"/>
          <p:cNvSpPr txBox="1"/>
          <p:nvPr/>
        </p:nvSpPr>
        <p:spPr>
          <a:xfrm>
            <a:off x="971550" y="549275"/>
            <a:ext cx="7777163" cy="11049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</a:rPr>
              <a:t>数字信号</a:t>
            </a:r>
          </a:p>
          <a:p>
            <a:pPr marL="0" lvl="0" indent="0" eaLnBrk="1" hangingPunct="1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</a:rPr>
              <a:t>              </a:t>
            </a:r>
            <a:r>
              <a:rPr lang="en-US" altLang="zh-CN" sz="2400" dirty="0">
                <a:solidFill>
                  <a:srgbClr val="000066"/>
                </a:solidFill>
                <a:latin typeface="楷体_GB2312" pitchFamily="49" charset="-122"/>
              </a:rPr>
              <a:t>---</a:t>
            </a: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</a:rPr>
              <a:t>在时间上和数值上均是离散的信号。</a:t>
            </a:r>
          </a:p>
        </p:txBody>
      </p:sp>
      <p:grpSp>
        <p:nvGrpSpPr>
          <p:cNvPr id="400392" name="Group 8"/>
          <p:cNvGrpSpPr/>
          <p:nvPr/>
        </p:nvGrpSpPr>
        <p:grpSpPr>
          <a:xfrm>
            <a:off x="2089150" y="2767013"/>
            <a:ext cx="4922838" cy="523875"/>
            <a:chOff x="1360" y="2046"/>
            <a:chExt cx="3101" cy="330"/>
          </a:xfrm>
        </p:grpSpPr>
        <p:sp>
          <p:nvSpPr>
            <p:cNvPr id="25632" name="Line 9"/>
            <p:cNvSpPr/>
            <p:nvPr/>
          </p:nvSpPr>
          <p:spPr>
            <a:xfrm>
              <a:off x="1360" y="2046"/>
              <a:ext cx="6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10"/>
            <p:cNvSpPr/>
            <p:nvPr/>
          </p:nvSpPr>
          <p:spPr>
            <a:xfrm>
              <a:off x="1980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4" name="Line 11"/>
            <p:cNvSpPr/>
            <p:nvPr/>
          </p:nvSpPr>
          <p:spPr>
            <a:xfrm>
              <a:off x="1980" y="2376"/>
              <a:ext cx="31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5" name="Line 12"/>
            <p:cNvSpPr/>
            <p:nvPr/>
          </p:nvSpPr>
          <p:spPr>
            <a:xfrm>
              <a:off x="229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6" name="Line 13"/>
            <p:cNvSpPr/>
            <p:nvPr/>
          </p:nvSpPr>
          <p:spPr>
            <a:xfrm>
              <a:off x="2291" y="2046"/>
              <a:ext cx="93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7" name="Line 14"/>
            <p:cNvSpPr/>
            <p:nvPr/>
          </p:nvSpPr>
          <p:spPr>
            <a:xfrm>
              <a:off x="322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8" name="Line 15"/>
            <p:cNvSpPr/>
            <p:nvPr/>
          </p:nvSpPr>
          <p:spPr>
            <a:xfrm>
              <a:off x="3221" y="2376"/>
              <a:ext cx="62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9" name="Line 16"/>
            <p:cNvSpPr/>
            <p:nvPr/>
          </p:nvSpPr>
          <p:spPr>
            <a:xfrm>
              <a:off x="384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Line 17"/>
            <p:cNvSpPr/>
            <p:nvPr/>
          </p:nvSpPr>
          <p:spPr>
            <a:xfrm>
              <a:off x="3841" y="2046"/>
              <a:ext cx="3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1" name="Line 18"/>
            <p:cNvSpPr/>
            <p:nvPr/>
          </p:nvSpPr>
          <p:spPr>
            <a:xfrm>
              <a:off x="4151" y="2046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2" name="Line 19"/>
            <p:cNvSpPr/>
            <p:nvPr/>
          </p:nvSpPr>
          <p:spPr>
            <a:xfrm>
              <a:off x="4151" y="2376"/>
              <a:ext cx="3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0404" name="Group 20"/>
          <p:cNvGrpSpPr/>
          <p:nvPr/>
        </p:nvGrpSpPr>
        <p:grpSpPr>
          <a:xfrm>
            <a:off x="1925638" y="3727450"/>
            <a:ext cx="5086350" cy="523875"/>
            <a:chOff x="1257" y="2651"/>
            <a:chExt cx="3204" cy="330"/>
          </a:xfrm>
        </p:grpSpPr>
        <p:sp>
          <p:nvSpPr>
            <p:cNvPr id="25607" name="Line 21"/>
            <p:cNvSpPr/>
            <p:nvPr/>
          </p:nvSpPr>
          <p:spPr>
            <a:xfrm>
              <a:off x="125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8" name="Line 22"/>
            <p:cNvSpPr/>
            <p:nvPr/>
          </p:nvSpPr>
          <p:spPr>
            <a:xfrm>
              <a:off x="146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9" name="Line 23"/>
            <p:cNvSpPr/>
            <p:nvPr/>
          </p:nvSpPr>
          <p:spPr>
            <a:xfrm>
              <a:off x="146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0" name="Line 24"/>
            <p:cNvSpPr/>
            <p:nvPr/>
          </p:nvSpPr>
          <p:spPr>
            <a:xfrm>
              <a:off x="156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1" name="Line 25"/>
            <p:cNvSpPr/>
            <p:nvPr/>
          </p:nvSpPr>
          <p:spPr>
            <a:xfrm>
              <a:off x="156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Line 26"/>
            <p:cNvSpPr/>
            <p:nvPr/>
          </p:nvSpPr>
          <p:spPr>
            <a:xfrm>
              <a:off x="177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Line 27"/>
            <p:cNvSpPr/>
            <p:nvPr/>
          </p:nvSpPr>
          <p:spPr>
            <a:xfrm>
              <a:off x="177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Line 28"/>
            <p:cNvSpPr/>
            <p:nvPr/>
          </p:nvSpPr>
          <p:spPr>
            <a:xfrm>
              <a:off x="187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Line 29"/>
            <p:cNvSpPr/>
            <p:nvPr/>
          </p:nvSpPr>
          <p:spPr>
            <a:xfrm>
              <a:off x="1877" y="2981"/>
              <a:ext cx="51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6" name="Line 30"/>
            <p:cNvSpPr/>
            <p:nvPr/>
          </p:nvSpPr>
          <p:spPr>
            <a:xfrm>
              <a:off x="239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31"/>
            <p:cNvSpPr/>
            <p:nvPr/>
          </p:nvSpPr>
          <p:spPr>
            <a:xfrm>
              <a:off x="239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32"/>
            <p:cNvSpPr/>
            <p:nvPr/>
          </p:nvSpPr>
          <p:spPr>
            <a:xfrm>
              <a:off x="249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33"/>
            <p:cNvSpPr/>
            <p:nvPr/>
          </p:nvSpPr>
          <p:spPr>
            <a:xfrm>
              <a:off x="249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0" name="Line 34"/>
            <p:cNvSpPr/>
            <p:nvPr/>
          </p:nvSpPr>
          <p:spPr>
            <a:xfrm>
              <a:off x="270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1" name="Line 35"/>
            <p:cNvSpPr/>
            <p:nvPr/>
          </p:nvSpPr>
          <p:spPr>
            <a:xfrm>
              <a:off x="270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2" name="Line 36"/>
            <p:cNvSpPr/>
            <p:nvPr/>
          </p:nvSpPr>
          <p:spPr>
            <a:xfrm>
              <a:off x="280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3" name="Line 37"/>
            <p:cNvSpPr/>
            <p:nvPr/>
          </p:nvSpPr>
          <p:spPr>
            <a:xfrm>
              <a:off x="2807" y="2981"/>
              <a:ext cx="20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4" name="Line 38"/>
            <p:cNvSpPr/>
            <p:nvPr/>
          </p:nvSpPr>
          <p:spPr>
            <a:xfrm>
              <a:off x="301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5" name="Line 39"/>
            <p:cNvSpPr/>
            <p:nvPr/>
          </p:nvSpPr>
          <p:spPr>
            <a:xfrm>
              <a:off x="3014" y="2651"/>
              <a:ext cx="1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6" name="Line 40"/>
            <p:cNvSpPr/>
            <p:nvPr/>
          </p:nvSpPr>
          <p:spPr>
            <a:xfrm>
              <a:off x="3117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7" name="Line 41"/>
            <p:cNvSpPr/>
            <p:nvPr/>
          </p:nvSpPr>
          <p:spPr>
            <a:xfrm>
              <a:off x="3117" y="2981"/>
              <a:ext cx="82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42"/>
            <p:cNvSpPr/>
            <p:nvPr/>
          </p:nvSpPr>
          <p:spPr>
            <a:xfrm>
              <a:off x="3944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43"/>
            <p:cNvSpPr/>
            <p:nvPr/>
          </p:nvSpPr>
          <p:spPr>
            <a:xfrm>
              <a:off x="3944" y="2651"/>
              <a:ext cx="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0" name="Line 44"/>
            <p:cNvSpPr/>
            <p:nvPr/>
          </p:nvSpPr>
          <p:spPr>
            <a:xfrm>
              <a:off x="4048" y="2651"/>
              <a:ext cx="0" cy="3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1" name="Line 45"/>
            <p:cNvSpPr/>
            <p:nvPr/>
          </p:nvSpPr>
          <p:spPr>
            <a:xfrm>
              <a:off x="4048" y="2981"/>
              <a:ext cx="41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430" name="Rectangle 46"/>
          <p:cNvSpPr>
            <a:spLocks noChangeArrowheads="1"/>
          </p:cNvSpPr>
          <p:nvPr/>
        </p:nvSpPr>
        <p:spPr bwMode="auto">
          <a:xfrm>
            <a:off x="1260475" y="5268913"/>
            <a:ext cx="733742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数字电路和模拟电路：工作信号，研究的对象不同，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分析、设计方法以及所用的数学工具也相应不同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691640" y="4580890"/>
            <a:ext cx="63398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方波在幅度上只有高低两种电平，如果时间上也是量化的（用时钟周期确定）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9968C3-2388-05DE-3444-DCCF767AC14A}"/>
              </a:ext>
            </a:extLst>
          </p:cNvPr>
          <p:cNvSpPr txBox="1"/>
          <p:nvPr/>
        </p:nvSpPr>
        <p:spPr>
          <a:xfrm>
            <a:off x="467521" y="6262688"/>
            <a:ext cx="8785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比如模拟信号，可以有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3.1415926……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一直到无穷；而对于数字信号，如果分辨率是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0.01.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那么就只能到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3.14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或者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3.15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，不可以继续细分下去了。</a:t>
            </a:r>
            <a:endParaRPr lang="zh-CN" altLang="en-US" dirty="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4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4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1000"/>
                                        <p:tgtEl>
                                          <p:spTgt spid="40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0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91" grpId="0"/>
      <p:bldP spid="4004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/>
          <p:nvPr/>
        </p:nvSpPr>
        <p:spPr>
          <a:xfrm>
            <a:off x="684213" y="549275"/>
            <a:ext cx="2968625" cy="461963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</a:rPr>
              <a:t>模拟信号的数字表示</a:t>
            </a:r>
          </a:p>
        </p:txBody>
      </p:sp>
      <p:sp>
        <p:nvSpPr>
          <p:cNvPr id="397317" name="Rectangle 5"/>
          <p:cNvSpPr/>
          <p:nvPr/>
        </p:nvSpPr>
        <p:spPr>
          <a:xfrm>
            <a:off x="360363" y="1196975"/>
            <a:ext cx="8748712" cy="82232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00066"/>
                </a:solidFill>
                <a:latin typeface="楷体_GB2312" pitchFamily="49" charset="-122"/>
              </a:rPr>
              <a:t>由于数字信号便于存储、分析和传输，通常都将模拟信号转换为数字信号</a:t>
            </a:r>
            <a:r>
              <a:rPr lang="en-US" altLang="zh-CN" sz="2400" dirty="0">
                <a:solidFill>
                  <a:srgbClr val="000066"/>
                </a:solidFill>
                <a:latin typeface="楷体_GB2312" pitchFamily="49" charset="-122"/>
              </a:rPr>
              <a:t>.</a:t>
            </a:r>
            <a:endParaRPr lang="en-US" altLang="zh-CN" sz="2400" b="0" dirty="0">
              <a:solidFill>
                <a:srgbClr val="000066"/>
              </a:solidFill>
              <a:latin typeface="楷体_GB2312" pitchFamily="49" charset="-122"/>
            </a:endParaRPr>
          </a:p>
        </p:txBody>
      </p:sp>
      <p:grpSp>
        <p:nvGrpSpPr>
          <p:cNvPr id="397318" name="Group 6"/>
          <p:cNvGrpSpPr/>
          <p:nvPr/>
        </p:nvGrpSpPr>
        <p:grpSpPr>
          <a:xfrm>
            <a:off x="-146050" y="2433638"/>
            <a:ext cx="4422775" cy="2936875"/>
            <a:chOff x="196" y="829"/>
            <a:chExt cx="2884" cy="1514"/>
          </a:xfrm>
        </p:grpSpPr>
        <p:grpSp>
          <p:nvGrpSpPr>
            <p:cNvPr id="26630" name="Group 7"/>
            <p:cNvGrpSpPr/>
            <p:nvPr/>
          </p:nvGrpSpPr>
          <p:grpSpPr>
            <a:xfrm>
              <a:off x="389" y="1341"/>
              <a:ext cx="2691" cy="1002"/>
              <a:chOff x="630" y="792"/>
              <a:chExt cx="4494" cy="1745"/>
            </a:xfrm>
          </p:grpSpPr>
          <p:sp>
            <p:nvSpPr>
              <p:cNvPr id="26632" name="Rectangle 8"/>
              <p:cNvSpPr/>
              <p:nvPr/>
            </p:nvSpPr>
            <p:spPr>
              <a:xfrm>
                <a:off x="630" y="840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</a:p>
            </p:txBody>
          </p:sp>
          <p:sp>
            <p:nvSpPr>
              <p:cNvPr id="26633" name="Rectangle 9"/>
              <p:cNvSpPr/>
              <p:nvPr/>
            </p:nvSpPr>
            <p:spPr>
              <a:xfrm>
                <a:off x="3565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34" name="Rectangle 10"/>
              <p:cNvSpPr/>
              <p:nvPr/>
            </p:nvSpPr>
            <p:spPr>
              <a:xfrm>
                <a:off x="3652" y="176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0</a:t>
                </a:r>
              </a:p>
            </p:txBody>
          </p:sp>
          <p:sp>
            <p:nvSpPr>
              <p:cNvPr id="26635" name="Rectangle 11"/>
              <p:cNvSpPr/>
              <p:nvPr/>
            </p:nvSpPr>
            <p:spPr>
              <a:xfrm>
                <a:off x="3718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26636" name="Rectangle 12"/>
              <p:cNvSpPr/>
              <p:nvPr/>
            </p:nvSpPr>
            <p:spPr>
              <a:xfrm>
                <a:off x="3356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37" name="Rectangle 13"/>
              <p:cNvSpPr/>
              <p:nvPr/>
            </p:nvSpPr>
            <p:spPr>
              <a:xfrm>
                <a:off x="3443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0</a:t>
                </a:r>
              </a:p>
            </p:txBody>
          </p:sp>
          <p:sp>
            <p:nvSpPr>
              <p:cNvPr id="26638" name="Rectangle 14"/>
              <p:cNvSpPr/>
              <p:nvPr/>
            </p:nvSpPr>
            <p:spPr>
              <a:xfrm>
                <a:off x="3509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26639" name="Rectangle 15"/>
              <p:cNvSpPr/>
              <p:nvPr/>
            </p:nvSpPr>
            <p:spPr>
              <a:xfrm>
                <a:off x="754" y="940"/>
                <a:ext cx="987" cy="3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40" name="Rectangle 16"/>
              <p:cNvSpPr/>
              <p:nvPr/>
            </p:nvSpPr>
            <p:spPr>
              <a:xfrm>
                <a:off x="752" y="1022"/>
                <a:ext cx="1114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rgbClr val="000066"/>
                    </a:solidFill>
                    <a:latin typeface="楷体_GB2312" pitchFamily="49" charset="-122"/>
                  </a:rPr>
                  <a:t>模拟信号</a:t>
                </a:r>
              </a:p>
            </p:txBody>
          </p:sp>
          <p:sp>
            <p:nvSpPr>
              <p:cNvPr id="26641" name="Rectangle 17"/>
              <p:cNvSpPr/>
              <p:nvPr/>
            </p:nvSpPr>
            <p:spPr>
              <a:xfrm>
                <a:off x="1584" y="101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</a:p>
            </p:txBody>
          </p:sp>
          <p:sp>
            <p:nvSpPr>
              <p:cNvPr id="26642" name="Rectangle 18"/>
              <p:cNvSpPr/>
              <p:nvPr/>
            </p:nvSpPr>
            <p:spPr>
              <a:xfrm>
                <a:off x="656" y="792"/>
                <a:ext cx="1168" cy="625"/>
              </a:xfrm>
              <a:prstGeom prst="rect">
                <a:avLst/>
              </a:prstGeom>
              <a:noFill/>
              <a:ln w="36513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43" name="Rectangle 19"/>
              <p:cNvSpPr/>
              <p:nvPr/>
            </p:nvSpPr>
            <p:spPr>
              <a:xfrm>
                <a:off x="3534" y="940"/>
                <a:ext cx="1391" cy="3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44" name="Rectangle 20"/>
              <p:cNvSpPr/>
              <p:nvPr/>
            </p:nvSpPr>
            <p:spPr>
              <a:xfrm>
                <a:off x="3597" y="1022"/>
                <a:ext cx="1392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rgbClr val="000066"/>
                    </a:solidFill>
                    <a:latin typeface="楷体_GB2312" pitchFamily="49" charset="-122"/>
                  </a:rPr>
                  <a:t>模数转换器</a:t>
                </a:r>
              </a:p>
            </p:txBody>
          </p:sp>
          <p:sp>
            <p:nvSpPr>
              <p:cNvPr id="26645" name="Rectangle 21"/>
              <p:cNvSpPr/>
              <p:nvPr/>
            </p:nvSpPr>
            <p:spPr>
              <a:xfrm>
                <a:off x="4650" y="101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</a:p>
            </p:txBody>
          </p:sp>
          <p:sp>
            <p:nvSpPr>
              <p:cNvPr id="26646" name="Rectangle 22"/>
              <p:cNvSpPr/>
              <p:nvPr/>
            </p:nvSpPr>
            <p:spPr>
              <a:xfrm>
                <a:off x="3396" y="792"/>
                <a:ext cx="1640" cy="625"/>
              </a:xfrm>
              <a:prstGeom prst="rect">
                <a:avLst/>
              </a:prstGeom>
              <a:noFill/>
              <a:ln w="36513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47" name="Line 23"/>
              <p:cNvSpPr/>
              <p:nvPr/>
            </p:nvSpPr>
            <p:spPr>
              <a:xfrm>
                <a:off x="1808" y="1107"/>
                <a:ext cx="1341" cy="2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8" name="Rectangle 24"/>
              <p:cNvSpPr/>
              <p:nvPr/>
            </p:nvSpPr>
            <p:spPr>
              <a:xfrm>
                <a:off x="2272" y="835"/>
                <a:ext cx="562" cy="2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49" name="Rectangle 25"/>
              <p:cNvSpPr/>
              <p:nvPr/>
            </p:nvSpPr>
            <p:spPr>
              <a:xfrm>
                <a:off x="2464" y="865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3</a:t>
                </a:r>
              </a:p>
            </p:txBody>
          </p:sp>
          <p:sp>
            <p:nvSpPr>
              <p:cNvPr id="26650" name="Rectangle 26"/>
              <p:cNvSpPr/>
              <p:nvPr/>
            </p:nvSpPr>
            <p:spPr>
              <a:xfrm>
                <a:off x="2340" y="865"/>
                <a:ext cx="56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  V</a:t>
                </a:r>
              </a:p>
            </p:txBody>
          </p:sp>
          <p:sp>
            <p:nvSpPr>
              <p:cNvPr id="26651" name="Rectangle 27"/>
              <p:cNvSpPr/>
              <p:nvPr/>
            </p:nvSpPr>
            <p:spPr>
              <a:xfrm>
                <a:off x="2632" y="840"/>
                <a:ext cx="140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</a:p>
            </p:txBody>
          </p:sp>
          <p:sp>
            <p:nvSpPr>
              <p:cNvPr id="26652" name="Rectangle 28"/>
              <p:cNvSpPr/>
              <p:nvPr/>
            </p:nvSpPr>
            <p:spPr>
              <a:xfrm>
                <a:off x="3746" y="2220"/>
                <a:ext cx="1007" cy="2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53" name="Rectangle 29"/>
              <p:cNvSpPr/>
              <p:nvPr/>
            </p:nvSpPr>
            <p:spPr>
              <a:xfrm>
                <a:off x="3737" y="2263"/>
                <a:ext cx="1114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2000" dirty="0">
                    <a:solidFill>
                      <a:srgbClr val="000066"/>
                    </a:solidFill>
                    <a:latin typeface="楷体_GB2312" pitchFamily="49" charset="-122"/>
                  </a:rPr>
                  <a:t>数字输出</a:t>
                </a:r>
              </a:p>
            </p:txBody>
          </p:sp>
          <p:sp>
            <p:nvSpPr>
              <p:cNvPr id="26654" name="Rectangle 30"/>
              <p:cNvSpPr/>
              <p:nvPr/>
            </p:nvSpPr>
            <p:spPr>
              <a:xfrm>
                <a:off x="4533" y="2235"/>
                <a:ext cx="138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</a:p>
            </p:txBody>
          </p:sp>
          <p:sp>
            <p:nvSpPr>
              <p:cNvPr id="26655" name="Line 31"/>
              <p:cNvSpPr/>
              <p:nvPr/>
            </p:nvSpPr>
            <p:spPr>
              <a:xfrm>
                <a:off x="4108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6" name="Line 32"/>
              <p:cNvSpPr/>
              <p:nvPr/>
            </p:nvSpPr>
            <p:spPr>
              <a:xfrm>
                <a:off x="4316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7" name="Line 33"/>
              <p:cNvSpPr/>
              <p:nvPr/>
            </p:nvSpPr>
            <p:spPr>
              <a:xfrm>
                <a:off x="4524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8" name="Line 34"/>
              <p:cNvSpPr/>
              <p:nvPr/>
            </p:nvSpPr>
            <p:spPr>
              <a:xfrm>
                <a:off x="4733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9" name="Line 35"/>
              <p:cNvSpPr/>
              <p:nvPr/>
            </p:nvSpPr>
            <p:spPr>
              <a:xfrm>
                <a:off x="4941" y="1406"/>
                <a:ext cx="4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0" name="Line 36"/>
              <p:cNvSpPr/>
              <p:nvPr/>
            </p:nvSpPr>
            <p:spPr>
              <a:xfrm>
                <a:off x="3478" y="1406"/>
                <a:ext cx="4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1" name="Line 37"/>
              <p:cNvSpPr/>
              <p:nvPr/>
            </p:nvSpPr>
            <p:spPr>
              <a:xfrm>
                <a:off x="3691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2" name="Line 38"/>
              <p:cNvSpPr/>
              <p:nvPr/>
            </p:nvSpPr>
            <p:spPr>
              <a:xfrm>
                <a:off x="3899" y="1406"/>
                <a:ext cx="1" cy="345"/>
              </a:xfrm>
              <a:prstGeom prst="line">
                <a:avLst/>
              </a:prstGeom>
              <a:ln w="17463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3" name="Rectangle 39"/>
              <p:cNvSpPr/>
              <p:nvPr/>
            </p:nvSpPr>
            <p:spPr>
              <a:xfrm>
                <a:off x="3986" y="1730"/>
                <a:ext cx="244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64" name="Rectangle 40"/>
              <p:cNvSpPr/>
              <p:nvPr/>
            </p:nvSpPr>
            <p:spPr>
              <a:xfrm>
                <a:off x="4074" y="176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0</a:t>
                </a:r>
              </a:p>
            </p:txBody>
          </p:sp>
          <p:sp>
            <p:nvSpPr>
              <p:cNvPr id="26665" name="Rectangle 41"/>
              <p:cNvSpPr/>
              <p:nvPr/>
            </p:nvSpPr>
            <p:spPr>
              <a:xfrm>
                <a:off x="4138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26666" name="Rectangle 42"/>
              <p:cNvSpPr/>
              <p:nvPr/>
            </p:nvSpPr>
            <p:spPr>
              <a:xfrm>
                <a:off x="3778" y="1730"/>
                <a:ext cx="243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67" name="Rectangle 43"/>
              <p:cNvSpPr/>
              <p:nvPr/>
            </p:nvSpPr>
            <p:spPr>
              <a:xfrm>
                <a:off x="3865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0</a:t>
                </a:r>
              </a:p>
            </p:txBody>
          </p:sp>
          <p:sp>
            <p:nvSpPr>
              <p:cNvPr id="26668" name="Rectangle 44"/>
              <p:cNvSpPr/>
              <p:nvPr/>
            </p:nvSpPr>
            <p:spPr>
              <a:xfrm>
                <a:off x="3929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26669" name="Rectangle 45"/>
              <p:cNvSpPr/>
              <p:nvPr/>
            </p:nvSpPr>
            <p:spPr>
              <a:xfrm>
                <a:off x="4414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70" name="Rectangle 46"/>
              <p:cNvSpPr/>
              <p:nvPr/>
            </p:nvSpPr>
            <p:spPr>
              <a:xfrm>
                <a:off x="4501" y="1764"/>
                <a:ext cx="139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0</a:t>
                </a:r>
              </a:p>
            </p:txBody>
          </p:sp>
          <p:sp>
            <p:nvSpPr>
              <p:cNvPr id="26671" name="Rectangle 47"/>
              <p:cNvSpPr/>
              <p:nvPr/>
            </p:nvSpPr>
            <p:spPr>
              <a:xfrm>
                <a:off x="4569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26672" name="Rectangle 48"/>
              <p:cNvSpPr/>
              <p:nvPr/>
            </p:nvSpPr>
            <p:spPr>
              <a:xfrm>
                <a:off x="4206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73" name="Rectangle 49"/>
              <p:cNvSpPr/>
              <p:nvPr/>
            </p:nvSpPr>
            <p:spPr>
              <a:xfrm>
                <a:off x="4296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0</a:t>
                </a:r>
              </a:p>
            </p:txBody>
          </p:sp>
          <p:sp>
            <p:nvSpPr>
              <p:cNvPr id="26674" name="Rectangle 50"/>
              <p:cNvSpPr/>
              <p:nvPr/>
            </p:nvSpPr>
            <p:spPr>
              <a:xfrm>
                <a:off x="4358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26675" name="Rectangle 51"/>
              <p:cNvSpPr/>
              <p:nvPr/>
            </p:nvSpPr>
            <p:spPr>
              <a:xfrm>
                <a:off x="4831" y="1730"/>
                <a:ext cx="248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76" name="Rectangle 52"/>
              <p:cNvSpPr/>
              <p:nvPr/>
            </p:nvSpPr>
            <p:spPr>
              <a:xfrm>
                <a:off x="4920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1</a:t>
                </a:r>
              </a:p>
            </p:txBody>
          </p:sp>
          <p:sp>
            <p:nvSpPr>
              <p:cNvPr id="26677" name="Rectangle 53"/>
              <p:cNvSpPr/>
              <p:nvPr/>
            </p:nvSpPr>
            <p:spPr>
              <a:xfrm>
                <a:off x="4984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sp>
            <p:nvSpPr>
              <p:cNvPr id="26678" name="Rectangle 54"/>
              <p:cNvSpPr/>
              <p:nvPr/>
            </p:nvSpPr>
            <p:spPr>
              <a:xfrm>
                <a:off x="4623" y="1730"/>
                <a:ext cx="247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  <p:sp>
            <p:nvSpPr>
              <p:cNvPr id="26679" name="Rectangle 55"/>
              <p:cNvSpPr/>
              <p:nvPr/>
            </p:nvSpPr>
            <p:spPr>
              <a:xfrm>
                <a:off x="4711" y="1764"/>
                <a:ext cx="138" cy="2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0" dirty="0">
                    <a:solidFill>
                      <a:srgbClr val="000066"/>
                    </a:solidFill>
                    <a:latin typeface="楷体_GB2312" pitchFamily="49" charset="-122"/>
                  </a:rPr>
                  <a:t>1</a:t>
                </a:r>
              </a:p>
            </p:txBody>
          </p:sp>
          <p:sp>
            <p:nvSpPr>
              <p:cNvPr id="26680" name="Rectangle 56"/>
              <p:cNvSpPr/>
              <p:nvPr/>
            </p:nvSpPr>
            <p:spPr>
              <a:xfrm>
                <a:off x="4777" y="1739"/>
                <a:ext cx="140" cy="27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dirty="0">
                    <a:solidFill>
                      <a:srgbClr val="000066"/>
                    </a:solidFill>
                    <a:latin typeface="楷体_GB2312" pitchFamily="49" charset="-122"/>
                  </a:rPr>
                  <a:t> </a:t>
                </a:r>
                <a:endParaRPr lang="en-US" altLang="zh-CN" sz="2000" b="0" dirty="0">
                  <a:solidFill>
                    <a:srgbClr val="000066"/>
                  </a:solidFill>
                  <a:latin typeface="楷体_GB2312" pitchFamily="49" charset="-122"/>
                </a:endParaRPr>
              </a:p>
            </p:txBody>
          </p:sp>
          <p:grpSp>
            <p:nvGrpSpPr>
              <p:cNvPr id="26681" name="Group 57"/>
              <p:cNvGrpSpPr/>
              <p:nvPr/>
            </p:nvGrpSpPr>
            <p:grpSpPr>
              <a:xfrm>
                <a:off x="3428" y="2014"/>
                <a:ext cx="1599" cy="118"/>
                <a:chOff x="3478" y="1694"/>
                <a:chExt cx="1549" cy="61"/>
              </a:xfrm>
            </p:grpSpPr>
            <p:sp>
              <p:nvSpPr>
                <p:cNvPr id="26687" name="Freeform 58"/>
                <p:cNvSpPr/>
                <p:nvPr/>
              </p:nvSpPr>
              <p:spPr>
                <a:xfrm>
                  <a:off x="4898" y="1694"/>
                  <a:ext cx="129" cy="32"/>
                </a:xfrm>
                <a:custGeom>
                  <a:avLst/>
                  <a:gdLst/>
                  <a:ahLst/>
                  <a:cxnLst>
                    <a:cxn ang="0">
                      <a:pos x="0" y="32"/>
                    </a:cxn>
                    <a:cxn ang="0">
                      <a:pos x="49" y="30"/>
                    </a:cxn>
                    <a:cxn ang="0">
                      <a:pos x="91" y="23"/>
                    </a:cxn>
                    <a:cxn ang="0">
                      <a:pos x="106" y="18"/>
                    </a:cxn>
                    <a:cxn ang="0">
                      <a:pos x="118" y="14"/>
                    </a:cxn>
                    <a:cxn ang="0">
                      <a:pos x="126" y="7"/>
                    </a:cxn>
                    <a:cxn ang="0">
                      <a:pos x="129" y="0"/>
                    </a:cxn>
                  </a:cxnLst>
                  <a:rect l="0" t="0" r="0" b="0"/>
                  <a:pathLst>
                    <a:path w="129" h="32">
                      <a:moveTo>
                        <a:pt x="0" y="32"/>
                      </a:moveTo>
                      <a:lnTo>
                        <a:pt x="49" y="30"/>
                      </a:lnTo>
                      <a:lnTo>
                        <a:pt x="91" y="23"/>
                      </a:lnTo>
                      <a:lnTo>
                        <a:pt x="106" y="18"/>
                      </a:lnTo>
                      <a:lnTo>
                        <a:pt x="118" y="14"/>
                      </a:lnTo>
                      <a:lnTo>
                        <a:pt x="126" y="7"/>
                      </a:lnTo>
                      <a:lnTo>
                        <a:pt x="129" y="0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8" name="Line 59"/>
                <p:cNvSpPr/>
                <p:nvPr/>
              </p:nvSpPr>
              <p:spPr>
                <a:xfrm>
                  <a:off x="4380" y="1724"/>
                  <a:ext cx="522" cy="2"/>
                </a:xfrm>
                <a:prstGeom prst="line">
                  <a:avLst/>
                </a:prstGeom>
                <a:ln w="17463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9" name="Freeform 60"/>
                <p:cNvSpPr/>
                <p:nvPr/>
              </p:nvSpPr>
              <p:spPr>
                <a:xfrm>
                  <a:off x="4251" y="1726"/>
                  <a:ext cx="129" cy="29"/>
                </a:xfrm>
                <a:custGeom>
                  <a:avLst/>
                  <a:gdLst/>
                  <a:ahLst/>
                  <a:cxnLst>
                    <a:cxn ang="0">
                      <a:pos x="129" y="0"/>
                    </a:cxn>
                    <a:cxn ang="0">
                      <a:pos x="80" y="2"/>
                    </a:cxn>
                    <a:cxn ang="0">
                      <a:pos x="38" y="9"/>
                    </a:cxn>
                    <a:cxn ang="0">
                      <a:pos x="23" y="13"/>
                    </a:cxn>
                    <a:cxn ang="0">
                      <a:pos x="11" y="18"/>
                    </a:cxn>
                    <a:cxn ang="0">
                      <a:pos x="4" y="22"/>
                    </a:cxn>
                    <a:cxn ang="0">
                      <a:pos x="0" y="29"/>
                    </a:cxn>
                  </a:cxnLst>
                  <a:rect l="0" t="0" r="0" b="0"/>
                  <a:pathLst>
                    <a:path w="129" h="29">
                      <a:moveTo>
                        <a:pt x="129" y="0"/>
                      </a:moveTo>
                      <a:lnTo>
                        <a:pt x="80" y="2"/>
                      </a:lnTo>
                      <a:lnTo>
                        <a:pt x="38" y="9"/>
                      </a:lnTo>
                      <a:lnTo>
                        <a:pt x="23" y="13"/>
                      </a:lnTo>
                      <a:lnTo>
                        <a:pt x="11" y="18"/>
                      </a:lnTo>
                      <a:lnTo>
                        <a:pt x="4" y="22"/>
                      </a:lnTo>
                      <a:lnTo>
                        <a:pt x="0" y="29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0" name="Freeform 61"/>
                <p:cNvSpPr/>
                <p:nvPr/>
              </p:nvSpPr>
              <p:spPr>
                <a:xfrm>
                  <a:off x="4121" y="1726"/>
                  <a:ext cx="130" cy="2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0" y="2"/>
                    </a:cxn>
                    <a:cxn ang="0">
                      <a:pos x="92" y="9"/>
                    </a:cxn>
                    <a:cxn ang="0">
                      <a:pos x="107" y="13"/>
                    </a:cxn>
                    <a:cxn ang="0">
                      <a:pos x="118" y="18"/>
                    </a:cxn>
                    <a:cxn ang="0">
                      <a:pos x="126" y="22"/>
                    </a:cxn>
                    <a:cxn ang="0">
                      <a:pos x="130" y="29"/>
                    </a:cxn>
                  </a:cxnLst>
                  <a:rect l="0" t="0" r="0" b="0"/>
                  <a:pathLst>
                    <a:path w="130" h="29">
                      <a:moveTo>
                        <a:pt x="0" y="0"/>
                      </a:moveTo>
                      <a:lnTo>
                        <a:pt x="50" y="2"/>
                      </a:lnTo>
                      <a:lnTo>
                        <a:pt x="92" y="9"/>
                      </a:lnTo>
                      <a:lnTo>
                        <a:pt x="107" y="13"/>
                      </a:lnTo>
                      <a:lnTo>
                        <a:pt x="118" y="18"/>
                      </a:lnTo>
                      <a:lnTo>
                        <a:pt x="126" y="22"/>
                      </a:lnTo>
                      <a:lnTo>
                        <a:pt x="130" y="29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1" name="Line 62"/>
                <p:cNvSpPr/>
                <p:nvPr/>
              </p:nvSpPr>
              <p:spPr>
                <a:xfrm>
                  <a:off x="3604" y="1724"/>
                  <a:ext cx="521" cy="2"/>
                </a:xfrm>
                <a:prstGeom prst="line">
                  <a:avLst/>
                </a:prstGeom>
                <a:ln w="17463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2" name="Freeform 63"/>
                <p:cNvSpPr/>
                <p:nvPr/>
              </p:nvSpPr>
              <p:spPr>
                <a:xfrm>
                  <a:off x="3478" y="1694"/>
                  <a:ext cx="129" cy="32"/>
                </a:xfrm>
                <a:custGeom>
                  <a:avLst/>
                  <a:gdLst/>
                  <a:ahLst/>
                  <a:cxnLst>
                    <a:cxn ang="0">
                      <a:pos x="129" y="32"/>
                    </a:cxn>
                    <a:cxn ang="0">
                      <a:pos x="80" y="30"/>
                    </a:cxn>
                    <a:cxn ang="0">
                      <a:pos x="38" y="23"/>
                    </a:cxn>
                    <a:cxn ang="0">
                      <a:pos x="23" y="18"/>
                    </a:cxn>
                    <a:cxn ang="0">
                      <a:pos x="11" y="14"/>
                    </a:cxn>
                    <a:cxn ang="0">
                      <a:pos x="4" y="7"/>
                    </a:cxn>
                    <a:cxn ang="0">
                      <a:pos x="0" y="0"/>
                    </a:cxn>
                  </a:cxnLst>
                  <a:rect l="0" t="0" r="0" b="0"/>
                  <a:pathLst>
                    <a:path w="129" h="32">
                      <a:moveTo>
                        <a:pt x="129" y="32"/>
                      </a:moveTo>
                      <a:lnTo>
                        <a:pt x="80" y="30"/>
                      </a:lnTo>
                      <a:lnTo>
                        <a:pt x="38" y="23"/>
                      </a:lnTo>
                      <a:lnTo>
                        <a:pt x="23" y="18"/>
                      </a:lnTo>
                      <a:lnTo>
                        <a:pt x="11" y="14"/>
                      </a:lnTo>
                      <a:lnTo>
                        <a:pt x="4" y="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463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682" name="Group 64"/>
              <p:cNvGrpSpPr/>
              <p:nvPr/>
            </p:nvGrpSpPr>
            <p:grpSpPr>
              <a:xfrm>
                <a:off x="3117" y="1089"/>
                <a:ext cx="279" cy="39"/>
                <a:chOff x="3177" y="1218"/>
                <a:chExt cx="271" cy="20"/>
              </a:xfrm>
            </p:grpSpPr>
            <p:grpSp>
              <p:nvGrpSpPr>
                <p:cNvPr id="26683" name="Group 65"/>
                <p:cNvGrpSpPr/>
                <p:nvPr/>
              </p:nvGrpSpPr>
              <p:grpSpPr>
                <a:xfrm>
                  <a:off x="3288" y="1218"/>
                  <a:ext cx="160" cy="20"/>
                  <a:chOff x="3288" y="1218"/>
                  <a:chExt cx="160" cy="20"/>
                </a:xfrm>
              </p:grpSpPr>
              <p:sp>
                <p:nvSpPr>
                  <p:cNvPr id="26685" name="Line 66"/>
                  <p:cNvSpPr/>
                  <p:nvPr/>
                </p:nvSpPr>
                <p:spPr>
                  <a:xfrm>
                    <a:off x="3288" y="1227"/>
                    <a:ext cx="160" cy="1"/>
                  </a:xfrm>
                  <a:prstGeom prst="line">
                    <a:avLst/>
                  </a:prstGeom>
                  <a:ln w="17463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86" name="Freeform 67"/>
                  <p:cNvSpPr/>
                  <p:nvPr/>
                </p:nvSpPr>
                <p:spPr>
                  <a:xfrm>
                    <a:off x="3310" y="1218"/>
                    <a:ext cx="134" cy="20"/>
                  </a:xfrm>
                  <a:custGeom>
                    <a:avLst/>
                    <a:gdLst/>
                    <a:ahLst/>
                    <a:cxnLst>
                      <a:cxn ang="0">
                        <a:pos x="0" y="20"/>
                      </a:cxn>
                      <a:cxn ang="0">
                        <a:pos x="0" y="0"/>
                      </a:cxn>
                      <a:cxn ang="0">
                        <a:pos x="134" y="9"/>
                      </a:cxn>
                      <a:cxn ang="0">
                        <a:pos x="0" y="20"/>
                      </a:cxn>
                    </a:cxnLst>
                    <a:rect l="0" t="0" r="0" b="0"/>
                    <a:pathLst>
                      <a:path w="134" h="20">
                        <a:moveTo>
                          <a:pt x="0" y="20"/>
                        </a:moveTo>
                        <a:lnTo>
                          <a:pt x="0" y="0"/>
                        </a:lnTo>
                        <a:lnTo>
                          <a:pt x="134" y="9"/>
                        </a:lnTo>
                        <a:lnTo>
                          <a:pt x="0" y="20"/>
                        </a:lnTo>
                        <a:close/>
                      </a:path>
                    </a:pathLst>
                  </a:custGeom>
                  <a:solidFill>
                    <a:schemeClr val="tx1">
                      <a:alpha val="100000"/>
                    </a:schemeClr>
                  </a:solidFill>
                  <a:ln w="17463" cap="flat" cmpd="sng">
                    <a:solidFill>
                      <a:schemeClr val="tx1">
                        <a:alpha val="10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6684" name="Line 68"/>
                <p:cNvSpPr/>
                <p:nvPr/>
              </p:nvSpPr>
              <p:spPr>
                <a:xfrm flipH="1">
                  <a:off x="3177" y="1227"/>
                  <a:ext cx="130" cy="1"/>
                </a:xfrm>
                <a:prstGeom prst="line">
                  <a:avLst/>
                </a:prstGeom>
                <a:ln w="17463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6631" name="Rectangle 69"/>
            <p:cNvSpPr/>
            <p:nvPr/>
          </p:nvSpPr>
          <p:spPr>
            <a:xfrm>
              <a:off x="196" y="829"/>
              <a:ext cx="2322" cy="236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>
                  <a:solidFill>
                    <a:srgbClr val="000066"/>
                  </a:solidFill>
                  <a:latin typeface="楷体_GB2312" pitchFamily="49" charset="-122"/>
                </a:rPr>
                <a:t>        </a:t>
              </a:r>
              <a:r>
                <a:rPr lang="zh-CN" altLang="en-US" sz="2400" dirty="0">
                  <a:solidFill>
                    <a:srgbClr val="000066"/>
                  </a:solidFill>
                  <a:latin typeface="楷体_GB2312" pitchFamily="49" charset="-122"/>
                </a:rPr>
                <a:t>模数转换的实现</a:t>
              </a:r>
            </a:p>
          </p:txBody>
        </p:sp>
      </p:grpSp>
      <p:graphicFrame>
        <p:nvGraphicFramePr>
          <p:cNvPr id="397382" name="Object 70"/>
          <p:cNvGraphicFramePr>
            <a:graphicFrameLocks noChangeAspect="1"/>
          </p:cNvGraphicFramePr>
          <p:nvPr/>
        </p:nvGraphicFramePr>
        <p:xfrm>
          <a:off x="4427538" y="1700213"/>
          <a:ext cx="4392612" cy="446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8268950" imgH="30632400" progId="Photoshop.Image.8">
                  <p:embed/>
                </p:oleObj>
              </mc:Choice>
              <mc:Fallback>
                <p:oleObj r:id="rId2" imgW="18268950" imgH="30632400" progId="Photoshop.Image.8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427538" y="1700213"/>
                        <a:ext cx="4392612" cy="4465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5"/>
          <p:cNvSpPr txBox="1"/>
          <p:nvPr/>
        </p:nvSpPr>
        <p:spPr>
          <a:xfrm>
            <a:off x="250825" y="1412875"/>
            <a:ext cx="8642350" cy="4708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数字量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(digital variable)——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在时间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和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数量上的变化都离散的物理量。</a:t>
            </a: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数字信号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(digital signal)——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表示数字量的信号。</a:t>
            </a: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数字电路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(digital circuits)——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工作在数字信号下的电路。</a:t>
            </a: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zh-CN" altLang="en-US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" pitchFamily="49" charset="-122"/>
              </a:rPr>
              <a:t>如：时钟、自动生产线上送出零件量的检测等。</a:t>
            </a: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模拟量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(</a:t>
            </a:r>
            <a:r>
              <a:rPr lang="en-US" altLang="zh-CN" sz="2400" dirty="0">
                <a:ea typeface="宋体" pitchFamily="2" charset="-122"/>
              </a:rPr>
              <a:t>analog variable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)——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在时间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</a:rPr>
              <a:t>或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数值上连续变化的物理量。</a:t>
            </a: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模拟信号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(analog signal)——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表示模拟量的信号。</a:t>
            </a: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模拟电路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(analog circuits)——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工作在模拟信号下的电路。 </a:t>
            </a:r>
          </a:p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zh-CN" altLang="en-US" sz="2400" dirty="0">
                <a:solidFill>
                  <a:schemeClr val="accent2"/>
                </a:solidFill>
                <a:latin typeface="楷体" pitchFamily="49" charset="-122"/>
                <a:ea typeface="楷体" pitchFamily="49" charset="-122"/>
              </a:rPr>
              <a:t>如：温度、压力变化。</a:t>
            </a:r>
            <a:r>
              <a:rPr lang="zh-CN" altLang="en-US" sz="2400" dirty="0">
                <a:latin typeface="楷体" pitchFamily="49" charset="-122"/>
                <a:ea typeface="楷体" pitchFamily="49" charset="-122"/>
              </a:rPr>
              <a:t>      </a:t>
            </a: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340" name="Group 4"/>
          <p:cNvGrpSpPr/>
          <p:nvPr/>
        </p:nvGrpSpPr>
        <p:grpSpPr>
          <a:xfrm>
            <a:off x="2262188" y="4124325"/>
            <a:ext cx="5475287" cy="2112963"/>
            <a:chOff x="1334" y="3058"/>
            <a:chExt cx="3449" cy="1331"/>
          </a:xfrm>
        </p:grpSpPr>
        <p:grpSp>
          <p:nvGrpSpPr>
            <p:cNvPr id="29710" name="Group 5"/>
            <p:cNvGrpSpPr/>
            <p:nvPr/>
          </p:nvGrpSpPr>
          <p:grpSpPr>
            <a:xfrm>
              <a:off x="1474" y="3406"/>
              <a:ext cx="944" cy="322"/>
              <a:chOff x="0" y="0"/>
              <a:chExt cx="823" cy="384"/>
            </a:xfrm>
          </p:grpSpPr>
          <p:sp>
            <p:nvSpPr>
              <p:cNvPr id="29736" name="Rectangle 6"/>
              <p:cNvSpPr/>
              <p:nvPr/>
            </p:nvSpPr>
            <p:spPr>
              <a:xfrm>
                <a:off x="43" y="0"/>
                <a:ext cx="737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zh-CN" altLang="en-US" sz="2400" dirty="0">
                    <a:solidFill>
                      <a:srgbClr val="040468"/>
                    </a:solidFill>
                    <a:latin typeface="楷体_GB2312" pitchFamily="49" charset="-122"/>
                  </a:rPr>
                  <a:t>电压</a:t>
                </a:r>
                <a:r>
                  <a:rPr lang="en-US" altLang="zh-CN" sz="2400" dirty="0">
                    <a:solidFill>
                      <a:srgbClr val="040468"/>
                    </a:solidFill>
                    <a:latin typeface="楷体_GB2312" pitchFamily="49" charset="-122"/>
                  </a:rPr>
                  <a:t>(V)</a:t>
                </a:r>
              </a:p>
            </p:txBody>
          </p:sp>
          <p:sp>
            <p:nvSpPr>
              <p:cNvPr id="29737" name="Rectangle 7"/>
              <p:cNvSpPr/>
              <p:nvPr/>
            </p:nvSpPr>
            <p:spPr>
              <a:xfrm>
                <a:off x="0" y="0"/>
                <a:ext cx="82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1" name="Group 8"/>
            <p:cNvGrpSpPr/>
            <p:nvPr/>
          </p:nvGrpSpPr>
          <p:grpSpPr>
            <a:xfrm>
              <a:off x="2360" y="3406"/>
              <a:ext cx="1318" cy="322"/>
              <a:chOff x="823" y="0"/>
              <a:chExt cx="1149" cy="384"/>
            </a:xfrm>
          </p:grpSpPr>
          <p:sp>
            <p:nvSpPr>
              <p:cNvPr id="29734" name="Rectangle 9"/>
              <p:cNvSpPr/>
              <p:nvPr/>
            </p:nvSpPr>
            <p:spPr>
              <a:xfrm>
                <a:off x="866" y="0"/>
                <a:ext cx="106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zh-CN" altLang="en-US" sz="2400" dirty="0">
                    <a:solidFill>
                      <a:srgbClr val="040468"/>
                    </a:solidFill>
                    <a:latin typeface="楷体_GB2312" pitchFamily="49" charset="-122"/>
                  </a:rPr>
                  <a:t>二值逻辑</a:t>
                </a:r>
              </a:p>
            </p:txBody>
          </p:sp>
          <p:sp>
            <p:nvSpPr>
              <p:cNvPr id="29735" name="Rectangle 10"/>
              <p:cNvSpPr/>
              <p:nvPr/>
            </p:nvSpPr>
            <p:spPr>
              <a:xfrm>
                <a:off x="823" y="0"/>
                <a:ext cx="1149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2" name="Group 11"/>
            <p:cNvGrpSpPr/>
            <p:nvPr/>
          </p:nvGrpSpPr>
          <p:grpSpPr>
            <a:xfrm>
              <a:off x="3620" y="3406"/>
              <a:ext cx="1074" cy="322"/>
              <a:chOff x="1972" y="0"/>
              <a:chExt cx="936" cy="384"/>
            </a:xfrm>
          </p:grpSpPr>
          <p:sp>
            <p:nvSpPr>
              <p:cNvPr id="29732" name="Rectangle 12"/>
              <p:cNvSpPr/>
              <p:nvPr/>
            </p:nvSpPr>
            <p:spPr>
              <a:xfrm>
                <a:off x="2015" y="0"/>
                <a:ext cx="850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zh-CN" altLang="en-US" sz="2400" dirty="0">
                    <a:solidFill>
                      <a:srgbClr val="040468"/>
                    </a:solidFill>
                    <a:latin typeface="楷体_GB2312" pitchFamily="49" charset="-122"/>
                  </a:rPr>
                  <a:t>电 平</a:t>
                </a:r>
              </a:p>
            </p:txBody>
          </p:sp>
          <p:sp>
            <p:nvSpPr>
              <p:cNvPr id="29733" name="Rectangle 13"/>
              <p:cNvSpPr/>
              <p:nvPr/>
            </p:nvSpPr>
            <p:spPr>
              <a:xfrm>
                <a:off x="1972" y="0"/>
                <a:ext cx="936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3" name="Group 14"/>
            <p:cNvGrpSpPr/>
            <p:nvPr/>
          </p:nvGrpSpPr>
          <p:grpSpPr>
            <a:xfrm>
              <a:off x="1474" y="3737"/>
              <a:ext cx="944" cy="321"/>
              <a:chOff x="0" y="384"/>
              <a:chExt cx="823" cy="384"/>
            </a:xfrm>
          </p:grpSpPr>
          <p:sp>
            <p:nvSpPr>
              <p:cNvPr id="29730" name="Rectangle 15"/>
              <p:cNvSpPr/>
              <p:nvPr/>
            </p:nvSpPr>
            <p:spPr>
              <a:xfrm>
                <a:off x="43" y="384"/>
                <a:ext cx="737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dirty="0">
                    <a:solidFill>
                      <a:srgbClr val="040468"/>
                    </a:solidFill>
                    <a:latin typeface="Times New Roman" panose="02020603050405020304" pitchFamily="18" charset="0"/>
                  </a:rPr>
                  <a:t>+5</a:t>
                </a:r>
              </a:p>
            </p:txBody>
          </p:sp>
          <p:sp>
            <p:nvSpPr>
              <p:cNvPr id="29731" name="Rectangle 16"/>
              <p:cNvSpPr/>
              <p:nvPr/>
            </p:nvSpPr>
            <p:spPr>
              <a:xfrm>
                <a:off x="0" y="384"/>
                <a:ext cx="82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4" name="Group 17"/>
            <p:cNvGrpSpPr/>
            <p:nvPr/>
          </p:nvGrpSpPr>
          <p:grpSpPr>
            <a:xfrm>
              <a:off x="2360" y="3737"/>
              <a:ext cx="1318" cy="321"/>
              <a:chOff x="823" y="384"/>
              <a:chExt cx="1149" cy="384"/>
            </a:xfrm>
          </p:grpSpPr>
          <p:sp>
            <p:nvSpPr>
              <p:cNvPr id="29728" name="Rectangle 18"/>
              <p:cNvSpPr/>
              <p:nvPr/>
            </p:nvSpPr>
            <p:spPr>
              <a:xfrm>
                <a:off x="866" y="384"/>
                <a:ext cx="106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dirty="0">
                    <a:solidFill>
                      <a:srgbClr val="040468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9729" name="Rectangle 19"/>
              <p:cNvSpPr/>
              <p:nvPr/>
            </p:nvSpPr>
            <p:spPr>
              <a:xfrm>
                <a:off x="823" y="384"/>
                <a:ext cx="1149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5" name="Group 20"/>
            <p:cNvGrpSpPr/>
            <p:nvPr/>
          </p:nvGrpSpPr>
          <p:grpSpPr>
            <a:xfrm>
              <a:off x="3620" y="3737"/>
              <a:ext cx="1074" cy="321"/>
              <a:chOff x="1972" y="384"/>
              <a:chExt cx="936" cy="384"/>
            </a:xfrm>
          </p:grpSpPr>
          <p:sp>
            <p:nvSpPr>
              <p:cNvPr id="29726" name="Rectangle 21"/>
              <p:cNvSpPr/>
              <p:nvPr/>
            </p:nvSpPr>
            <p:spPr>
              <a:xfrm>
                <a:off x="2015" y="384"/>
                <a:ext cx="850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dirty="0">
                    <a:solidFill>
                      <a:srgbClr val="040468"/>
                    </a:solidFill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400" dirty="0">
                    <a:solidFill>
                      <a:srgbClr val="040468"/>
                    </a:solidFill>
                    <a:latin typeface="楷体_GB2312" pitchFamily="49" charset="-122"/>
                  </a:rPr>
                  <a:t>(</a:t>
                </a:r>
                <a:r>
                  <a:rPr lang="zh-CN" altLang="en-US" sz="2400" dirty="0">
                    <a:solidFill>
                      <a:srgbClr val="040468"/>
                    </a:solidFill>
                    <a:latin typeface="楷体_GB2312" pitchFamily="49" charset="-122"/>
                  </a:rPr>
                  <a:t>高电平</a:t>
                </a:r>
                <a:r>
                  <a:rPr lang="en-US" altLang="zh-CN" sz="2400" dirty="0">
                    <a:solidFill>
                      <a:srgbClr val="040468"/>
                    </a:solidFill>
                    <a:latin typeface="楷体_GB2312" pitchFamily="49" charset="-122"/>
                  </a:rPr>
                  <a:t>)</a:t>
                </a:r>
              </a:p>
            </p:txBody>
          </p:sp>
          <p:sp>
            <p:nvSpPr>
              <p:cNvPr id="29727" name="Rectangle 22"/>
              <p:cNvSpPr/>
              <p:nvPr/>
            </p:nvSpPr>
            <p:spPr>
              <a:xfrm>
                <a:off x="1972" y="384"/>
                <a:ext cx="936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6" name="Group 23"/>
            <p:cNvGrpSpPr/>
            <p:nvPr/>
          </p:nvGrpSpPr>
          <p:grpSpPr>
            <a:xfrm>
              <a:off x="1474" y="4067"/>
              <a:ext cx="944" cy="322"/>
              <a:chOff x="0" y="768"/>
              <a:chExt cx="823" cy="384"/>
            </a:xfrm>
          </p:grpSpPr>
          <p:sp>
            <p:nvSpPr>
              <p:cNvPr id="29724" name="Rectangle 24"/>
              <p:cNvSpPr/>
              <p:nvPr/>
            </p:nvSpPr>
            <p:spPr>
              <a:xfrm>
                <a:off x="43" y="768"/>
                <a:ext cx="737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dirty="0">
                    <a:solidFill>
                      <a:srgbClr val="040468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9725" name="Rectangle 25"/>
              <p:cNvSpPr/>
              <p:nvPr/>
            </p:nvSpPr>
            <p:spPr>
              <a:xfrm>
                <a:off x="0" y="768"/>
                <a:ext cx="82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7" name="Group 26"/>
            <p:cNvGrpSpPr/>
            <p:nvPr/>
          </p:nvGrpSpPr>
          <p:grpSpPr>
            <a:xfrm>
              <a:off x="2360" y="4067"/>
              <a:ext cx="1318" cy="322"/>
              <a:chOff x="823" y="768"/>
              <a:chExt cx="1149" cy="384"/>
            </a:xfrm>
          </p:grpSpPr>
          <p:sp>
            <p:nvSpPr>
              <p:cNvPr id="29722" name="Rectangle 27"/>
              <p:cNvSpPr/>
              <p:nvPr/>
            </p:nvSpPr>
            <p:spPr>
              <a:xfrm>
                <a:off x="866" y="768"/>
                <a:ext cx="1063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dirty="0">
                    <a:solidFill>
                      <a:srgbClr val="040468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29723" name="Rectangle 28"/>
              <p:cNvSpPr/>
              <p:nvPr/>
            </p:nvSpPr>
            <p:spPr>
              <a:xfrm>
                <a:off x="823" y="768"/>
                <a:ext cx="1149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grpSp>
          <p:nvGrpSpPr>
            <p:cNvPr id="29718" name="Group 29"/>
            <p:cNvGrpSpPr/>
            <p:nvPr/>
          </p:nvGrpSpPr>
          <p:grpSpPr>
            <a:xfrm>
              <a:off x="3620" y="4067"/>
              <a:ext cx="1074" cy="322"/>
              <a:chOff x="1972" y="768"/>
              <a:chExt cx="936" cy="384"/>
            </a:xfrm>
          </p:grpSpPr>
          <p:sp>
            <p:nvSpPr>
              <p:cNvPr id="29720" name="Rectangle 30"/>
              <p:cNvSpPr/>
              <p:nvPr/>
            </p:nvSpPr>
            <p:spPr>
              <a:xfrm>
                <a:off x="2015" y="768"/>
                <a:ext cx="850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defTabSz="914400" eaLnBrk="1" hangingPunct="1">
                  <a:spcBef>
                    <a:spcPct val="0"/>
                  </a:spcBef>
                  <a:buClrTx/>
                  <a:buFontTx/>
                  <a:buNone/>
                  <a:tabLst>
                    <a:tab pos="2339975" algn="l"/>
                    <a:tab pos="4968875" algn="r"/>
                    <a:tab pos="5221605" algn="l"/>
                  </a:tabLst>
                </a:pPr>
                <a:r>
                  <a:rPr lang="en-US" altLang="zh-CN" sz="2400" dirty="0">
                    <a:solidFill>
                      <a:srgbClr val="040468"/>
                    </a:solidFill>
                    <a:latin typeface="Times New Roman" panose="02020603050405020304" pitchFamily="18" charset="0"/>
                  </a:rPr>
                  <a:t>L</a:t>
                </a:r>
                <a:r>
                  <a:rPr lang="en-US" altLang="zh-CN" sz="2400" dirty="0">
                    <a:solidFill>
                      <a:srgbClr val="040468"/>
                    </a:solidFill>
                    <a:latin typeface="楷体_GB2312" pitchFamily="49" charset="-122"/>
                  </a:rPr>
                  <a:t>(</a:t>
                </a:r>
                <a:r>
                  <a:rPr lang="zh-CN" altLang="en-US" sz="2400" dirty="0">
                    <a:solidFill>
                      <a:srgbClr val="040468"/>
                    </a:solidFill>
                    <a:latin typeface="楷体_GB2312" pitchFamily="49" charset="-122"/>
                  </a:rPr>
                  <a:t>低电平</a:t>
                </a:r>
                <a:r>
                  <a:rPr lang="en-US" altLang="zh-CN" sz="2400" dirty="0">
                    <a:solidFill>
                      <a:srgbClr val="040468"/>
                    </a:solidFill>
                    <a:latin typeface="楷体_GB2312" pitchFamily="49" charset="-122"/>
                  </a:rPr>
                  <a:t>)</a:t>
                </a:r>
              </a:p>
            </p:txBody>
          </p:sp>
          <p:sp>
            <p:nvSpPr>
              <p:cNvPr id="29721" name="Rectangle 31"/>
              <p:cNvSpPr/>
              <p:nvPr/>
            </p:nvSpPr>
            <p:spPr>
              <a:xfrm>
                <a:off x="1972" y="768"/>
                <a:ext cx="936" cy="384"/>
              </a:xfrm>
              <a:prstGeom prst="rect">
                <a:avLst/>
              </a:prstGeom>
              <a:noFill/>
              <a:ln w="19050" cap="flat" cmpd="sng">
                <a:solidFill>
                  <a:srgbClr val="CC0099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469900" indent="-469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08050" indent="-43688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30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304925" indent="-39560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94180" indent="-3873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94230" indent="-398780" algn="l" rtl="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400" b="1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dirty="0">
                  <a:ea typeface="宋体" pitchFamily="2" charset="-122"/>
                </a:endParaRPr>
              </a:p>
            </p:txBody>
          </p:sp>
        </p:grpSp>
        <p:sp>
          <p:nvSpPr>
            <p:cNvPr id="29719" name="Text Box 32"/>
            <p:cNvSpPr txBox="1"/>
            <p:nvPr/>
          </p:nvSpPr>
          <p:spPr>
            <a:xfrm>
              <a:off x="1334" y="3058"/>
              <a:ext cx="3449" cy="296"/>
            </a:xfrm>
            <a:prstGeom prst="rect">
              <a:avLst/>
            </a:prstGeom>
            <a:noFill/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40468"/>
                  </a:solidFill>
                  <a:latin typeface="楷体_GB2312" pitchFamily="49" charset="-122"/>
                </a:rPr>
                <a:t>逻辑电平与电压值的关系（正逻辑）</a:t>
              </a:r>
            </a:p>
          </p:txBody>
        </p:sp>
      </p:grpSp>
      <p:sp>
        <p:nvSpPr>
          <p:cNvPr id="29699" name="Text Box 33"/>
          <p:cNvSpPr txBox="1"/>
          <p:nvPr/>
        </p:nvSpPr>
        <p:spPr>
          <a:xfrm>
            <a:off x="612775" y="476250"/>
            <a:ext cx="5327650" cy="519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CC0000"/>
                </a:solidFill>
                <a:latin typeface="楷体_GB2312" pitchFamily="49" charset="-122"/>
              </a:rPr>
              <a:t>数字信号的描述方法</a:t>
            </a:r>
          </a:p>
        </p:txBody>
      </p:sp>
      <p:sp>
        <p:nvSpPr>
          <p:cNvPr id="398370" name="Text Box 34"/>
          <p:cNvSpPr txBox="1"/>
          <p:nvPr/>
        </p:nvSpPr>
        <p:spPr>
          <a:xfrm>
            <a:off x="539750" y="1244600"/>
            <a:ext cx="5868988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CC0000"/>
                </a:solidFill>
                <a:latin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</a:rPr>
              <a:t>、二值数字逻辑和逻辑电平</a:t>
            </a:r>
          </a:p>
        </p:txBody>
      </p:sp>
      <p:sp>
        <p:nvSpPr>
          <p:cNvPr id="398371" name="Rectangle 35"/>
          <p:cNvSpPr/>
          <p:nvPr/>
        </p:nvSpPr>
        <p:spPr>
          <a:xfrm>
            <a:off x="873125" y="3403600"/>
            <a:ext cx="7389813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   a 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、在电路中用低、高电平表示</a:t>
            </a: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0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、</a:t>
            </a: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1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两种逻辑状态</a:t>
            </a:r>
          </a:p>
        </p:txBody>
      </p:sp>
      <p:sp>
        <p:nvSpPr>
          <p:cNvPr id="398372" name="Text Box 36"/>
          <p:cNvSpPr txBox="1">
            <a:spLocks noChangeArrowheads="1"/>
          </p:cNvSpPr>
          <p:nvPr/>
        </p:nvSpPr>
        <p:spPr bwMode="auto">
          <a:xfrm>
            <a:off x="2484438" y="1819275"/>
            <a:ext cx="5616575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R="0" defTabSz="914400" eaLnBrk="1" hangingPunct="1">
              <a:lnSpc>
                <a:spcPct val="145000"/>
              </a:lnSpc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1" lang="en-US" altLang="zh-CN" sz="2400" kern="1200" cap="none" spc="0" normalizeH="0" baseline="0" noProof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kern="1200" cap="none" spc="0" normalizeH="0" baseline="0" noProof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0</a:t>
            </a:r>
            <a:r>
              <a:rPr kumimoji="1" lang="zh-CN" altLang="en-US" sz="2400" kern="1200" cap="none" spc="0" normalizeH="0" baseline="0" noProof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2400" kern="1200" cap="none" spc="0" normalizeH="0" baseline="0" noProof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kern="1200" cap="none" spc="0" normalizeH="0" baseline="0" noProof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数码</a:t>
            </a:r>
            <a:r>
              <a:rPr kumimoji="1" lang="en-US" altLang="zh-CN" sz="2400" kern="1200" cap="none" spc="0" normalizeH="0" baseline="0" noProof="0">
                <a:solidFill>
                  <a:srgbClr val="040468"/>
                </a:solidFill>
                <a:latin typeface="楷体_GB2312" pitchFamily="49" charset="-122"/>
                <a:ea typeface="楷体_GB2312" pitchFamily="49" charset="-122"/>
                <a:cs typeface="+mn-cs"/>
              </a:rPr>
              <a:t>---</a:t>
            </a:r>
            <a:r>
              <a:rPr kumimoji="0" lang="zh-CN" altLang="en-US" sz="2400" kern="1200" cap="none" spc="0" normalizeH="0" baseline="0" noProof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表示数量时称二进制数</a:t>
            </a:r>
          </a:p>
        </p:txBody>
      </p:sp>
      <p:grpSp>
        <p:nvGrpSpPr>
          <p:cNvPr id="398373" name="Group 37"/>
          <p:cNvGrpSpPr/>
          <p:nvPr/>
        </p:nvGrpSpPr>
        <p:grpSpPr>
          <a:xfrm>
            <a:off x="612775" y="2900363"/>
            <a:ext cx="1462088" cy="457200"/>
            <a:chOff x="481" y="2070"/>
            <a:chExt cx="921" cy="288"/>
          </a:xfrm>
        </p:grpSpPr>
        <p:sp>
          <p:nvSpPr>
            <p:cNvPr id="29708" name="Rectangle 38"/>
            <p:cNvSpPr/>
            <p:nvPr/>
          </p:nvSpPr>
          <p:spPr>
            <a:xfrm>
              <a:off x="481" y="2197"/>
              <a:ext cx="56" cy="56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itchFamily="2" charset="-122"/>
              </a:endParaRPr>
            </a:p>
          </p:txBody>
        </p:sp>
        <p:sp>
          <p:nvSpPr>
            <p:cNvPr id="29709" name="Rectangle 39"/>
            <p:cNvSpPr/>
            <p:nvPr/>
          </p:nvSpPr>
          <p:spPr>
            <a:xfrm>
              <a:off x="514" y="2070"/>
              <a:ext cx="88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40468"/>
                  </a:solidFill>
                  <a:latin typeface="楷体_GB2312" pitchFamily="49" charset="-122"/>
                </a:rPr>
                <a:t>表示方式</a:t>
              </a:r>
            </a:p>
          </p:txBody>
        </p:sp>
      </p:grpSp>
      <p:grpSp>
        <p:nvGrpSpPr>
          <p:cNvPr id="398376" name="Group 40"/>
          <p:cNvGrpSpPr/>
          <p:nvPr/>
        </p:nvGrpSpPr>
        <p:grpSpPr>
          <a:xfrm>
            <a:off x="612775" y="1676400"/>
            <a:ext cx="2074863" cy="457200"/>
            <a:chOff x="481" y="2070"/>
            <a:chExt cx="1307" cy="288"/>
          </a:xfrm>
        </p:grpSpPr>
        <p:sp>
          <p:nvSpPr>
            <p:cNvPr id="29706" name="Rectangle 41"/>
            <p:cNvSpPr/>
            <p:nvPr/>
          </p:nvSpPr>
          <p:spPr>
            <a:xfrm>
              <a:off x="481" y="2197"/>
              <a:ext cx="56" cy="56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itchFamily="2" charset="-122"/>
              </a:endParaRPr>
            </a:p>
          </p:txBody>
        </p:sp>
        <p:sp>
          <p:nvSpPr>
            <p:cNvPr id="29707" name="Rectangle 42"/>
            <p:cNvSpPr/>
            <p:nvPr/>
          </p:nvSpPr>
          <p:spPr>
            <a:xfrm>
              <a:off x="514" y="2070"/>
              <a:ext cx="127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dirty="0">
                  <a:solidFill>
                    <a:srgbClr val="040468"/>
                  </a:solidFill>
                  <a:latin typeface="Arial" panose="020B0604020202020204" pitchFamily="34" charset="0"/>
                </a:rPr>
                <a:t>二值数字逻辑</a:t>
              </a:r>
              <a:endParaRPr lang="zh-CN" altLang="en-US" sz="2400" dirty="0">
                <a:solidFill>
                  <a:srgbClr val="040468"/>
                </a:solidFill>
                <a:latin typeface="楷体_GB2312" pitchFamily="49" charset="-122"/>
              </a:endParaRPr>
            </a:p>
          </p:txBody>
        </p:sp>
      </p:grpSp>
      <p:sp>
        <p:nvSpPr>
          <p:cNvPr id="398379" name="Rectangle 43"/>
          <p:cNvSpPr>
            <a:spLocks noChangeArrowheads="1"/>
          </p:cNvSpPr>
          <p:nvPr/>
        </p:nvSpPr>
        <p:spPr bwMode="auto">
          <a:xfrm>
            <a:off x="2052638" y="2420938"/>
            <a:ext cx="7235825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889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45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40468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            ---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表示事物状态时称二值逻辑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9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8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9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98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9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9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8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70" grpId="0"/>
      <p:bldP spid="398371" grpId="0"/>
      <p:bldP spid="398372" grpId="0"/>
      <p:bldP spid="39837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2" name="Rectangle 4"/>
          <p:cNvSpPr/>
          <p:nvPr/>
        </p:nvSpPr>
        <p:spPr>
          <a:xfrm>
            <a:off x="0" y="5661025"/>
            <a:ext cx="4476750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  <a:cs typeface="Times New Roman" panose="02020603050405020304" pitchFamily="18" charset="0"/>
              </a:rPr>
              <a:t>(a) 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  <a:cs typeface="Times New Roman" panose="02020603050405020304" pitchFamily="18" charset="0"/>
              </a:rPr>
              <a:t>用逻辑电平描述的数字波形</a:t>
            </a:r>
            <a:endParaRPr lang="zh-CN" altLang="en-US" sz="2400" dirty="0">
              <a:solidFill>
                <a:srgbClr val="040468"/>
              </a:solidFill>
              <a:latin typeface="楷体_GB2312" pitchFamily="49" charset="-122"/>
              <a:ea typeface="Times New Roman" panose="02020603050405020304" pitchFamily="18" charset="0"/>
            </a:endParaRPr>
          </a:p>
        </p:txBody>
      </p:sp>
      <p:sp>
        <p:nvSpPr>
          <p:cNvPr id="401413" name="Rectangle 5"/>
          <p:cNvSpPr/>
          <p:nvPr/>
        </p:nvSpPr>
        <p:spPr>
          <a:xfrm>
            <a:off x="4643438" y="5661025"/>
            <a:ext cx="3995737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(b) 16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位数据的图形表示</a:t>
            </a:r>
          </a:p>
        </p:txBody>
      </p:sp>
      <p:sp>
        <p:nvSpPr>
          <p:cNvPr id="33796" name="Rectangle 6"/>
          <p:cNvSpPr/>
          <p:nvPr/>
        </p:nvSpPr>
        <p:spPr>
          <a:xfrm>
            <a:off x="963613" y="549275"/>
            <a:ext cx="3744912" cy="457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CC0000"/>
                </a:solidFill>
                <a:latin typeface="楷体_GB2312" pitchFamily="49" charset="-122"/>
                <a:cs typeface="Times New Roman" panose="02020603050405020304" pitchFamily="18" charset="0"/>
              </a:rPr>
              <a:t>数字波形</a:t>
            </a:r>
            <a:endParaRPr lang="zh-CN" altLang="en-US" sz="2400" dirty="0">
              <a:solidFill>
                <a:srgbClr val="CC0000"/>
              </a:solidFill>
              <a:latin typeface="楷体_GB2312" pitchFamily="49" charset="-122"/>
              <a:ea typeface="Times New Roman" panose="02020603050405020304" pitchFamily="18" charset="0"/>
            </a:endParaRPr>
          </a:p>
        </p:txBody>
      </p:sp>
      <p:sp>
        <p:nvSpPr>
          <p:cNvPr id="401415" name="Rectangle 7"/>
          <p:cNvSpPr/>
          <p:nvPr/>
        </p:nvSpPr>
        <p:spPr>
          <a:xfrm>
            <a:off x="827088" y="1268413"/>
            <a:ext cx="7083425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数字波形</a:t>
            </a: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------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是信号逻辑电平对时间的图形表示</a:t>
            </a: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.</a:t>
            </a:r>
          </a:p>
        </p:txBody>
      </p:sp>
      <p:graphicFrame>
        <p:nvGraphicFramePr>
          <p:cNvPr id="33798" name="Object 8"/>
          <p:cNvGraphicFramePr>
            <a:graphicFrameLocks noChangeAspect="1"/>
          </p:cNvGraphicFramePr>
          <p:nvPr/>
        </p:nvGraphicFramePr>
        <p:xfrm>
          <a:off x="1116013" y="1916113"/>
          <a:ext cx="6985000" cy="361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4545925" imgH="12696825" progId="Photoshop.Image.8">
                  <p:embed/>
                </p:oleObj>
              </mc:Choice>
              <mc:Fallback>
                <p:oleObj r:id="rId2" imgW="24545925" imgH="12696825" progId="Photoshop.Image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6013" y="1916113"/>
                        <a:ext cx="6985000" cy="3611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40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40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2" grpId="0"/>
      <p:bldP spid="401413" grpId="0"/>
      <p:bldP spid="4014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4"/>
          <p:cNvGraphicFramePr>
            <a:graphicFrameLocks noChangeAspect="1"/>
          </p:cNvGraphicFramePr>
          <p:nvPr/>
        </p:nvGraphicFramePr>
        <p:xfrm>
          <a:off x="107950" y="2070100"/>
          <a:ext cx="8928100" cy="333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117925" imgH="10868025" progId="Photoshop.Image.8">
                  <p:embed/>
                </p:oleObj>
              </mc:Choice>
              <mc:Fallback>
                <p:oleObj r:id="rId2" imgW="29117925" imgH="10868025" progId="Photoshop.Image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950" y="2070100"/>
                        <a:ext cx="8928100" cy="333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2437" name="AutoShape 5"/>
          <p:cNvSpPr/>
          <p:nvPr/>
        </p:nvSpPr>
        <p:spPr>
          <a:xfrm>
            <a:off x="4500563" y="1946275"/>
            <a:ext cx="1328737" cy="381000"/>
          </a:xfrm>
          <a:prstGeom prst="wedgeRoundRectCallout">
            <a:avLst>
              <a:gd name="adj1" fmla="val 64218"/>
              <a:gd name="adj2" fmla="val 243333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高电平</a:t>
            </a:r>
          </a:p>
        </p:txBody>
      </p:sp>
      <p:sp>
        <p:nvSpPr>
          <p:cNvPr id="402438" name="AutoShape 6"/>
          <p:cNvSpPr/>
          <p:nvPr/>
        </p:nvSpPr>
        <p:spPr>
          <a:xfrm>
            <a:off x="6948488" y="2162175"/>
            <a:ext cx="1373187" cy="381000"/>
          </a:xfrm>
          <a:prstGeom prst="wedgeRoundRectCallout">
            <a:avLst>
              <a:gd name="adj1" fmla="val -82139"/>
              <a:gd name="adj2" fmla="val 295000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低电平</a:t>
            </a:r>
          </a:p>
        </p:txBody>
      </p:sp>
      <p:sp>
        <p:nvSpPr>
          <p:cNvPr id="402439" name="AutoShape 7"/>
          <p:cNvSpPr/>
          <p:nvPr/>
        </p:nvSpPr>
        <p:spPr>
          <a:xfrm>
            <a:off x="7596188" y="3314700"/>
            <a:ext cx="1208087" cy="452438"/>
          </a:xfrm>
          <a:prstGeom prst="wedgeRoundRectCallout">
            <a:avLst>
              <a:gd name="adj1" fmla="val -81407"/>
              <a:gd name="adj2" fmla="val 186139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有脉冲</a:t>
            </a:r>
          </a:p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zh-CN" sz="2400" dirty="0">
              <a:solidFill>
                <a:srgbClr val="040468"/>
              </a:solidFill>
              <a:latin typeface="楷体_GB2312" pitchFamily="49" charset="-122"/>
            </a:endParaRPr>
          </a:p>
        </p:txBody>
      </p:sp>
      <p:sp>
        <p:nvSpPr>
          <p:cNvPr id="402440" name="Rectangle 8"/>
          <p:cNvSpPr/>
          <p:nvPr/>
        </p:nvSpPr>
        <p:spPr>
          <a:xfrm>
            <a:off x="3924300" y="1370013"/>
            <a:ext cx="1563688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*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非归零型</a:t>
            </a:r>
          </a:p>
        </p:txBody>
      </p:sp>
      <p:sp>
        <p:nvSpPr>
          <p:cNvPr id="402441" name="Rectangle 9"/>
          <p:cNvSpPr/>
          <p:nvPr/>
        </p:nvSpPr>
        <p:spPr>
          <a:xfrm>
            <a:off x="6084888" y="1370013"/>
            <a:ext cx="1257300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*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归零型</a:t>
            </a:r>
          </a:p>
        </p:txBody>
      </p:sp>
      <p:sp>
        <p:nvSpPr>
          <p:cNvPr id="402442" name="Rectangle 10"/>
          <p:cNvSpPr/>
          <p:nvPr/>
        </p:nvSpPr>
        <p:spPr>
          <a:xfrm>
            <a:off x="1187450" y="5300663"/>
            <a:ext cx="5916613" cy="461962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 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比特率 </a:t>
            </a: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-------- 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每秒钟传输数据的位数</a:t>
            </a:r>
          </a:p>
        </p:txBody>
      </p:sp>
      <p:sp>
        <p:nvSpPr>
          <p:cNvPr id="402443" name="AutoShape 11"/>
          <p:cNvSpPr/>
          <p:nvPr/>
        </p:nvSpPr>
        <p:spPr>
          <a:xfrm>
            <a:off x="7385050" y="4756150"/>
            <a:ext cx="1208088" cy="381000"/>
          </a:xfrm>
          <a:prstGeom prst="wedgeRoundRectCallout">
            <a:avLst>
              <a:gd name="adj1" fmla="val -106505"/>
              <a:gd name="adj2" fmla="val -84167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无脉冲</a:t>
            </a:r>
          </a:p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zh-CN" sz="2400" dirty="0">
              <a:solidFill>
                <a:srgbClr val="040468"/>
              </a:solidFill>
              <a:latin typeface="楷体_GB2312" pitchFamily="49" charset="-122"/>
            </a:endParaRPr>
          </a:p>
        </p:txBody>
      </p:sp>
      <p:sp>
        <p:nvSpPr>
          <p:cNvPr id="402444" name="Rectangle 12"/>
          <p:cNvSpPr/>
          <p:nvPr/>
        </p:nvSpPr>
        <p:spPr>
          <a:xfrm>
            <a:off x="468313" y="1341438"/>
            <a:ext cx="3557587" cy="457200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(1)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数字波形的两种类型</a:t>
            </a: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: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74040" y="5779135"/>
            <a:ext cx="84194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非归零型信号在一个时间拍内不归零，而归零型信号在一个时间拍内会归零。只有作为时序控制信号使用的时钟脉冲是归零型，除此之外的大多数数字信号基本都是非归零型，非归零型信号使用较为广泛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0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02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402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402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40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402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02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0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7" grpId="0" animBg="1"/>
      <p:bldP spid="402438" grpId="0" animBg="1"/>
      <p:bldP spid="402439" grpId="0" animBg="1"/>
      <p:bldP spid="402440" grpId="0"/>
      <p:bldP spid="402441" grpId="0"/>
      <p:bldP spid="402442" grpId="0"/>
      <p:bldP spid="402443" grpId="0" animBg="1"/>
      <p:bldP spid="4024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2" name="Object 4"/>
          <p:cNvGraphicFramePr>
            <a:graphicFrameLocks noChangeAspect="1"/>
          </p:cNvGraphicFramePr>
          <p:nvPr/>
        </p:nvGraphicFramePr>
        <p:xfrm>
          <a:off x="203200" y="2060575"/>
          <a:ext cx="8616950" cy="352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9003625" imgH="8810625" progId="Photoshop.Image.8">
                  <p:embed/>
                </p:oleObj>
              </mc:Choice>
              <mc:Fallback>
                <p:oleObj r:id="rId2" imgW="29003625" imgH="8810625" progId="Photoshop.Image.8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3200" y="2060575"/>
                        <a:ext cx="8616950" cy="3529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3" name="Rectangle 5"/>
          <p:cNvSpPr/>
          <p:nvPr/>
        </p:nvSpPr>
        <p:spPr>
          <a:xfrm>
            <a:off x="611188" y="1125538"/>
            <a:ext cx="3109912" cy="469900"/>
          </a:xfrm>
          <a:prstGeom prst="rect">
            <a:avLst/>
          </a:prstGeom>
          <a:noFill/>
          <a:ln w="12700" cap="flat" cmpd="sng">
            <a:solidFill>
              <a:srgbClr val="FFFFFF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dirty="0">
                <a:solidFill>
                  <a:srgbClr val="040468"/>
                </a:solidFill>
                <a:latin typeface="楷体_GB2312" pitchFamily="49" charset="-122"/>
              </a:rPr>
              <a:t>(2)</a:t>
            </a: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周期性和非周期性</a:t>
            </a:r>
          </a:p>
        </p:txBody>
      </p:sp>
      <p:sp>
        <p:nvSpPr>
          <p:cNvPr id="35844" name="AutoShape 6"/>
          <p:cNvSpPr>
            <a:spLocks noChangeAspect="1" noTextEdit="1"/>
          </p:cNvSpPr>
          <p:nvPr/>
        </p:nvSpPr>
        <p:spPr>
          <a:xfrm>
            <a:off x="1370013" y="2152650"/>
            <a:ext cx="6026150" cy="2287588"/>
          </a:xfrm>
          <a:prstGeom prst="rect">
            <a:avLst/>
          </a:prstGeom>
          <a:noFill/>
          <a:ln w="9525" cap="flat" cmpd="sng">
            <a:solidFill>
              <a:srgbClr val="FFFFFF">
                <a:alpha val="0"/>
              </a:srgbClr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845" name="Rectangle 7"/>
          <p:cNvSpPr/>
          <p:nvPr/>
        </p:nvSpPr>
        <p:spPr>
          <a:xfrm>
            <a:off x="2773363" y="4264025"/>
            <a:ext cx="138112" cy="314325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40468"/>
                </a:solidFill>
                <a:latin typeface="楷体_GB2312" pitchFamily="49" charset="-122"/>
              </a:rPr>
              <a:t> </a:t>
            </a:r>
            <a:endParaRPr lang="en-US" altLang="zh-CN" sz="2000" b="0" dirty="0">
              <a:solidFill>
                <a:srgbClr val="040468"/>
              </a:solidFill>
              <a:latin typeface="楷体_GB2312" pitchFamily="49" charset="-122"/>
            </a:endParaRPr>
          </a:p>
        </p:txBody>
      </p:sp>
      <p:grpSp>
        <p:nvGrpSpPr>
          <p:cNvPr id="35846" name="Group 8"/>
          <p:cNvGrpSpPr/>
          <p:nvPr/>
        </p:nvGrpSpPr>
        <p:grpSpPr>
          <a:xfrm>
            <a:off x="842963" y="1865313"/>
            <a:ext cx="6864350" cy="4016375"/>
            <a:chOff x="1104" y="2160"/>
            <a:chExt cx="3648" cy="1872"/>
          </a:xfrm>
        </p:grpSpPr>
        <p:sp>
          <p:nvSpPr>
            <p:cNvPr id="35850" name="Text Box 9"/>
            <p:cNvSpPr txBox="1"/>
            <p:nvPr/>
          </p:nvSpPr>
          <p:spPr>
            <a:xfrm>
              <a:off x="2352" y="3792"/>
              <a:ext cx="1056" cy="93"/>
            </a:xfrm>
            <a:prstGeom prst="rect">
              <a:avLst/>
            </a:prstGeom>
            <a:noFill/>
            <a:ln w="1905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90000"/>
                </a:lnSpc>
                <a:spcBef>
                  <a:spcPct val="50000"/>
                </a:spcBef>
                <a:buClrTx/>
                <a:buFontTx/>
                <a:buNone/>
              </a:pPr>
              <a:endParaRPr lang="en-GB" altLang="zh-CN" sz="2000" baseline="-25000" dirty="0">
                <a:solidFill>
                  <a:srgbClr val="040468"/>
                </a:solidFill>
                <a:latin typeface="楷体_GB2312" pitchFamily="49" charset="-122"/>
              </a:endParaRPr>
            </a:p>
          </p:txBody>
        </p:sp>
        <p:sp>
          <p:nvSpPr>
            <p:cNvPr id="35851" name="Rectangle 10"/>
            <p:cNvSpPr/>
            <p:nvPr/>
          </p:nvSpPr>
          <p:spPr>
            <a:xfrm>
              <a:off x="1104" y="2160"/>
              <a:ext cx="3648" cy="1872"/>
            </a:xfrm>
            <a:prstGeom prst="rect">
              <a:avLst/>
            </a:prstGeom>
            <a:noFill/>
            <a:ln w="19050" cap="flat" cmpd="sng">
              <a:solidFill>
                <a:srgbClr val="FFFFFF">
                  <a:alpha val="0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lstStyle>
              <a:lvl1pPr marL="469900" indent="-469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08050" indent="-43688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30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304925" indent="-39560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o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94180" indent="-3873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94230" indent="-398780" algn="l" rtl="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ea typeface="宋体" pitchFamily="2" charset="-122"/>
              </a:endParaRPr>
            </a:p>
          </p:txBody>
        </p:sp>
      </p:grpSp>
      <p:sp>
        <p:nvSpPr>
          <p:cNvPr id="403467" name="AutoShape 11"/>
          <p:cNvSpPr/>
          <p:nvPr/>
        </p:nvSpPr>
        <p:spPr>
          <a:xfrm>
            <a:off x="5076825" y="1628775"/>
            <a:ext cx="2808288" cy="676275"/>
          </a:xfrm>
          <a:prstGeom prst="wedgeRoundRectCallout">
            <a:avLst>
              <a:gd name="adj1" fmla="val -51468"/>
              <a:gd name="adj2" fmla="val 141079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非周期性数字波形</a:t>
            </a:r>
          </a:p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zh-CN" sz="2400" dirty="0">
              <a:solidFill>
                <a:srgbClr val="040468"/>
              </a:solidFill>
              <a:latin typeface="楷体_GB2312" pitchFamily="49" charset="-122"/>
            </a:endParaRPr>
          </a:p>
        </p:txBody>
      </p:sp>
      <p:sp>
        <p:nvSpPr>
          <p:cNvPr id="403468" name="AutoShape 12"/>
          <p:cNvSpPr/>
          <p:nvPr/>
        </p:nvSpPr>
        <p:spPr>
          <a:xfrm>
            <a:off x="6227763" y="5300663"/>
            <a:ext cx="2663825" cy="381000"/>
          </a:xfrm>
          <a:prstGeom prst="wedgeRoundRectCallout">
            <a:avLst>
              <a:gd name="adj1" fmla="val -95588"/>
              <a:gd name="adj2" fmla="val -240417"/>
              <a:gd name="adj3" fmla="val 16667"/>
            </a:avLst>
          </a:prstGeom>
          <a:noFill/>
          <a:ln w="19050" cap="flat" cmpd="sng">
            <a:solidFill>
              <a:srgbClr val="FF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8000" tIns="10800" rIns="18000" bIns="10800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040468"/>
                </a:solidFill>
                <a:latin typeface="楷体_GB2312" pitchFamily="49" charset="-122"/>
              </a:rPr>
              <a:t>周期性数字波形</a:t>
            </a:r>
          </a:p>
          <a:p>
            <a:pPr marL="0" lvl="0" indent="0"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zh-CN" sz="2400" dirty="0">
              <a:solidFill>
                <a:srgbClr val="040468"/>
              </a:solidFill>
              <a:latin typeface="楷体_GB2312" pitchFamily="49" charset="-122"/>
            </a:endParaRPr>
          </a:p>
        </p:txBody>
      </p:sp>
      <p:sp>
        <p:nvSpPr>
          <p:cNvPr id="35849" name="Rectangle 13"/>
          <p:cNvSpPr/>
          <p:nvPr/>
        </p:nvSpPr>
        <p:spPr>
          <a:xfrm>
            <a:off x="3881438" y="3606800"/>
            <a:ext cx="1147762" cy="260350"/>
          </a:xfrm>
          <a:prstGeom prst="rect">
            <a:avLst/>
          </a:prstGeom>
          <a:noFill/>
          <a:ln w="88900">
            <a:noFill/>
          </a:ln>
        </p:spPr>
        <p:txBody>
          <a:bodyPr wrap="none" anchor="ctr" anchorCtr="0"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000" b="0" dirty="0">
                <a:latin typeface="Times New Roman" panose="02020603050405020304" pitchFamily="18" charset="0"/>
                <a:ea typeface="华康简宋" charset="-122"/>
              </a:rPr>
              <a:t>	</a:t>
            </a:r>
            <a:r>
              <a:rPr lang="en-US" altLang="zh-CN" sz="1100" b="0" dirty="0">
                <a:latin typeface="Verdana" panose="020B0604030504040204" pitchFamily="34" charset="0"/>
                <a:ea typeface="华康简宋" charset="-122"/>
              </a:rPr>
              <a:t> </a:t>
            </a:r>
            <a:endParaRPr lang="en-US" altLang="zh-CN" sz="2400" b="0" dirty="0">
              <a:latin typeface="Times New Roman" panose="02020603050405020304" pitchFamily="18" charset="0"/>
              <a:ea typeface="华康简宋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0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67" grpId="0" animBg="1"/>
      <p:bldP spid="40346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357188" y="428625"/>
            <a:ext cx="594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、数字逻辑电路</a:t>
            </a:r>
          </a:p>
        </p:txBody>
      </p:sp>
      <p:sp>
        <p:nvSpPr>
          <p:cNvPr id="3" name="Text Box 15"/>
          <p:cNvSpPr txBox="1"/>
          <p:nvPr/>
        </p:nvSpPr>
        <p:spPr>
          <a:xfrm>
            <a:off x="427038" y="1119188"/>
            <a:ext cx="8077200" cy="1201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rgbClr val="FF9900"/>
                </a:solidFill>
                <a:latin typeface="Times New Roman" panose="02020603050405020304" pitchFamily="18" charset="0"/>
                <a:ea typeface="宋体" pitchFamily="2" charset="-122"/>
              </a:rPr>
              <a:t>　　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用来处理数字信号的电子线路称为</a:t>
            </a:r>
            <a:r>
              <a:rPr lang="zh-CN" altLang="en-US" sz="2400" dirty="0">
                <a:solidFill>
                  <a:srgbClr val="A60000"/>
                </a:solidFill>
                <a:latin typeface="Times New Roman" panose="02020603050405020304" pitchFamily="18" charset="0"/>
                <a:ea typeface="宋体" pitchFamily="2" charset="-122"/>
              </a:rPr>
              <a:t>数字电路。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由于数字电路的各种功能是通过逻辑运算和逻辑判断来实现的，所以数字电路又称为</a:t>
            </a:r>
            <a:r>
              <a:rPr lang="zh-CN" altLang="en-US" sz="2400" dirty="0">
                <a:solidFill>
                  <a:srgbClr val="A60000"/>
                </a:solidFill>
                <a:latin typeface="Times New Roman" panose="02020603050405020304" pitchFamily="18" charset="0"/>
                <a:ea typeface="宋体" pitchFamily="2" charset="-122"/>
              </a:rPr>
              <a:t>数字逻辑电路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或者</a:t>
            </a:r>
            <a:r>
              <a:rPr lang="zh-CN" altLang="en-US" sz="2400" dirty="0">
                <a:solidFill>
                  <a:srgbClr val="A60000"/>
                </a:solidFill>
                <a:latin typeface="Times New Roman" panose="02020603050405020304" pitchFamily="18" charset="0"/>
                <a:ea typeface="宋体" pitchFamily="2" charset="-122"/>
              </a:rPr>
              <a:t>逻辑电路。</a:t>
            </a: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  <a:ea typeface="宋体" pitchFamily="2" charset="-122"/>
              </a:rPr>
              <a:t>         </a:t>
            </a:r>
            <a:endParaRPr lang="zh-CN" altLang="en-US" sz="24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Text Box 22"/>
          <p:cNvSpPr txBox="1">
            <a:spLocks noChangeArrowheads="1"/>
          </p:cNvSpPr>
          <p:nvPr/>
        </p:nvSpPr>
        <p:spPr bwMode="auto">
          <a:xfrm>
            <a:off x="500063" y="2924175"/>
            <a:ext cx="7896225" cy="10779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Arial Narrow" panose="020B0606020202030204" pitchFamily="34" charset="0"/>
                <a:ea typeface="宋体" pitchFamily="2" charset="-122"/>
                <a:cs typeface="+mn-cs"/>
              </a:rPr>
              <a:t>　　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(1)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 电路的基本工作信号是二值信号。它表现为电路中电压的“高”或“低”、开关的“接通”或“断开”、晶体管的“导通”或“截止”等两种稳定的物理状态。 </a:t>
            </a:r>
          </a:p>
        </p:txBody>
      </p:sp>
      <p:sp>
        <p:nvSpPr>
          <p:cNvPr id="5" name="Text Box 25"/>
          <p:cNvSpPr txBox="1">
            <a:spLocks noChangeArrowheads="1"/>
          </p:cNvSpPr>
          <p:nvPr/>
        </p:nvSpPr>
        <p:spPr bwMode="auto">
          <a:xfrm>
            <a:off x="473075" y="2320925"/>
            <a:ext cx="48164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2400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Arial Narrow" panose="020B0606020202030204" pitchFamily="34" charset="0"/>
                <a:ea typeface="宋体" pitchFamily="2" charset="-122"/>
                <a:cs typeface="+mn-cs"/>
              </a:rPr>
              <a:t>  </a:t>
            </a:r>
            <a:r>
              <a:rPr kumimoji="0" lang="zh-CN" altLang="en-US" sz="2400" kern="1200" cap="none" spc="0" normalizeH="0" baseline="0" noProof="0" dirty="0">
                <a:solidFill>
                  <a:schemeClr val="accent2">
                    <a:lumMod val="75000"/>
                  </a:schemeClr>
                </a:solidFill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数字逻辑电路具有如下特点：</a:t>
            </a:r>
          </a:p>
        </p:txBody>
      </p:sp>
      <p:sp>
        <p:nvSpPr>
          <p:cNvPr id="6" name="Text Box 26"/>
          <p:cNvSpPr txBox="1">
            <a:spLocks noChangeArrowheads="1"/>
          </p:cNvSpPr>
          <p:nvPr/>
        </p:nvSpPr>
        <p:spPr bwMode="auto">
          <a:xfrm>
            <a:off x="500063" y="4714875"/>
            <a:ext cx="8001000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Arial Narrow" panose="020B0606020202030204" pitchFamily="34" charset="0"/>
                <a:ea typeface="宋体" pitchFamily="2" charset="-122"/>
                <a:cs typeface="Times New Roman" panose="02020603050405020304" pitchFamily="18" charset="0"/>
              </a:rPr>
              <a:t>　　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(3)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电路结构简单、功耗低、便于集成制造和系列化生产；产品价格低廉、使用方便、通用性好。 </a:t>
            </a:r>
          </a:p>
        </p:txBody>
      </p:sp>
      <p:sp>
        <p:nvSpPr>
          <p:cNvPr id="7" name="Text Box 27"/>
          <p:cNvSpPr txBox="1">
            <a:spLocks noChangeArrowheads="1"/>
          </p:cNvSpPr>
          <p:nvPr/>
        </p:nvSpPr>
        <p:spPr bwMode="auto">
          <a:xfrm>
            <a:off x="500063" y="5643563"/>
            <a:ext cx="7929563" cy="7699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 dirty="0">
                <a:latin typeface="Arial Narrow" panose="020B0606020202030204" pitchFamily="34" charset="0"/>
                <a:ea typeface="宋体" pitchFamily="2" charset="-122"/>
                <a:cs typeface="Times New Roman" panose="02020603050405020304" pitchFamily="18" charset="0"/>
              </a:rPr>
              <a:t>　　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(4)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由数字逻辑电路构成的数字系统工作速度快、精度高、功能强、可靠性好。 </a:t>
            </a:r>
          </a:p>
        </p:txBody>
      </p:sp>
      <p:sp>
        <p:nvSpPr>
          <p:cNvPr id="9" name="Text Box 22"/>
          <p:cNvSpPr txBox="1">
            <a:spLocks noChangeArrowheads="1"/>
          </p:cNvSpPr>
          <p:nvPr/>
        </p:nvSpPr>
        <p:spPr bwMode="auto">
          <a:xfrm>
            <a:off x="684213" y="4071938"/>
            <a:ext cx="7072313" cy="4000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  </a:t>
            </a:r>
            <a:r>
              <a:rPr kumimoji="0" lang="en-US" altLang="zh-CN" sz="2000" kern="1200" cap="none" spc="0" normalizeH="0" baseline="0" noProof="0" dirty="0">
                <a:latin typeface="+mn-ea"/>
                <a:ea typeface="+mn-ea"/>
                <a:cs typeface="+mn-cs"/>
              </a:rPr>
              <a:t>(2)</a:t>
            </a:r>
            <a:r>
              <a:rPr kumimoji="0" lang="zh-CN" altLang="en-US" sz="2000" kern="1200" cap="none" spc="0" normalizeH="0" baseline="0" noProof="0" dirty="0">
                <a:latin typeface="+mn-ea"/>
                <a:ea typeface="+mn-ea"/>
                <a:cs typeface="+mn-cs"/>
              </a:rPr>
              <a:t>电路中的半导体器件一般都工作在开、关状态。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build="p" advAuto="1000"/>
      <p:bldP spid="5" grpId="0"/>
      <p:bldP spid="6" grpId="0"/>
      <p:bldP spid="7" grpId="0"/>
      <p:bldP spid="9" grpId="0" build="p" advAuto="100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3"/>
          <p:cNvSpPr txBox="1"/>
          <p:nvPr/>
        </p:nvSpPr>
        <p:spPr>
          <a:xfrm>
            <a:off x="642938" y="500063"/>
            <a:ext cx="807720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由于数字逻辑电路具有上述特点，所以，数字逻辑电路的应用十分广泛。 </a:t>
            </a:r>
          </a:p>
        </p:txBody>
      </p:sp>
      <p:sp>
        <p:nvSpPr>
          <p:cNvPr id="3" name="Text Box 16"/>
          <p:cNvSpPr txBox="1"/>
          <p:nvPr/>
        </p:nvSpPr>
        <p:spPr>
          <a:xfrm>
            <a:off x="571500" y="1285875"/>
            <a:ext cx="8305800" cy="212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随着半导体技术和工艺的发展，出现了数字集成电路，集成电路发展十分迅速。</a:t>
            </a:r>
          </a:p>
          <a:p>
            <a:pPr marL="0" lvl="0" indent="0" algn="just"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itchFamily="2" charset="-122"/>
              </a:rPr>
              <a:t>        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数字集成电路按照集成度的高低可分为小规模（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SSI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）、中规模（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MSI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）、大规模（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LSI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）和超大规模（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VLSI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）几种类型。</a:t>
            </a:r>
          </a:p>
        </p:txBody>
      </p:sp>
      <p:sp>
        <p:nvSpPr>
          <p:cNvPr id="4" name="Text Box 9"/>
          <p:cNvSpPr txBox="1"/>
          <p:nvPr/>
        </p:nvSpPr>
        <p:spPr>
          <a:xfrm>
            <a:off x="250825" y="3430588"/>
            <a:ext cx="9144000" cy="2800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993300"/>
                </a:solidFill>
                <a:latin typeface="Times New Roman" panose="02020603050405020304" pitchFamily="18" charset="0"/>
                <a:ea typeface="宋体" pitchFamily="2" charset="-122"/>
              </a:rPr>
              <a:t>　</a:t>
            </a:r>
            <a:r>
              <a:rPr lang="zh-CN" altLang="en-US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　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1. SSI (Small Scale Integration ) </a:t>
            </a:r>
            <a:r>
              <a:rPr lang="zh-CN" altLang="en-US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小规模集成电路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:</a:t>
            </a: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993300"/>
                </a:solidFill>
                <a:latin typeface="Times New Roman" panose="02020603050405020304" pitchFamily="18" charset="0"/>
                <a:ea typeface="宋体" pitchFamily="2" charset="-122"/>
              </a:rPr>
              <a:t>　　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逻辑门数小于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 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门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或元件数小于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100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；</a:t>
            </a: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　　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2. MSI (Medium Scale Integration ) </a:t>
            </a:r>
            <a:r>
              <a:rPr lang="zh-CN" altLang="en-US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中规模集成电路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:</a:t>
            </a: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solidFill>
                  <a:srgbClr val="993300"/>
                </a:solidFill>
                <a:latin typeface="Times New Roman" panose="02020603050405020304" pitchFamily="18" charset="0"/>
                <a:ea typeface="宋体" pitchFamily="2" charset="-122"/>
              </a:rPr>
              <a:t>　　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逻辑门数为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 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门～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99 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门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或元件数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100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个～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999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；</a:t>
            </a:r>
            <a:b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</a:b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　　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3. LSI (Large  Scale Integration ) </a:t>
            </a:r>
            <a:r>
              <a:rPr lang="zh-CN" altLang="en-US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大规模集成电路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:</a:t>
            </a: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　　逻辑门数为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100 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门～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9999 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门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或元件数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1000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个～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99999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；</a:t>
            </a:r>
            <a:b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</a:b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　　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4. VLSI (Very Large Scale Integration) </a:t>
            </a:r>
            <a:r>
              <a:rPr lang="zh-CN" altLang="en-US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超大规模集成电路</a:t>
            </a:r>
            <a:r>
              <a:rPr lang="en-US" altLang="zh-CN" sz="2200" dirty="0">
                <a:solidFill>
                  <a:srgbClr val="0041C4"/>
                </a:solidFill>
                <a:latin typeface="Times New Roman" panose="02020603050405020304" pitchFamily="18" charset="0"/>
                <a:ea typeface="宋体" pitchFamily="2" charset="-122"/>
              </a:rPr>
              <a:t>:</a:t>
            </a:r>
          </a:p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　　逻辑门数大于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10000 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门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(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或元件数大于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100000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个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</a:rPr>
              <a:t>)</a:t>
            </a:r>
            <a:r>
              <a:rPr lang="zh-CN" altLang="en-US" sz="2200" dirty="0">
                <a:latin typeface="Times New Roman" panose="02020603050405020304" pitchFamily="18" charset="0"/>
                <a:ea typeface="宋体" pitchFamily="2" charset="-122"/>
              </a:rPr>
              <a:t>。</a:t>
            </a:r>
            <a:r>
              <a:rPr lang="zh-CN" altLang="en-US" sz="2200" dirty="0">
                <a:solidFill>
                  <a:schemeClr val="hlink"/>
                </a:solidFill>
                <a:latin typeface="Times New Roman" panose="02020603050405020304" pitchFamily="18" charset="0"/>
                <a:ea typeface="宋体" pitchFamily="2" charset="-122"/>
              </a:rPr>
              <a:t>    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Arial Narrow"/>
        <a:ea typeface="楷体_GB2312"/>
        <a:cs typeface=""/>
      </a:majorFont>
      <a:minorFont>
        <a:latin typeface="Arial Narrow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1103</Words>
  <Application>Microsoft Office PowerPoint</Application>
  <PresentationFormat>全屏显示(4:3)</PresentationFormat>
  <Paragraphs>120</Paragraphs>
  <Slides>12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-apple-system</vt:lpstr>
      <vt:lpstr>楷体</vt:lpstr>
      <vt:lpstr>楷体_GB2312</vt:lpstr>
      <vt:lpstr>宋体</vt:lpstr>
      <vt:lpstr>Arial</vt:lpstr>
      <vt:lpstr>Arial Narrow</vt:lpstr>
      <vt:lpstr>Garamond</vt:lpstr>
      <vt:lpstr>Symbol</vt:lpstr>
      <vt:lpstr>Times New Roman</vt:lpstr>
      <vt:lpstr>Verdana</vt:lpstr>
      <vt:lpstr>Wingdings</vt:lpstr>
      <vt:lpstr>Profile</vt:lpstr>
      <vt:lpstr>Photoshop.Image.8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Ayubass</cp:lastModifiedBy>
  <cp:revision>1768</cp:revision>
  <dcterms:created xsi:type="dcterms:W3CDTF">2022-08-29T06:20:18Z</dcterms:created>
  <dcterms:modified xsi:type="dcterms:W3CDTF">2024-01-04T07:34:52Z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B615DC64375020F918360C6354E7BF7F</vt:lpwstr>
  </property>
  <property fmtid="{D5CDD505-2E9C-101B-9397-08002B2CF9AE}" pid="3" name="KSOProductBuildVer">
    <vt:lpwstr>2052-4.5.0.7415</vt:lpwstr>
  </property>
</Properties>
</file>