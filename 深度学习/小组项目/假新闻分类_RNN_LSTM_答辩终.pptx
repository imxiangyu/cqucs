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62" r:id="rId3"/>
    <p:sldId id="257" r:id="rId4"/>
    <p:sldId id="383" r:id="rId5"/>
    <p:sldId id="410" r:id="rId6"/>
    <p:sldId id="387" r:id="rId7"/>
    <p:sldId id="409" r:id="rId8"/>
    <p:sldId id="411" r:id="rId9"/>
    <p:sldId id="399" r:id="rId10"/>
    <p:sldId id="404" r:id="rId11"/>
    <p:sldId id="412" r:id="rId12"/>
    <p:sldId id="413" r:id="rId13"/>
    <p:sldId id="405" r:id="rId14"/>
    <p:sldId id="266" r:id="rId15"/>
    <p:sldId id="415" r:id="rId16"/>
    <p:sldId id="406" r:id="rId17"/>
    <p:sldId id="292" r:id="rId18"/>
    <p:sldId id="311" r:id="rId19"/>
  </p:sldIdLst>
  <p:sldSz cx="12192000" cy="6858000"/>
  <p:notesSz cx="7315200" cy="96012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7" userDrawn="1">
          <p15:clr>
            <a:srgbClr val="A4A3A4"/>
          </p15:clr>
        </p15:guide>
        <p15:guide id="2" pos="37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莫雄剑" initials="莫雄剑" lastIdx="1" clrIdx="0"/>
  <p:cmAuthor id="2" name="隋远" initials="隋远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7FC"/>
    <a:srgbClr val="70BDEA"/>
    <a:srgbClr val="529ED5"/>
    <a:srgbClr val="0070C0"/>
    <a:srgbClr val="2C68FF"/>
    <a:srgbClr val="4174B5"/>
    <a:srgbClr val="4472C4"/>
    <a:srgbClr val="0000FF"/>
    <a:srgbClr val="122B54"/>
    <a:srgbClr val="1D50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14" autoAdjust="0"/>
    <p:restoredTop sz="96440" autoAdjust="0"/>
  </p:normalViewPr>
  <p:slideViewPr>
    <p:cSldViewPr snapToGrid="0" snapToObjects="1" showGuides="1">
      <p:cViewPr varScale="1">
        <p:scale>
          <a:sx n="110" d="100"/>
          <a:sy n="110" d="100"/>
        </p:scale>
        <p:origin x="546" y="108"/>
      </p:cViewPr>
      <p:guideLst>
        <p:guide orient="horz" pos="2087"/>
        <p:guide pos="372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2" d="100"/>
          <a:sy n="82" d="100"/>
        </p:scale>
        <p:origin x="384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292E1-9308-4C60-97E4-91B144D537CE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B56DC-2D00-4B52-83AF-DD7A71965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924764D2-3D52-4370-B340-D5131EA3F657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E96B4C3-113A-4553-8B2D-172B10D7D3E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96B4C3-113A-4553-8B2D-172B10D7D3E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96B4C3-113A-4553-8B2D-172B10D7D3E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691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961B9-FB37-19A1-C2D2-7570A6A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E58265-42DE-07FC-1C13-7C758DB1E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773465-2D31-B06C-D396-E7021DF07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6BC4A9-AF51-3C04-E240-E9A7EBD261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CBDEA-24CB-4814-B24D-7902408EA20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189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AA3C9-67C5-0CE3-4155-1F7214FD6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AE792D-A468-4C0D-C2DC-34B332619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3CCE2B-61E6-F02A-4E0B-401982BCA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075CC0-E039-825C-CB01-D933033B8E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CBDEA-24CB-4814-B24D-7902408EA20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846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0E96E-6BAC-CC69-C987-8491DC6BB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B60FED-04DA-6CDC-9A87-364423D613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4279F6-D45A-0D4D-8F56-5E6592C31FD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22DCAC8-8B68-8DFB-B976-83ABE2BBB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83CC23C-7EA9-DA59-308A-AD517839B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E146D-4EC4-09F2-5A0A-2A381C2CFB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E37BB-C6A2-2C98-631C-B1857A6E0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01563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CBDEA-24CB-4814-B24D-7902408EA209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CBDEA-24CB-4814-B24D-7902408EA209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969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448887" y="5652655"/>
            <a:ext cx="2510444" cy="8478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32" y="310878"/>
            <a:ext cx="2014259" cy="700612"/>
          </a:xfrm>
          <a:prstGeom prst="rect">
            <a:avLst/>
          </a:prstGeom>
        </p:spPr>
      </p:pic>
      <p:sp>
        <p:nvSpPr>
          <p:cNvPr id="6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1014984" y="1703324"/>
            <a:ext cx="10160000" cy="2223601"/>
          </a:xfrm>
        </p:spPr>
        <p:txBody>
          <a:bodyPr/>
          <a:lstStyle>
            <a:lvl1pPr marL="0" indent="0" algn="ctr"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altLang="zh-CN" dirty="0"/>
              <a:t>Edit Title</a:t>
            </a:r>
          </a:p>
        </p:txBody>
      </p:sp>
      <p:sp>
        <p:nvSpPr>
          <p:cNvPr id="7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1014984" y="4269020"/>
            <a:ext cx="10160000" cy="1383636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altLang="zh-CN" dirty="0"/>
              <a:t>Edit Subtitle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448887" y="5652655"/>
            <a:ext cx="2510444" cy="8478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32" y="310878"/>
            <a:ext cx="2014259" cy="700612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1014984" y="1703324"/>
            <a:ext cx="10160000" cy="2223601"/>
          </a:xfrm>
        </p:spPr>
        <p:txBody>
          <a:bodyPr/>
          <a:lstStyle>
            <a:lvl1pPr marL="0" indent="0" algn="ctr"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altLang="zh-CN" dirty="0"/>
              <a:t>Edit Title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1014984" y="4269020"/>
            <a:ext cx="10160000" cy="1383636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altLang="zh-CN" dirty="0"/>
              <a:t>Edit Subtitle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969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8786553" y="5577840"/>
            <a:ext cx="2784764" cy="906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386" y="227751"/>
            <a:ext cx="2014259" cy="700612"/>
          </a:xfrm>
          <a:prstGeom prst="rect">
            <a:avLst/>
          </a:prstGeom>
        </p:spPr>
      </p:pic>
      <p:sp>
        <p:nvSpPr>
          <p:cNvPr id="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1014984" y="3066472"/>
            <a:ext cx="10160000" cy="1276089"/>
          </a:xfrm>
        </p:spPr>
        <p:txBody>
          <a:bodyPr/>
          <a:lstStyle>
            <a:lvl1pPr marL="0" indent="0" algn="ctr"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altLang="zh-CN" dirty="0"/>
              <a:t>Thank You!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8127" y="292642"/>
            <a:ext cx="9152259" cy="563238"/>
          </a:xfrm>
        </p:spPr>
        <p:txBody>
          <a:bodyPr>
            <a:normAutofit/>
          </a:bodyPr>
          <a:lstStyle>
            <a:lvl1pPr>
              <a:defRPr sz="3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4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386" y="227751"/>
            <a:ext cx="2014259" cy="70061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17550" y="1191491"/>
            <a:ext cx="10782300" cy="5209309"/>
          </a:xfrm>
        </p:spPr>
        <p:txBody>
          <a:bodyPr/>
          <a:lstStyle>
            <a:lvl1pPr marL="228600" indent="-360045">
              <a:lnSpc>
                <a:spcPct val="120000"/>
              </a:lnSpc>
              <a:buFont typeface="Wingdings" panose="05000000000000000000" pitchFamily="2" charset="2"/>
              <a:buChar char="Ø"/>
              <a:defRPr b="0"/>
            </a:lvl1pPr>
            <a:lvl2pPr marL="685800" indent="-360045">
              <a:lnSpc>
                <a:spcPct val="120000"/>
              </a:lnSpc>
              <a:buFont typeface="Wingdings" panose="05000000000000000000" pitchFamily="2" charset="2"/>
              <a:buChar char="Ø"/>
              <a:defRPr/>
            </a:lvl2pPr>
            <a:lvl3pPr marL="1143000" indent="-360045">
              <a:lnSpc>
                <a:spcPct val="120000"/>
              </a:lnSpc>
              <a:buFont typeface="Wingdings" panose="05000000000000000000" pitchFamily="2" charset="2"/>
              <a:buChar char="Ø"/>
              <a:defRPr/>
            </a:lvl3pPr>
            <a:lvl4pPr marL="1600200" indent="-360045">
              <a:lnSpc>
                <a:spcPct val="120000"/>
              </a:lnSpc>
              <a:buFont typeface="Wingdings" panose="05000000000000000000" pitchFamily="2" charset="2"/>
              <a:buChar char="Ø"/>
              <a:defRPr/>
            </a:lvl4pPr>
            <a:lvl5pPr marL="2057400" indent="-360045">
              <a:lnSpc>
                <a:spcPct val="120000"/>
              </a:lnSpc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8127" y="292642"/>
            <a:ext cx="10845799" cy="563238"/>
          </a:xfrm>
        </p:spPr>
        <p:txBody>
          <a:bodyPr>
            <a:normAutofit/>
          </a:bodyPr>
          <a:lstStyle>
            <a:lvl1pPr>
              <a:defRPr sz="3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quarter" idx="10"/>
          </p:nvPr>
        </p:nvSpPr>
        <p:spPr>
          <a:xfrm>
            <a:off x="717550" y="1191491"/>
            <a:ext cx="10782300" cy="5209309"/>
          </a:xfrm>
        </p:spPr>
        <p:txBody>
          <a:bodyPr/>
          <a:lstStyle>
            <a:lvl1pPr marL="228600" indent="-360045">
              <a:lnSpc>
                <a:spcPct val="120000"/>
              </a:lnSpc>
              <a:buFont typeface="Wingdings" panose="05000000000000000000" pitchFamily="2" charset="2"/>
              <a:buChar char="Ø"/>
              <a:defRPr b="0"/>
            </a:lvl1pPr>
            <a:lvl2pPr marL="685800" indent="-360045">
              <a:lnSpc>
                <a:spcPct val="120000"/>
              </a:lnSpc>
              <a:buFont typeface="Wingdings" panose="05000000000000000000" pitchFamily="2" charset="2"/>
              <a:buChar char="Ø"/>
              <a:defRPr/>
            </a:lvl2pPr>
            <a:lvl3pPr marL="1143000" indent="-360045">
              <a:lnSpc>
                <a:spcPct val="120000"/>
              </a:lnSpc>
              <a:buFont typeface="Wingdings" panose="05000000000000000000" pitchFamily="2" charset="2"/>
              <a:buChar char="Ø"/>
              <a:defRPr/>
            </a:lvl3pPr>
            <a:lvl4pPr marL="1600200" indent="-360045">
              <a:lnSpc>
                <a:spcPct val="120000"/>
              </a:lnSpc>
              <a:buFont typeface="Wingdings" panose="05000000000000000000" pitchFamily="2" charset="2"/>
              <a:buChar char="Ø"/>
              <a:defRPr/>
            </a:lvl4pPr>
            <a:lvl5pPr marL="2057400" indent="-360045">
              <a:lnSpc>
                <a:spcPct val="120000"/>
              </a:lnSpc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746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9235440" y="5694219"/>
            <a:ext cx="2784764" cy="906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剪去单角的矩形 5"/>
          <p:cNvSpPr/>
          <p:nvPr userDrawn="1"/>
        </p:nvSpPr>
        <p:spPr>
          <a:xfrm flipV="1">
            <a:off x="15" y="315443"/>
            <a:ext cx="626423" cy="493216"/>
          </a:xfrm>
          <a:prstGeom prst="snip1Rect">
            <a:avLst>
              <a:gd name="adj" fmla="val 39215"/>
            </a:avLst>
          </a:prstGeom>
          <a:solidFill>
            <a:srgbClr val="529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0" tIns="45690" rIns="91360" bIns="45690" rtlCol="0" anchor="ctr"/>
          <a:lstStyle/>
          <a:p>
            <a:pPr algn="ctr" defTabSz="913765"/>
            <a:endParaRPr lang="zh-CN" altLang="en-US" sz="19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386" y="227751"/>
            <a:ext cx="2014259" cy="700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127" y="292642"/>
            <a:ext cx="8517313" cy="563238"/>
          </a:xfrm>
        </p:spPr>
        <p:txBody>
          <a:bodyPr>
            <a:normAutofit/>
          </a:bodyPr>
          <a:lstStyle>
            <a:lvl1pPr>
              <a:defRPr sz="3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0"/>
          </p:nvPr>
        </p:nvSpPr>
        <p:spPr>
          <a:xfrm>
            <a:off x="717550" y="1191491"/>
            <a:ext cx="10782300" cy="5209309"/>
          </a:xfrm>
        </p:spPr>
        <p:txBody>
          <a:bodyPr/>
          <a:lstStyle>
            <a:lvl1pPr marL="228600" indent="-360045">
              <a:lnSpc>
                <a:spcPct val="120000"/>
              </a:lnSpc>
              <a:buFont typeface="Wingdings" panose="05000000000000000000" pitchFamily="2" charset="2"/>
              <a:buChar char="Ø"/>
              <a:defRPr b="0"/>
            </a:lvl1pPr>
            <a:lvl2pPr marL="685800" indent="-360045">
              <a:lnSpc>
                <a:spcPct val="120000"/>
              </a:lnSpc>
              <a:buFont typeface="Wingdings" panose="05000000000000000000" pitchFamily="2" charset="2"/>
              <a:buChar char="Ø"/>
              <a:defRPr/>
            </a:lvl2pPr>
            <a:lvl3pPr marL="1143000" indent="-360045">
              <a:lnSpc>
                <a:spcPct val="120000"/>
              </a:lnSpc>
              <a:buFont typeface="Wingdings" panose="05000000000000000000" pitchFamily="2" charset="2"/>
              <a:buChar char="Ø"/>
              <a:defRPr/>
            </a:lvl3pPr>
            <a:lvl4pPr marL="1600200" indent="-360045">
              <a:lnSpc>
                <a:spcPct val="120000"/>
              </a:lnSpc>
              <a:buFont typeface="Wingdings" panose="05000000000000000000" pitchFamily="2" charset="2"/>
              <a:buChar char="Ø"/>
              <a:defRPr/>
            </a:lvl4pPr>
            <a:lvl5pPr marL="2057400" indent="-360045">
              <a:lnSpc>
                <a:spcPct val="120000"/>
              </a:lnSpc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746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9235440" y="5694219"/>
            <a:ext cx="2784764" cy="906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剪去单角的矩形 5"/>
          <p:cNvSpPr/>
          <p:nvPr userDrawn="1"/>
        </p:nvSpPr>
        <p:spPr>
          <a:xfrm flipV="1">
            <a:off x="15" y="315443"/>
            <a:ext cx="626423" cy="493216"/>
          </a:xfrm>
          <a:prstGeom prst="snip1Rect">
            <a:avLst>
              <a:gd name="adj" fmla="val 39215"/>
            </a:avLst>
          </a:prstGeom>
          <a:solidFill>
            <a:srgbClr val="529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0" tIns="45690" rIns="91360" bIns="45690" rtlCol="0" anchor="ctr"/>
          <a:lstStyle/>
          <a:p>
            <a:pPr algn="ctr" defTabSz="913765"/>
            <a:endParaRPr lang="zh-CN" altLang="en-US" sz="19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8127" y="292642"/>
            <a:ext cx="8517313" cy="563238"/>
          </a:xfrm>
        </p:spPr>
        <p:txBody>
          <a:bodyPr>
            <a:normAutofit/>
          </a:bodyPr>
          <a:lstStyle>
            <a:lvl1pPr>
              <a:defRPr sz="3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>
          <a:xfrm>
            <a:off x="717550" y="1191491"/>
            <a:ext cx="10782300" cy="5209309"/>
          </a:xfrm>
        </p:spPr>
        <p:txBody>
          <a:bodyPr/>
          <a:lstStyle>
            <a:lvl1pPr marL="228600" indent="-360045">
              <a:lnSpc>
                <a:spcPct val="120000"/>
              </a:lnSpc>
              <a:buFont typeface="Wingdings" panose="05000000000000000000" pitchFamily="2" charset="2"/>
              <a:buChar char="Ø"/>
              <a:defRPr b="0"/>
            </a:lvl1pPr>
            <a:lvl2pPr marL="685800" indent="-360045">
              <a:lnSpc>
                <a:spcPct val="120000"/>
              </a:lnSpc>
              <a:buFont typeface="Wingdings" panose="05000000000000000000" pitchFamily="2" charset="2"/>
              <a:buChar char="Ø"/>
              <a:defRPr/>
            </a:lvl2pPr>
            <a:lvl3pPr marL="1143000" indent="-360045">
              <a:lnSpc>
                <a:spcPct val="120000"/>
              </a:lnSpc>
              <a:buFont typeface="Wingdings" panose="05000000000000000000" pitchFamily="2" charset="2"/>
              <a:buChar char="Ø"/>
              <a:defRPr/>
            </a:lvl3pPr>
            <a:lvl4pPr marL="1600200" indent="-360045">
              <a:lnSpc>
                <a:spcPct val="120000"/>
              </a:lnSpc>
              <a:buFont typeface="Wingdings" panose="05000000000000000000" pitchFamily="2" charset="2"/>
              <a:buChar char="Ø"/>
              <a:defRPr/>
            </a:lvl4pPr>
            <a:lvl5pPr marL="2057400" indent="-360045">
              <a:lnSpc>
                <a:spcPct val="120000"/>
              </a:lnSpc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D055-CE0B-4667-B966-F2B474A9823D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1FE3-BCBA-469A-B1A9-A8EE4EFCB0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D055-CE0B-4667-B966-F2B474A9823D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1FE3-BCBA-469A-B1A9-A8EE4EFCB04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28" y="296214"/>
            <a:ext cx="759440" cy="759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5A079F21-3BE8-4E0A-A2CF-C18BDEAD91D7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t>2026/1/28</a:t>
            </a:fld>
            <a:endParaRPr lang="zh-CN" altLang="en-US" sz="1865" dirty="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70336DA7-0B35-4766-B3FA-87CC82BF78CC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sz="1865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607738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871F6-7213-0749-8362-F2BA51CEE92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E17D8-73AE-034D-8C5D-2628745C440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7.xml"/><Relationship Id="rId21" Type="http://schemas.openxmlformats.org/officeDocument/2006/relationships/tags" Target="../tags/tag25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image" Target="../media/image6.png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3613785" cy="2221230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540386" y="1352550"/>
            <a:ext cx="8377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400" dirty="0"/>
              <a:t>基于 </a:t>
            </a:r>
            <a:r>
              <a:rPr lang="en-US" altLang="zh-CN" sz="4400" dirty="0"/>
              <a:t>RNN / LSTM </a:t>
            </a:r>
            <a:r>
              <a:rPr lang="zh-CN" altLang="en-US" sz="4400" dirty="0"/>
              <a:t>的假新闻分类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造字工房力黑（非商用）常规体" pitchFamily="50" charset="-122"/>
              <a:ea typeface="造字工房力黑（非商用）常规体" pitchFamily="50" charset="-122"/>
              <a:cs typeface="+mn-cs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540385" y="3208655"/>
            <a:ext cx="34179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深度学习第</a:t>
            </a:r>
            <a:r>
              <a:rPr lang="en-US" altLang="zh-CN" sz="1600" dirty="0"/>
              <a:t>x</a:t>
            </a:r>
            <a:r>
              <a:rPr lang="zh-CN" altLang="en-US" sz="1600" dirty="0"/>
              <a:t>小组</a:t>
            </a:r>
          </a:p>
          <a:p>
            <a:r>
              <a:rPr lang="zh-CN" altLang="en-US" sz="1600" dirty="0"/>
              <a:t>成员：</a:t>
            </a:r>
            <a:r>
              <a:rPr lang="en-US" altLang="zh-CN" sz="1600" dirty="0"/>
              <a:t>xxx</a:t>
            </a:r>
            <a:r>
              <a:rPr lang="zh-CN" altLang="en-US" sz="1600" dirty="0"/>
              <a:t>  学号：</a:t>
            </a:r>
            <a:r>
              <a:rPr lang="en-US" altLang="zh-CN" sz="1600" dirty="0" err="1"/>
              <a:t>xxxxxxxx</a:t>
            </a:r>
            <a:endParaRPr lang="en-US" altLang="zh-CN" sz="1600" dirty="0"/>
          </a:p>
          <a:p>
            <a:r>
              <a:rPr lang="zh-CN" altLang="en-US" sz="1600" dirty="0">
                <a:sym typeface="+mn-ea"/>
              </a:rPr>
              <a:t>成员：</a:t>
            </a:r>
            <a:r>
              <a:rPr lang="en-US" altLang="zh-CN" sz="1600" dirty="0">
                <a:sym typeface="+mn-ea"/>
              </a:rPr>
              <a:t>xxx</a:t>
            </a:r>
            <a:r>
              <a:rPr lang="zh-CN" altLang="en-US" sz="1600" dirty="0">
                <a:sym typeface="+mn-ea"/>
              </a:rPr>
              <a:t>  学号：</a:t>
            </a:r>
            <a:r>
              <a:rPr lang="en-US" altLang="zh-CN" sz="1600" dirty="0" err="1"/>
              <a:t>xxxxxxxx</a:t>
            </a:r>
            <a:endParaRPr lang="en-US" altLang="zh-CN" sz="1600" dirty="0">
              <a:sym typeface="+mn-ea"/>
            </a:endParaRPr>
          </a:p>
          <a:p>
            <a:r>
              <a:rPr lang="zh-CN" altLang="en-US" sz="1600" dirty="0">
                <a:sym typeface="+mn-ea"/>
              </a:rPr>
              <a:t>成员：</a:t>
            </a:r>
            <a:r>
              <a:rPr lang="en-US" altLang="zh-CN" sz="1600" dirty="0">
                <a:sym typeface="+mn-ea"/>
              </a:rPr>
              <a:t>xxx</a:t>
            </a:r>
            <a:r>
              <a:rPr lang="zh-CN" altLang="en-US" sz="1600" dirty="0">
                <a:sym typeface="+mn-ea"/>
              </a:rPr>
              <a:t>  学号：</a:t>
            </a:r>
            <a:r>
              <a:rPr lang="en-US" altLang="zh-CN" sz="1600" dirty="0" err="1"/>
              <a:t>xxxxxxxx</a:t>
            </a:r>
            <a:endParaRPr lang="zh-CN" altLang="en-US" sz="1600" dirty="0"/>
          </a:p>
        </p:txBody>
      </p:sp>
      <p:grpSp>
        <p:nvGrpSpPr>
          <p:cNvPr id="18" name="组合 17"/>
          <p:cNvGrpSpPr/>
          <p:nvPr/>
        </p:nvGrpSpPr>
        <p:grpSpPr>
          <a:xfrm>
            <a:off x="641964" y="2875873"/>
            <a:ext cx="5638624" cy="134570"/>
            <a:chOff x="603864" y="4032912"/>
            <a:chExt cx="5638624" cy="134570"/>
          </a:xfrm>
          <a:noFill/>
        </p:grpSpPr>
        <p:sp>
          <p:nvSpPr>
            <p:cNvPr id="24" name="任意多边形 26"/>
            <p:cNvSpPr/>
            <p:nvPr>
              <p:custDataLst>
                <p:tags r:id="rId4"/>
              </p:custDataLst>
            </p:nvPr>
          </p:nvSpPr>
          <p:spPr>
            <a:xfrm flipH="1">
              <a:off x="603864" y="4032912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39" name="任意多边形 26"/>
            <p:cNvSpPr/>
            <p:nvPr>
              <p:custDataLst>
                <p:tags r:id="rId5"/>
              </p:custDataLst>
            </p:nvPr>
          </p:nvSpPr>
          <p:spPr>
            <a:xfrm flipH="1">
              <a:off x="869203" y="4033054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95714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40" name="任意多边形 26"/>
            <p:cNvSpPr/>
            <p:nvPr>
              <p:custDataLst>
                <p:tags r:id="rId6"/>
              </p:custDataLst>
            </p:nvPr>
          </p:nvSpPr>
          <p:spPr>
            <a:xfrm flipH="1">
              <a:off x="1134543" y="4033196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91429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41" name="任意多边形 26"/>
            <p:cNvSpPr/>
            <p:nvPr>
              <p:custDataLst>
                <p:tags r:id="rId7"/>
              </p:custDataLst>
            </p:nvPr>
          </p:nvSpPr>
          <p:spPr>
            <a:xfrm flipH="1">
              <a:off x="1399882" y="4033339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8714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42" name="任意多边形 26"/>
            <p:cNvSpPr/>
            <p:nvPr>
              <p:custDataLst>
                <p:tags r:id="rId8"/>
              </p:custDataLst>
            </p:nvPr>
          </p:nvSpPr>
          <p:spPr>
            <a:xfrm flipH="1">
              <a:off x="1665221" y="4033481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82857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43" name="任意多边形 26"/>
            <p:cNvSpPr/>
            <p:nvPr>
              <p:custDataLst>
                <p:tags r:id="rId9"/>
              </p:custDataLst>
            </p:nvPr>
          </p:nvSpPr>
          <p:spPr>
            <a:xfrm flipH="1">
              <a:off x="1930560" y="4033623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78571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44" name="任意多边形 26"/>
            <p:cNvSpPr/>
            <p:nvPr>
              <p:custDataLst>
                <p:tags r:id="rId10"/>
              </p:custDataLst>
            </p:nvPr>
          </p:nvSpPr>
          <p:spPr>
            <a:xfrm flipH="1">
              <a:off x="2195900" y="4033765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74286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45" name="任意多边形 26"/>
            <p:cNvSpPr/>
            <p:nvPr>
              <p:custDataLst>
                <p:tags r:id="rId11"/>
              </p:custDataLst>
            </p:nvPr>
          </p:nvSpPr>
          <p:spPr>
            <a:xfrm flipH="1">
              <a:off x="2461239" y="4033908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7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46" name="任意多边形 26"/>
            <p:cNvSpPr/>
            <p:nvPr>
              <p:custDataLst>
                <p:tags r:id="rId12"/>
              </p:custDataLst>
            </p:nvPr>
          </p:nvSpPr>
          <p:spPr>
            <a:xfrm flipH="1">
              <a:off x="2726578" y="4034050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65714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47" name="任意多边形 26"/>
            <p:cNvSpPr/>
            <p:nvPr>
              <p:custDataLst>
                <p:tags r:id="rId13"/>
              </p:custDataLst>
            </p:nvPr>
          </p:nvSpPr>
          <p:spPr>
            <a:xfrm flipH="1">
              <a:off x="2991917" y="4034192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61429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48" name="任意多边形 26"/>
            <p:cNvSpPr/>
            <p:nvPr>
              <p:custDataLst>
                <p:tags r:id="rId14"/>
              </p:custDataLst>
            </p:nvPr>
          </p:nvSpPr>
          <p:spPr>
            <a:xfrm flipH="1">
              <a:off x="3257257" y="4034334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5714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49" name="任意多边形 26"/>
            <p:cNvSpPr/>
            <p:nvPr>
              <p:custDataLst>
                <p:tags r:id="rId15"/>
              </p:custDataLst>
            </p:nvPr>
          </p:nvSpPr>
          <p:spPr>
            <a:xfrm flipH="1">
              <a:off x="3522596" y="4034477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52857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50" name="任意多边形 26"/>
            <p:cNvSpPr/>
            <p:nvPr>
              <p:custDataLst>
                <p:tags r:id="rId16"/>
              </p:custDataLst>
            </p:nvPr>
          </p:nvSpPr>
          <p:spPr>
            <a:xfrm flipH="1">
              <a:off x="3787935" y="4034619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48571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51" name="任意多边形 26"/>
            <p:cNvSpPr/>
            <p:nvPr>
              <p:custDataLst>
                <p:tags r:id="rId17"/>
              </p:custDataLst>
            </p:nvPr>
          </p:nvSpPr>
          <p:spPr>
            <a:xfrm flipH="1">
              <a:off x="4053275" y="4034761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44286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52" name="任意多边形 26"/>
            <p:cNvSpPr/>
            <p:nvPr>
              <p:custDataLst>
                <p:tags r:id="rId18"/>
              </p:custDataLst>
            </p:nvPr>
          </p:nvSpPr>
          <p:spPr>
            <a:xfrm flipH="1">
              <a:off x="4318614" y="4034903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53" name="任意多边形 26"/>
            <p:cNvSpPr/>
            <p:nvPr>
              <p:custDataLst>
                <p:tags r:id="rId19"/>
              </p:custDataLst>
            </p:nvPr>
          </p:nvSpPr>
          <p:spPr>
            <a:xfrm flipH="1">
              <a:off x="4583953" y="4035046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35714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54" name="任意多边形 26"/>
            <p:cNvSpPr/>
            <p:nvPr>
              <p:custDataLst>
                <p:tags r:id="rId20"/>
              </p:custDataLst>
            </p:nvPr>
          </p:nvSpPr>
          <p:spPr>
            <a:xfrm flipH="1">
              <a:off x="4849292" y="4035188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31429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55" name="任意多边形 26"/>
            <p:cNvSpPr/>
            <p:nvPr>
              <p:custDataLst>
                <p:tags r:id="rId21"/>
              </p:custDataLst>
            </p:nvPr>
          </p:nvSpPr>
          <p:spPr>
            <a:xfrm flipH="1">
              <a:off x="5114632" y="4035330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2714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56" name="任意多边形 26"/>
            <p:cNvSpPr/>
            <p:nvPr>
              <p:custDataLst>
                <p:tags r:id="rId22"/>
              </p:custDataLst>
            </p:nvPr>
          </p:nvSpPr>
          <p:spPr>
            <a:xfrm flipH="1">
              <a:off x="5379971" y="4035472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22857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57" name="任意多边形 26"/>
            <p:cNvSpPr/>
            <p:nvPr>
              <p:custDataLst>
                <p:tags r:id="rId23"/>
              </p:custDataLst>
            </p:nvPr>
          </p:nvSpPr>
          <p:spPr>
            <a:xfrm flipH="1">
              <a:off x="5645310" y="4035615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18571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58" name="任意多边形 26"/>
            <p:cNvSpPr/>
            <p:nvPr>
              <p:custDataLst>
                <p:tags r:id="rId24"/>
              </p:custDataLst>
            </p:nvPr>
          </p:nvSpPr>
          <p:spPr>
            <a:xfrm flipH="1">
              <a:off x="5910649" y="4035757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14286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38" name="任意多边形 26"/>
            <p:cNvSpPr/>
            <p:nvPr>
              <p:custDataLst>
                <p:tags r:id="rId25"/>
              </p:custDataLst>
            </p:nvPr>
          </p:nvSpPr>
          <p:spPr>
            <a:xfrm flipH="1">
              <a:off x="6175989" y="4035899"/>
              <a:ext cx="66499" cy="131583"/>
            </a:xfrm>
            <a:custGeom>
              <a:avLst/>
              <a:gdLst>
                <a:gd name="connsiteX0" fmla="*/ 716280 w 716280"/>
                <a:gd name="connsiteY0" fmla="*/ 1417320 h 1417320"/>
                <a:gd name="connsiteX1" fmla="*/ 0 w 716280"/>
                <a:gd name="connsiteY1" fmla="*/ 701040 h 1417320"/>
                <a:gd name="connsiteX2" fmla="*/ 701040 w 716280"/>
                <a:gd name="connsiteY2" fmla="*/ 0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6280" h="1417320">
                  <a:moveTo>
                    <a:pt x="716280" y="1417320"/>
                  </a:moveTo>
                  <a:lnTo>
                    <a:pt x="0" y="701040"/>
                  </a:lnTo>
                  <a:lnTo>
                    <a:pt x="701040" y="0"/>
                  </a:lnTo>
                </a:path>
              </a:pathLst>
            </a:custGeom>
            <a:grpFill/>
            <a:ln w="12700" cap="flat" cmpd="sng" algn="ctr">
              <a:solidFill>
                <a:schemeClr val="tx1">
                  <a:alpha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sp>
        <p:nvSpPr>
          <p:cNvPr id="22" name="矩形: 圆角 21"/>
          <p:cNvSpPr/>
          <p:nvPr>
            <p:custDataLst>
              <p:tags r:id="rId3"/>
            </p:custDataLst>
          </p:nvPr>
        </p:nvSpPr>
        <p:spPr>
          <a:xfrm>
            <a:off x="708639" y="5034513"/>
            <a:ext cx="1212236" cy="322617"/>
          </a:xfrm>
          <a:prstGeom prst="roundRect">
            <a:avLst>
              <a:gd name="adj" fmla="val 50000"/>
            </a:avLst>
          </a:prstGeom>
          <a:noFill/>
          <a:ln w="25400">
            <a:gradFill>
              <a:gsLst>
                <a:gs pos="0">
                  <a:srgbClr val="3F9DAE"/>
                </a:gs>
                <a:gs pos="49000">
                  <a:schemeClr val="tx2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rgbClr val="54C4D6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2025.12.25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6" t="62621" r="53171"/>
          <a:stretch>
            <a:fillRect/>
          </a:stretch>
        </p:blipFill>
        <p:spPr>
          <a:xfrm rot="16200000">
            <a:off x="-500744" y="486227"/>
            <a:ext cx="6894288" cy="5892800"/>
          </a:xfrm>
          <a:custGeom>
            <a:avLst/>
            <a:gdLst>
              <a:gd name="connsiteX0" fmla="*/ 0 w 12192000"/>
              <a:gd name="connsiteY0" fmla="*/ 0 h 6088666"/>
              <a:gd name="connsiteX1" fmla="*/ 12192000 w 12192000"/>
              <a:gd name="connsiteY1" fmla="*/ 0 h 6088666"/>
              <a:gd name="connsiteX2" fmla="*/ 12192000 w 12192000"/>
              <a:gd name="connsiteY2" fmla="*/ 6088666 h 6088666"/>
              <a:gd name="connsiteX3" fmla="*/ 0 w 12192000"/>
              <a:gd name="connsiteY3" fmla="*/ 6088666 h 6088666"/>
              <a:gd name="connsiteX4" fmla="*/ 0 w 12192000"/>
              <a:gd name="connsiteY4" fmla="*/ 0 h 6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088666">
                <a:moveTo>
                  <a:pt x="0" y="0"/>
                </a:moveTo>
                <a:lnTo>
                  <a:pt x="12192000" y="0"/>
                </a:lnTo>
                <a:lnTo>
                  <a:pt x="12192000" y="6088666"/>
                </a:lnTo>
                <a:lnTo>
                  <a:pt x="0" y="608866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7" name="文本框 16"/>
          <p:cNvSpPr txBox="1"/>
          <p:nvPr/>
        </p:nvSpPr>
        <p:spPr>
          <a:xfrm>
            <a:off x="1935576" y="4011276"/>
            <a:ext cx="1997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>
                <a:solidFill>
                  <a:srgbClr val="000000"/>
                </a:solidFill>
                <a:latin typeface="造字工房悦黑体验版纤细体" pitchFamily="50" charset="-122"/>
                <a:ea typeface="造字工房悦黑体验版纤细体" pitchFamily="50" charset="-122"/>
              </a:rPr>
              <a:t>CONTENTS</a:t>
            </a:r>
            <a:endParaRPr lang="zh-CN" altLang="en-US" sz="2400" dirty="0">
              <a:solidFill>
                <a:srgbClr val="000000"/>
              </a:solidFill>
              <a:latin typeface="造字工房悦黑体验版纤细体" pitchFamily="50" charset="-122"/>
              <a:ea typeface="造字工房悦黑体验版纤细体" pitchFamily="5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807028" y="2799933"/>
            <a:ext cx="254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目录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310966" y="1453845"/>
            <a:ext cx="4691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1 / </a:t>
            </a:r>
            <a:r>
              <a:rPr lang="zh-CN" altLang="en-US" sz="3200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项 目 概 述</a:t>
            </a:r>
            <a:endParaRPr lang="zh-CN" altLang="en-US" sz="3200" dirty="0">
              <a:latin typeface="造字工房悦黑体验版纤细体" pitchFamily="50" charset="-122"/>
              <a:ea typeface="造字工房悦黑体验版纤细体" pitchFamily="5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302371" y="2230011"/>
            <a:ext cx="3980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2 / </a:t>
            </a:r>
            <a:r>
              <a:rPr lang="zh-CN" altLang="en-US" sz="3200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数 据 与 预 处 理 </a:t>
            </a:r>
            <a:endParaRPr lang="zh-CN" altLang="en-US" sz="3200" dirty="0">
              <a:latin typeface="造字工房悦黑体验版纤细体" pitchFamily="50" charset="-122"/>
              <a:ea typeface="造字工房悦黑体验版纤细体" pitchFamily="5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304848" y="3029255"/>
            <a:ext cx="39690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3 / </a:t>
            </a:r>
            <a:r>
              <a:rPr lang="zh-CN" altLang="en-US" sz="3200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模 型 设 计</a:t>
            </a:r>
            <a:endParaRPr lang="zh-CN" altLang="en-US" sz="3200" dirty="0">
              <a:latin typeface="造字工房悦黑体验版纤细体" pitchFamily="50" charset="-122"/>
              <a:ea typeface="造字工房悦黑体验版纤细体" pitchFamily="5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282605" y="3830984"/>
            <a:ext cx="48345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4 / </a:t>
            </a:r>
            <a:r>
              <a:rPr lang="zh-CN" altLang="en-US" sz="3200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实 验 结 果</a:t>
            </a:r>
            <a:endParaRPr lang="zh-CN" altLang="en-US" sz="3200" dirty="0">
              <a:latin typeface="造字工房悦黑体验版纤细体" pitchFamily="50" charset="-122"/>
              <a:ea typeface="造字工房悦黑体验版纤细体" pitchFamily="50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1698B0-F4C0-A4E9-F28A-1B6523255E63}"/>
              </a:ext>
            </a:extLst>
          </p:cNvPr>
          <p:cNvSpPr txBox="1"/>
          <p:nvPr/>
        </p:nvSpPr>
        <p:spPr>
          <a:xfrm>
            <a:off x="6310966" y="4630228"/>
            <a:ext cx="44074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5 / </a:t>
            </a:r>
            <a:r>
              <a:rPr lang="zh-CN" altLang="en-US" sz="3200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结 论</a:t>
            </a:r>
            <a:endParaRPr lang="zh-CN" altLang="en-US" sz="3200" dirty="0">
              <a:latin typeface="造字工房悦黑体验版纤细体" pitchFamily="50" charset="-122"/>
              <a:ea typeface="造字工房悦黑体验版纤细体" pitchFamily="5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89" r="53519"/>
          <a:stretch>
            <a:fillRect/>
          </a:stretch>
        </p:blipFill>
        <p:spPr>
          <a:xfrm rot="18571216">
            <a:off x="-830670" y="-1570681"/>
            <a:ext cx="6555461" cy="4989057"/>
          </a:xfrm>
          <a:custGeom>
            <a:avLst/>
            <a:gdLst>
              <a:gd name="connsiteX0" fmla="*/ 1605325 w 4313260"/>
              <a:gd name="connsiteY0" fmla="*/ 0 h 3282622"/>
              <a:gd name="connsiteX1" fmla="*/ 4313260 w 4313260"/>
              <a:gd name="connsiteY1" fmla="*/ 3282622 h 3282622"/>
              <a:gd name="connsiteX2" fmla="*/ 0 w 4313260"/>
              <a:gd name="connsiteY2" fmla="*/ 3282622 h 3282622"/>
              <a:gd name="connsiteX3" fmla="*/ 0 w 4313260"/>
              <a:gd name="connsiteY3" fmla="*/ 1324281 h 3282622"/>
              <a:gd name="connsiteX4" fmla="*/ 1605325 w 4313260"/>
              <a:gd name="connsiteY4" fmla="*/ 0 h 3282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3260" h="3282622">
                <a:moveTo>
                  <a:pt x="1605325" y="0"/>
                </a:moveTo>
                <a:lnTo>
                  <a:pt x="4313260" y="3282622"/>
                </a:lnTo>
                <a:lnTo>
                  <a:pt x="0" y="3282622"/>
                </a:lnTo>
                <a:lnTo>
                  <a:pt x="0" y="1324281"/>
                </a:lnTo>
                <a:lnTo>
                  <a:pt x="1605325" y="0"/>
                </a:lnTo>
                <a:close/>
              </a:path>
            </a:pathLst>
          </a:cu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06" r="40353"/>
          <a:stretch>
            <a:fillRect/>
          </a:stretch>
        </p:blipFill>
        <p:spPr>
          <a:xfrm rot="8195221">
            <a:off x="6015934" y="3502426"/>
            <a:ext cx="7957079" cy="4585384"/>
          </a:xfrm>
          <a:custGeom>
            <a:avLst/>
            <a:gdLst>
              <a:gd name="connsiteX0" fmla="*/ 0 w 5125566"/>
              <a:gd name="connsiteY0" fmla="*/ 2953683 h 2953683"/>
              <a:gd name="connsiteX1" fmla="*/ 0 w 5125566"/>
              <a:gd name="connsiteY1" fmla="*/ 2117735 h 2953683"/>
              <a:gd name="connsiteX2" fmla="*/ 2003551 w 5125566"/>
              <a:gd name="connsiteY2" fmla="*/ 0 h 2953683"/>
              <a:gd name="connsiteX3" fmla="*/ 5125566 w 5125566"/>
              <a:gd name="connsiteY3" fmla="*/ 2953683 h 2953683"/>
              <a:gd name="connsiteX4" fmla="*/ 0 w 5125566"/>
              <a:gd name="connsiteY4" fmla="*/ 2953683 h 2953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5566" h="2953683">
                <a:moveTo>
                  <a:pt x="0" y="2953683"/>
                </a:moveTo>
                <a:lnTo>
                  <a:pt x="0" y="2117735"/>
                </a:lnTo>
                <a:lnTo>
                  <a:pt x="2003551" y="0"/>
                </a:lnTo>
                <a:lnTo>
                  <a:pt x="5125566" y="2953683"/>
                </a:lnTo>
                <a:lnTo>
                  <a:pt x="0" y="2953683"/>
                </a:lnTo>
                <a:close/>
              </a:path>
            </a:pathLst>
          </a:custGeom>
        </p:spPr>
      </p:pic>
      <p:sp>
        <p:nvSpPr>
          <p:cNvPr id="13" name="文本框 12"/>
          <p:cNvSpPr txBox="1"/>
          <p:nvPr/>
        </p:nvSpPr>
        <p:spPr>
          <a:xfrm>
            <a:off x="3303143" y="3396958"/>
            <a:ext cx="5585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00000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ea typeface="方正兰亭粗黑简体" panose="02000000000000000000" pitchFamily="2" charset="-122"/>
              </a:rPr>
              <a:t>项 目 概 述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353094" y="2138920"/>
            <a:ext cx="14858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dirty="0">
                <a:solidFill>
                  <a:srgbClr val="000000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01</a:t>
            </a:r>
            <a:endParaRPr lang="zh-CN" altLang="en-US" sz="8000" b="1" dirty="0">
              <a:solidFill>
                <a:srgbClr val="000000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FC037-EA13-07C2-037D-416AE30D2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5E0C28C-55FE-1376-F00B-07C86F998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6" t="79044" r="53519"/>
          <a:stretch>
            <a:fillRect/>
          </a:stretch>
        </p:blipFill>
        <p:spPr>
          <a:xfrm rot="20147618">
            <a:off x="-483871" y="-795874"/>
            <a:ext cx="4884403" cy="2080299"/>
          </a:xfrm>
          <a:custGeom>
            <a:avLst/>
            <a:gdLst>
              <a:gd name="connsiteX0" fmla="*/ 957211 w 6228785"/>
              <a:gd name="connsiteY0" fmla="*/ 0 h 2652880"/>
              <a:gd name="connsiteX1" fmla="*/ 5857672 w 6228785"/>
              <a:gd name="connsiteY1" fmla="*/ 2203009 h 2652880"/>
              <a:gd name="connsiteX2" fmla="*/ 6228785 w 6228785"/>
              <a:gd name="connsiteY2" fmla="*/ 2652880 h 2652880"/>
              <a:gd name="connsiteX3" fmla="*/ 1164771 w 6228785"/>
              <a:gd name="connsiteY3" fmla="*/ 2652880 h 2652880"/>
              <a:gd name="connsiteX4" fmla="*/ 0 w 6228785"/>
              <a:gd name="connsiteY4" fmla="*/ 2129256 h 2652880"/>
              <a:gd name="connsiteX5" fmla="*/ 957211 w 6228785"/>
              <a:gd name="connsiteY5" fmla="*/ 0 h 265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28785" h="2652880">
                <a:moveTo>
                  <a:pt x="957211" y="0"/>
                </a:moveTo>
                <a:lnTo>
                  <a:pt x="5857672" y="2203009"/>
                </a:lnTo>
                <a:lnTo>
                  <a:pt x="6228785" y="2652880"/>
                </a:lnTo>
                <a:lnTo>
                  <a:pt x="1164771" y="2652880"/>
                </a:lnTo>
                <a:lnTo>
                  <a:pt x="0" y="2129256"/>
                </a:lnTo>
                <a:lnTo>
                  <a:pt x="957211" y="0"/>
                </a:lnTo>
                <a:close/>
              </a:path>
            </a:pathLst>
          </a:custGeom>
          <a:ln>
            <a:noFill/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DB31E75-CAE8-ED9C-12F6-DFF986991FAD}"/>
              </a:ext>
            </a:extLst>
          </p:cNvPr>
          <p:cNvSpPr txBox="1"/>
          <p:nvPr/>
        </p:nvSpPr>
        <p:spPr>
          <a:xfrm>
            <a:off x="395785" y="436730"/>
            <a:ext cx="643318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200"/>
              </a:lnSpc>
            </a:pPr>
            <a:r>
              <a:rPr lang="en-US" altLang="zh-CN" sz="2800" b="1" spc="59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项目背景</a:t>
            </a:r>
            <a:r>
              <a:rPr lang="zh-CN" altLang="en-US" sz="2800" b="1" spc="4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与意义</a:t>
            </a:r>
            <a:endParaRPr lang="en-US" altLang="zh-CN" sz="2800" b="1" spc="59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E4237E2-8BB1-550F-A404-9E131F5A7CCC}"/>
              </a:ext>
            </a:extLst>
          </p:cNvPr>
          <p:cNvGrpSpPr/>
          <p:nvPr/>
        </p:nvGrpSpPr>
        <p:grpSpPr>
          <a:xfrm>
            <a:off x="1508318" y="1560919"/>
            <a:ext cx="815975" cy="633413"/>
            <a:chOff x="5422979" y="843403"/>
            <a:chExt cx="815975" cy="633413"/>
          </a:xfrm>
          <a:solidFill>
            <a:srgbClr val="0070C0"/>
          </a:solidFill>
        </p:grpSpPr>
        <p:sp>
          <p:nvSpPr>
            <p:cNvPr id="26" name="Freeform 163">
              <a:extLst>
                <a:ext uri="{FF2B5EF4-FFF2-40B4-BE49-F238E27FC236}">
                  <a16:creationId xmlns:a16="http://schemas.microsoft.com/office/drawing/2014/main" id="{9E1988DD-6A04-477E-1AC3-7476F68F1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9704" y="1157728"/>
              <a:ext cx="77788" cy="87313"/>
            </a:xfrm>
            <a:custGeom>
              <a:avLst/>
              <a:gdLst>
                <a:gd name="T0" fmla="*/ 5 w 21"/>
                <a:gd name="T1" fmla="*/ 0 h 23"/>
                <a:gd name="T2" fmla="*/ 0 w 21"/>
                <a:gd name="T3" fmla="*/ 23 h 23"/>
                <a:gd name="T4" fmla="*/ 19 w 21"/>
                <a:gd name="T5" fmla="*/ 23 h 23"/>
                <a:gd name="T6" fmla="*/ 21 w 21"/>
                <a:gd name="T7" fmla="*/ 0 h 23"/>
                <a:gd name="T8" fmla="*/ 5 w 21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3">
                  <a:moveTo>
                    <a:pt x="5" y="0"/>
                  </a:moveTo>
                  <a:cubicBezTo>
                    <a:pt x="2" y="7"/>
                    <a:pt x="1" y="15"/>
                    <a:pt x="0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15"/>
                    <a:pt x="20" y="8"/>
                    <a:pt x="21" y="0"/>
                  </a:cubicBez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64">
              <a:extLst>
                <a:ext uri="{FF2B5EF4-FFF2-40B4-BE49-F238E27FC236}">
                  <a16:creationId xmlns:a16="http://schemas.microsoft.com/office/drawing/2014/main" id="{E6732818-1B32-AEFD-0C53-49D2C0FFF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5429" y="1259328"/>
              <a:ext cx="85725" cy="87313"/>
            </a:xfrm>
            <a:custGeom>
              <a:avLst/>
              <a:gdLst>
                <a:gd name="T0" fmla="*/ 2 w 23"/>
                <a:gd name="T1" fmla="*/ 23 h 23"/>
                <a:gd name="T2" fmla="*/ 21 w 23"/>
                <a:gd name="T3" fmla="*/ 23 h 23"/>
                <a:gd name="T4" fmla="*/ 23 w 23"/>
                <a:gd name="T5" fmla="*/ 0 h 23"/>
                <a:gd name="T6" fmla="*/ 0 w 23"/>
                <a:gd name="T7" fmla="*/ 0 h 23"/>
                <a:gd name="T8" fmla="*/ 2 w 23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2" y="23"/>
                  </a:moveTo>
                  <a:cubicBezTo>
                    <a:pt x="21" y="23"/>
                    <a:pt x="21" y="23"/>
                    <a:pt x="21" y="23"/>
                  </a:cubicBezTo>
                  <a:cubicBezTo>
                    <a:pt x="22" y="16"/>
                    <a:pt x="23" y="9"/>
                    <a:pt x="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1" y="16"/>
                    <a:pt x="2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165">
              <a:extLst>
                <a:ext uri="{FF2B5EF4-FFF2-40B4-BE49-F238E27FC236}">
                  <a16:creationId xmlns:a16="http://schemas.microsoft.com/office/drawing/2014/main" id="{AD18065A-12F1-9A74-E1C7-EAF10A740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3691" y="1064065"/>
              <a:ext cx="82550" cy="79375"/>
            </a:xfrm>
            <a:custGeom>
              <a:avLst/>
              <a:gdLst>
                <a:gd name="T0" fmla="*/ 22 w 22"/>
                <a:gd name="T1" fmla="*/ 21 h 21"/>
                <a:gd name="T2" fmla="*/ 0 w 22"/>
                <a:gd name="T3" fmla="*/ 0 h 21"/>
                <a:gd name="T4" fmla="*/ 7 w 22"/>
                <a:gd name="T5" fmla="*/ 21 h 21"/>
                <a:gd name="T6" fmla="*/ 22 w 22"/>
                <a:gd name="T7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21">
                  <a:moveTo>
                    <a:pt x="22" y="21"/>
                  </a:moveTo>
                  <a:cubicBezTo>
                    <a:pt x="17" y="10"/>
                    <a:pt x="9" y="2"/>
                    <a:pt x="0" y="0"/>
                  </a:cubicBezTo>
                  <a:cubicBezTo>
                    <a:pt x="3" y="4"/>
                    <a:pt x="5" y="12"/>
                    <a:pt x="7" y="21"/>
                  </a:cubicBezTo>
                  <a:lnTo>
                    <a:pt x="22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166">
              <a:extLst>
                <a:ext uri="{FF2B5EF4-FFF2-40B4-BE49-F238E27FC236}">
                  <a16:creationId xmlns:a16="http://schemas.microsoft.com/office/drawing/2014/main" id="{57343E6A-FAB1-C8F1-F4D1-B8FE7B74F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1929" y="1064065"/>
              <a:ext cx="82550" cy="79375"/>
            </a:xfrm>
            <a:custGeom>
              <a:avLst/>
              <a:gdLst>
                <a:gd name="T0" fmla="*/ 15 w 22"/>
                <a:gd name="T1" fmla="*/ 21 h 21"/>
                <a:gd name="T2" fmla="*/ 22 w 22"/>
                <a:gd name="T3" fmla="*/ 0 h 21"/>
                <a:gd name="T4" fmla="*/ 0 w 22"/>
                <a:gd name="T5" fmla="*/ 21 h 21"/>
                <a:gd name="T6" fmla="*/ 15 w 22"/>
                <a:gd name="T7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21">
                  <a:moveTo>
                    <a:pt x="15" y="21"/>
                  </a:moveTo>
                  <a:cubicBezTo>
                    <a:pt x="17" y="12"/>
                    <a:pt x="19" y="4"/>
                    <a:pt x="22" y="0"/>
                  </a:cubicBezTo>
                  <a:cubicBezTo>
                    <a:pt x="13" y="2"/>
                    <a:pt x="5" y="10"/>
                    <a:pt x="0" y="21"/>
                  </a:cubicBezTo>
                  <a:lnTo>
                    <a:pt x="15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167">
              <a:extLst>
                <a:ext uri="{FF2B5EF4-FFF2-40B4-BE49-F238E27FC236}">
                  <a16:creationId xmlns:a16="http://schemas.microsoft.com/office/drawing/2014/main" id="{EDB6BC0D-9C18-1C2F-F071-9C062D406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3366" y="1060890"/>
              <a:ext cx="71438" cy="82550"/>
            </a:xfrm>
            <a:custGeom>
              <a:avLst/>
              <a:gdLst>
                <a:gd name="T0" fmla="*/ 19 w 19"/>
                <a:gd name="T1" fmla="*/ 22 h 22"/>
                <a:gd name="T2" fmla="*/ 10 w 19"/>
                <a:gd name="T3" fmla="*/ 0 h 22"/>
                <a:gd name="T4" fmla="*/ 0 w 19"/>
                <a:gd name="T5" fmla="*/ 22 h 22"/>
                <a:gd name="T6" fmla="*/ 19 w 19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2">
                  <a:moveTo>
                    <a:pt x="19" y="22"/>
                  </a:moveTo>
                  <a:cubicBezTo>
                    <a:pt x="16" y="8"/>
                    <a:pt x="13" y="0"/>
                    <a:pt x="10" y="0"/>
                  </a:cubicBezTo>
                  <a:cubicBezTo>
                    <a:pt x="7" y="0"/>
                    <a:pt x="3" y="8"/>
                    <a:pt x="0" y="22"/>
                  </a:cubicBezTo>
                  <a:lnTo>
                    <a:pt x="19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168">
              <a:extLst>
                <a:ext uri="{FF2B5EF4-FFF2-40B4-BE49-F238E27FC236}">
                  <a16:creationId xmlns:a16="http://schemas.microsoft.com/office/drawing/2014/main" id="{20AA0178-86DB-5B0F-8F88-CD7445012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5429" y="1157728"/>
              <a:ext cx="85725" cy="87313"/>
            </a:xfrm>
            <a:custGeom>
              <a:avLst/>
              <a:gdLst>
                <a:gd name="T0" fmla="*/ 21 w 23"/>
                <a:gd name="T1" fmla="*/ 0 h 23"/>
                <a:gd name="T2" fmla="*/ 2 w 23"/>
                <a:gd name="T3" fmla="*/ 0 h 23"/>
                <a:gd name="T4" fmla="*/ 0 w 23"/>
                <a:gd name="T5" fmla="*/ 23 h 23"/>
                <a:gd name="T6" fmla="*/ 23 w 23"/>
                <a:gd name="T7" fmla="*/ 23 h 23"/>
                <a:gd name="T8" fmla="*/ 21 w 2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2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7"/>
                    <a:pt x="0" y="15"/>
                    <a:pt x="0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15"/>
                    <a:pt x="22" y="7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35" name="Freeform 169">
              <a:extLst>
                <a:ext uri="{FF2B5EF4-FFF2-40B4-BE49-F238E27FC236}">
                  <a16:creationId xmlns:a16="http://schemas.microsoft.com/office/drawing/2014/main" id="{01BCD114-9063-737F-910F-ADDF73613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1316" y="1072003"/>
              <a:ext cx="87313" cy="71438"/>
            </a:xfrm>
            <a:custGeom>
              <a:avLst/>
              <a:gdLst>
                <a:gd name="T0" fmla="*/ 13 w 23"/>
                <a:gd name="T1" fmla="*/ 19 h 19"/>
                <a:gd name="T2" fmla="*/ 23 w 23"/>
                <a:gd name="T3" fmla="*/ 19 h 19"/>
                <a:gd name="T4" fmla="*/ 0 w 23"/>
                <a:gd name="T5" fmla="*/ 0 h 19"/>
                <a:gd name="T6" fmla="*/ 13 w 23"/>
                <a:gd name="T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9">
                  <a:moveTo>
                    <a:pt x="13" y="19"/>
                  </a:moveTo>
                  <a:cubicBezTo>
                    <a:pt x="23" y="19"/>
                    <a:pt x="23" y="19"/>
                    <a:pt x="23" y="19"/>
                  </a:cubicBezTo>
                  <a:cubicBezTo>
                    <a:pt x="18" y="11"/>
                    <a:pt x="10" y="4"/>
                    <a:pt x="0" y="0"/>
                  </a:cubicBezTo>
                  <a:cubicBezTo>
                    <a:pt x="6" y="5"/>
                    <a:pt x="10" y="12"/>
                    <a:pt x="13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170">
              <a:extLst>
                <a:ext uri="{FF2B5EF4-FFF2-40B4-BE49-F238E27FC236}">
                  <a16:creationId xmlns:a16="http://schemas.microsoft.com/office/drawing/2014/main" id="{DD22E9CF-BB2E-0011-E79B-C562FE0E0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2266" y="1259328"/>
              <a:ext cx="76200" cy="87313"/>
            </a:xfrm>
            <a:custGeom>
              <a:avLst/>
              <a:gdLst>
                <a:gd name="T0" fmla="*/ 0 w 20"/>
                <a:gd name="T1" fmla="*/ 23 h 23"/>
                <a:gd name="T2" fmla="*/ 15 w 20"/>
                <a:gd name="T3" fmla="*/ 23 h 23"/>
                <a:gd name="T4" fmla="*/ 20 w 20"/>
                <a:gd name="T5" fmla="*/ 0 h 23"/>
                <a:gd name="T6" fmla="*/ 1 w 20"/>
                <a:gd name="T7" fmla="*/ 0 h 23"/>
                <a:gd name="T8" fmla="*/ 0 w 20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3">
                  <a:moveTo>
                    <a:pt x="0" y="23"/>
                  </a:moveTo>
                  <a:cubicBezTo>
                    <a:pt x="15" y="23"/>
                    <a:pt x="15" y="23"/>
                    <a:pt x="15" y="23"/>
                  </a:cubicBezTo>
                  <a:cubicBezTo>
                    <a:pt x="18" y="16"/>
                    <a:pt x="19" y="8"/>
                    <a:pt x="2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8"/>
                    <a:pt x="0" y="16"/>
                    <a:pt x="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171">
              <a:extLst>
                <a:ext uri="{FF2B5EF4-FFF2-40B4-BE49-F238E27FC236}">
                  <a16:creationId xmlns:a16="http://schemas.microsoft.com/office/drawing/2014/main" id="{5081BF38-2ACD-EB7E-F5B0-FCAAEDBFE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8466" y="1157728"/>
              <a:ext cx="63500" cy="87313"/>
            </a:xfrm>
            <a:custGeom>
              <a:avLst/>
              <a:gdLst>
                <a:gd name="T0" fmla="*/ 4 w 17"/>
                <a:gd name="T1" fmla="*/ 23 h 23"/>
                <a:gd name="T2" fmla="*/ 17 w 17"/>
                <a:gd name="T3" fmla="*/ 23 h 23"/>
                <a:gd name="T4" fmla="*/ 11 w 17"/>
                <a:gd name="T5" fmla="*/ 0 h 23"/>
                <a:gd name="T6" fmla="*/ 0 w 17"/>
                <a:gd name="T7" fmla="*/ 0 h 23"/>
                <a:gd name="T8" fmla="*/ 4 w 1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3">
                  <a:moveTo>
                    <a:pt x="4" y="23"/>
                  </a:moveTo>
                  <a:cubicBezTo>
                    <a:pt x="17" y="23"/>
                    <a:pt x="17" y="23"/>
                    <a:pt x="17" y="23"/>
                  </a:cubicBezTo>
                  <a:cubicBezTo>
                    <a:pt x="17" y="15"/>
                    <a:pt x="15" y="7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7"/>
                    <a:pt x="4" y="15"/>
                    <a:pt x="4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172">
              <a:extLst>
                <a:ext uri="{FF2B5EF4-FFF2-40B4-BE49-F238E27FC236}">
                  <a16:creationId xmlns:a16="http://schemas.microsoft.com/office/drawing/2014/main" id="{FB0EAA7D-E002-1E4C-CC62-DDA14ADBD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2266" y="1157728"/>
              <a:ext cx="76200" cy="87313"/>
            </a:xfrm>
            <a:custGeom>
              <a:avLst/>
              <a:gdLst>
                <a:gd name="T0" fmla="*/ 15 w 20"/>
                <a:gd name="T1" fmla="*/ 0 h 23"/>
                <a:gd name="T2" fmla="*/ 0 w 20"/>
                <a:gd name="T3" fmla="*/ 0 h 23"/>
                <a:gd name="T4" fmla="*/ 1 w 20"/>
                <a:gd name="T5" fmla="*/ 23 h 23"/>
                <a:gd name="T6" fmla="*/ 20 w 20"/>
                <a:gd name="T7" fmla="*/ 23 h 23"/>
                <a:gd name="T8" fmla="*/ 15 w 20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3">
                  <a:moveTo>
                    <a:pt x="1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1" y="15"/>
                    <a:pt x="1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9" y="15"/>
                    <a:pt x="18" y="7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173">
              <a:extLst>
                <a:ext uri="{FF2B5EF4-FFF2-40B4-BE49-F238E27FC236}">
                  <a16:creationId xmlns:a16="http://schemas.microsoft.com/office/drawing/2014/main" id="{83F2E480-B29E-1140-5504-8B2D7834C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3691" y="1360928"/>
              <a:ext cx="82550" cy="82550"/>
            </a:xfrm>
            <a:custGeom>
              <a:avLst/>
              <a:gdLst>
                <a:gd name="T0" fmla="*/ 7 w 22"/>
                <a:gd name="T1" fmla="*/ 0 h 22"/>
                <a:gd name="T2" fmla="*/ 0 w 22"/>
                <a:gd name="T3" fmla="*/ 22 h 22"/>
                <a:gd name="T4" fmla="*/ 22 w 22"/>
                <a:gd name="T5" fmla="*/ 0 h 22"/>
                <a:gd name="T6" fmla="*/ 7 w 22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22">
                  <a:moveTo>
                    <a:pt x="7" y="0"/>
                  </a:moveTo>
                  <a:cubicBezTo>
                    <a:pt x="5" y="9"/>
                    <a:pt x="3" y="17"/>
                    <a:pt x="0" y="22"/>
                  </a:cubicBezTo>
                  <a:cubicBezTo>
                    <a:pt x="9" y="19"/>
                    <a:pt x="17" y="11"/>
                    <a:pt x="22" y="0"/>
                  </a:cubicBez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174">
              <a:extLst>
                <a:ext uri="{FF2B5EF4-FFF2-40B4-BE49-F238E27FC236}">
                  <a16:creationId xmlns:a16="http://schemas.microsoft.com/office/drawing/2014/main" id="{CA65E1F3-F1B7-341D-BADC-25E05A2B8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1316" y="1360928"/>
              <a:ext cx="87313" cy="71438"/>
            </a:xfrm>
            <a:custGeom>
              <a:avLst/>
              <a:gdLst>
                <a:gd name="T0" fmla="*/ 0 w 23"/>
                <a:gd name="T1" fmla="*/ 19 h 19"/>
                <a:gd name="T2" fmla="*/ 23 w 23"/>
                <a:gd name="T3" fmla="*/ 0 h 19"/>
                <a:gd name="T4" fmla="*/ 13 w 23"/>
                <a:gd name="T5" fmla="*/ 0 h 19"/>
                <a:gd name="T6" fmla="*/ 0 w 23"/>
                <a:gd name="T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9">
                  <a:moveTo>
                    <a:pt x="0" y="19"/>
                  </a:moveTo>
                  <a:cubicBezTo>
                    <a:pt x="10" y="15"/>
                    <a:pt x="18" y="8"/>
                    <a:pt x="2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0" y="8"/>
                    <a:pt x="6" y="14"/>
                    <a:pt x="0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175">
              <a:extLst>
                <a:ext uri="{FF2B5EF4-FFF2-40B4-BE49-F238E27FC236}">
                  <a16:creationId xmlns:a16="http://schemas.microsoft.com/office/drawing/2014/main" id="{C73E4261-86EF-892F-17EF-3E0E978E8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3366" y="1360928"/>
              <a:ext cx="71438" cy="85725"/>
            </a:xfrm>
            <a:custGeom>
              <a:avLst/>
              <a:gdLst>
                <a:gd name="T0" fmla="*/ 0 w 19"/>
                <a:gd name="T1" fmla="*/ 0 h 23"/>
                <a:gd name="T2" fmla="*/ 10 w 19"/>
                <a:gd name="T3" fmla="*/ 23 h 23"/>
                <a:gd name="T4" fmla="*/ 19 w 19"/>
                <a:gd name="T5" fmla="*/ 0 h 23"/>
                <a:gd name="T6" fmla="*/ 0 w 19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3">
                  <a:moveTo>
                    <a:pt x="0" y="0"/>
                  </a:moveTo>
                  <a:cubicBezTo>
                    <a:pt x="3" y="14"/>
                    <a:pt x="7" y="23"/>
                    <a:pt x="10" y="23"/>
                  </a:cubicBezTo>
                  <a:cubicBezTo>
                    <a:pt x="13" y="23"/>
                    <a:pt x="16" y="14"/>
                    <a:pt x="1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176">
              <a:extLst>
                <a:ext uri="{FF2B5EF4-FFF2-40B4-BE49-F238E27FC236}">
                  <a16:creationId xmlns:a16="http://schemas.microsoft.com/office/drawing/2014/main" id="{909D7039-8473-FE5D-D78E-7726B6E80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8466" y="1259328"/>
              <a:ext cx="63500" cy="87313"/>
            </a:xfrm>
            <a:custGeom>
              <a:avLst/>
              <a:gdLst>
                <a:gd name="T0" fmla="*/ 0 w 17"/>
                <a:gd name="T1" fmla="*/ 23 h 23"/>
                <a:gd name="T2" fmla="*/ 11 w 17"/>
                <a:gd name="T3" fmla="*/ 23 h 23"/>
                <a:gd name="T4" fmla="*/ 17 w 17"/>
                <a:gd name="T5" fmla="*/ 0 h 23"/>
                <a:gd name="T6" fmla="*/ 4 w 17"/>
                <a:gd name="T7" fmla="*/ 0 h 23"/>
                <a:gd name="T8" fmla="*/ 0 w 1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3">
                  <a:moveTo>
                    <a:pt x="0" y="23"/>
                  </a:moveTo>
                  <a:cubicBezTo>
                    <a:pt x="11" y="23"/>
                    <a:pt x="11" y="23"/>
                    <a:pt x="11" y="23"/>
                  </a:cubicBezTo>
                  <a:cubicBezTo>
                    <a:pt x="15" y="16"/>
                    <a:pt x="17" y="8"/>
                    <a:pt x="17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8"/>
                    <a:pt x="2" y="16"/>
                    <a:pt x="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177">
              <a:extLst>
                <a:ext uri="{FF2B5EF4-FFF2-40B4-BE49-F238E27FC236}">
                  <a16:creationId xmlns:a16="http://schemas.microsoft.com/office/drawing/2014/main" id="{D96A51CC-796A-7067-8996-BACD69327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1929" y="1360928"/>
              <a:ext cx="82550" cy="82550"/>
            </a:xfrm>
            <a:custGeom>
              <a:avLst/>
              <a:gdLst>
                <a:gd name="T0" fmla="*/ 0 w 22"/>
                <a:gd name="T1" fmla="*/ 0 h 22"/>
                <a:gd name="T2" fmla="*/ 22 w 22"/>
                <a:gd name="T3" fmla="*/ 22 h 22"/>
                <a:gd name="T4" fmla="*/ 15 w 22"/>
                <a:gd name="T5" fmla="*/ 0 h 22"/>
                <a:gd name="T6" fmla="*/ 0 w 22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22">
                  <a:moveTo>
                    <a:pt x="0" y="0"/>
                  </a:moveTo>
                  <a:cubicBezTo>
                    <a:pt x="5" y="11"/>
                    <a:pt x="13" y="19"/>
                    <a:pt x="22" y="22"/>
                  </a:cubicBezTo>
                  <a:cubicBezTo>
                    <a:pt x="19" y="17"/>
                    <a:pt x="17" y="9"/>
                    <a:pt x="1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178">
              <a:extLst>
                <a:ext uri="{FF2B5EF4-FFF2-40B4-BE49-F238E27FC236}">
                  <a16:creationId xmlns:a16="http://schemas.microsoft.com/office/drawing/2014/main" id="{D85B8910-F205-423C-B5C1-19096DB04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541" y="1360928"/>
              <a:ext cx="85725" cy="71438"/>
            </a:xfrm>
            <a:custGeom>
              <a:avLst/>
              <a:gdLst>
                <a:gd name="T0" fmla="*/ 10 w 23"/>
                <a:gd name="T1" fmla="*/ 0 h 19"/>
                <a:gd name="T2" fmla="*/ 0 w 23"/>
                <a:gd name="T3" fmla="*/ 0 h 19"/>
                <a:gd name="T4" fmla="*/ 23 w 23"/>
                <a:gd name="T5" fmla="*/ 19 h 19"/>
                <a:gd name="T6" fmla="*/ 10 w 23"/>
                <a:gd name="T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9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5" y="8"/>
                    <a:pt x="13" y="15"/>
                    <a:pt x="23" y="19"/>
                  </a:cubicBezTo>
                  <a:cubicBezTo>
                    <a:pt x="18" y="14"/>
                    <a:pt x="13" y="8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179">
              <a:extLst>
                <a:ext uri="{FF2B5EF4-FFF2-40B4-BE49-F238E27FC236}">
                  <a16:creationId xmlns:a16="http://schemas.microsoft.com/office/drawing/2014/main" id="{32F5956A-1448-FBFA-5F55-24084C7F1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9704" y="1259328"/>
              <a:ext cx="77788" cy="87313"/>
            </a:xfrm>
            <a:custGeom>
              <a:avLst/>
              <a:gdLst>
                <a:gd name="T0" fmla="*/ 0 w 21"/>
                <a:gd name="T1" fmla="*/ 0 h 23"/>
                <a:gd name="T2" fmla="*/ 5 w 21"/>
                <a:gd name="T3" fmla="*/ 23 h 23"/>
                <a:gd name="T4" fmla="*/ 21 w 21"/>
                <a:gd name="T5" fmla="*/ 23 h 23"/>
                <a:gd name="T6" fmla="*/ 19 w 21"/>
                <a:gd name="T7" fmla="*/ 0 h 23"/>
                <a:gd name="T8" fmla="*/ 0 w 21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3">
                  <a:moveTo>
                    <a:pt x="0" y="0"/>
                  </a:moveTo>
                  <a:cubicBezTo>
                    <a:pt x="1" y="8"/>
                    <a:pt x="2" y="16"/>
                    <a:pt x="5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0" y="16"/>
                    <a:pt x="19" y="8"/>
                    <a:pt x="1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180">
              <a:extLst>
                <a:ext uri="{FF2B5EF4-FFF2-40B4-BE49-F238E27FC236}">
                  <a16:creationId xmlns:a16="http://schemas.microsoft.com/office/drawing/2014/main" id="{0183D00B-50CF-AC3B-E442-16B9EF58B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541" y="1072003"/>
              <a:ext cx="85725" cy="71438"/>
            </a:xfrm>
            <a:custGeom>
              <a:avLst/>
              <a:gdLst>
                <a:gd name="T0" fmla="*/ 23 w 23"/>
                <a:gd name="T1" fmla="*/ 0 h 19"/>
                <a:gd name="T2" fmla="*/ 0 w 23"/>
                <a:gd name="T3" fmla="*/ 19 h 19"/>
                <a:gd name="T4" fmla="*/ 10 w 23"/>
                <a:gd name="T5" fmla="*/ 19 h 19"/>
                <a:gd name="T6" fmla="*/ 23 w 23"/>
                <a:gd name="T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9">
                  <a:moveTo>
                    <a:pt x="23" y="0"/>
                  </a:moveTo>
                  <a:cubicBezTo>
                    <a:pt x="13" y="4"/>
                    <a:pt x="5" y="11"/>
                    <a:pt x="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3" y="12"/>
                    <a:pt x="18" y="5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81">
              <a:extLst>
                <a:ext uri="{FF2B5EF4-FFF2-40B4-BE49-F238E27FC236}">
                  <a16:creationId xmlns:a16="http://schemas.microsoft.com/office/drawing/2014/main" id="{289BC464-5E6B-AF8A-3ADB-DB3E7E0AB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4616" y="1157728"/>
              <a:ext cx="65088" cy="87313"/>
            </a:xfrm>
            <a:custGeom>
              <a:avLst/>
              <a:gdLst>
                <a:gd name="T0" fmla="*/ 17 w 17"/>
                <a:gd name="T1" fmla="*/ 0 h 23"/>
                <a:gd name="T2" fmla="*/ 6 w 17"/>
                <a:gd name="T3" fmla="*/ 0 h 23"/>
                <a:gd name="T4" fmla="*/ 0 w 17"/>
                <a:gd name="T5" fmla="*/ 23 h 23"/>
                <a:gd name="T6" fmla="*/ 13 w 17"/>
                <a:gd name="T7" fmla="*/ 23 h 23"/>
                <a:gd name="T8" fmla="*/ 17 w 17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3">
                  <a:moveTo>
                    <a:pt x="1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7"/>
                    <a:pt x="0" y="15"/>
                    <a:pt x="0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4" y="15"/>
                    <a:pt x="15" y="7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82">
              <a:extLst>
                <a:ext uri="{FF2B5EF4-FFF2-40B4-BE49-F238E27FC236}">
                  <a16:creationId xmlns:a16="http://schemas.microsoft.com/office/drawing/2014/main" id="{D928DAE1-3FBE-4A58-64E2-296B8A299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4616" y="1259328"/>
              <a:ext cx="65088" cy="87313"/>
            </a:xfrm>
            <a:custGeom>
              <a:avLst/>
              <a:gdLst>
                <a:gd name="T0" fmla="*/ 13 w 17"/>
                <a:gd name="T1" fmla="*/ 0 h 23"/>
                <a:gd name="T2" fmla="*/ 0 w 17"/>
                <a:gd name="T3" fmla="*/ 0 h 23"/>
                <a:gd name="T4" fmla="*/ 6 w 17"/>
                <a:gd name="T5" fmla="*/ 23 h 23"/>
                <a:gd name="T6" fmla="*/ 17 w 17"/>
                <a:gd name="T7" fmla="*/ 23 h 23"/>
                <a:gd name="T8" fmla="*/ 13 w 17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3">
                  <a:moveTo>
                    <a:pt x="1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" y="16"/>
                    <a:pt x="6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16"/>
                    <a:pt x="14" y="8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183">
              <a:extLst>
                <a:ext uri="{FF2B5EF4-FFF2-40B4-BE49-F238E27FC236}">
                  <a16:creationId xmlns:a16="http://schemas.microsoft.com/office/drawing/2014/main" id="{B4D0CCE6-1A06-02CD-F316-1850DF5F5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22979" y="843403"/>
              <a:ext cx="623888" cy="528638"/>
            </a:xfrm>
            <a:custGeom>
              <a:avLst/>
              <a:gdLst>
                <a:gd name="T0" fmla="*/ 20 w 166"/>
                <a:gd name="T1" fmla="*/ 132 h 141"/>
                <a:gd name="T2" fmla="*/ 8 w 166"/>
                <a:gd name="T3" fmla="*/ 120 h 141"/>
                <a:gd name="T4" fmla="*/ 8 w 166"/>
                <a:gd name="T5" fmla="*/ 41 h 141"/>
                <a:gd name="T6" fmla="*/ 158 w 166"/>
                <a:gd name="T7" fmla="*/ 41 h 141"/>
                <a:gd name="T8" fmla="*/ 158 w 166"/>
                <a:gd name="T9" fmla="*/ 46 h 141"/>
                <a:gd name="T10" fmla="*/ 159 w 166"/>
                <a:gd name="T11" fmla="*/ 46 h 141"/>
                <a:gd name="T12" fmla="*/ 166 w 166"/>
                <a:gd name="T13" fmla="*/ 46 h 141"/>
                <a:gd name="T14" fmla="*/ 166 w 166"/>
                <a:gd name="T15" fmla="*/ 20 h 141"/>
                <a:gd name="T16" fmla="*/ 146 w 166"/>
                <a:gd name="T17" fmla="*/ 0 h 141"/>
                <a:gd name="T18" fmla="*/ 20 w 166"/>
                <a:gd name="T19" fmla="*/ 0 h 141"/>
                <a:gd name="T20" fmla="*/ 0 w 166"/>
                <a:gd name="T21" fmla="*/ 20 h 141"/>
                <a:gd name="T22" fmla="*/ 0 w 166"/>
                <a:gd name="T23" fmla="*/ 120 h 141"/>
                <a:gd name="T24" fmla="*/ 20 w 166"/>
                <a:gd name="T25" fmla="*/ 141 h 141"/>
                <a:gd name="T26" fmla="*/ 102 w 166"/>
                <a:gd name="T27" fmla="*/ 141 h 141"/>
                <a:gd name="T28" fmla="*/ 98 w 166"/>
                <a:gd name="T29" fmla="*/ 132 h 141"/>
                <a:gd name="T30" fmla="*/ 20 w 166"/>
                <a:gd name="T31" fmla="*/ 132 h 141"/>
                <a:gd name="T32" fmla="*/ 135 w 166"/>
                <a:gd name="T33" fmla="*/ 15 h 141"/>
                <a:gd name="T34" fmla="*/ 149 w 166"/>
                <a:gd name="T35" fmla="*/ 15 h 141"/>
                <a:gd name="T36" fmla="*/ 149 w 166"/>
                <a:gd name="T37" fmla="*/ 27 h 141"/>
                <a:gd name="T38" fmla="*/ 135 w 166"/>
                <a:gd name="T39" fmla="*/ 27 h 141"/>
                <a:gd name="T40" fmla="*/ 135 w 166"/>
                <a:gd name="T41" fmla="*/ 15 h 141"/>
                <a:gd name="T42" fmla="*/ 111 w 166"/>
                <a:gd name="T43" fmla="*/ 15 h 141"/>
                <a:gd name="T44" fmla="*/ 125 w 166"/>
                <a:gd name="T45" fmla="*/ 15 h 141"/>
                <a:gd name="T46" fmla="*/ 125 w 166"/>
                <a:gd name="T47" fmla="*/ 27 h 141"/>
                <a:gd name="T48" fmla="*/ 111 w 166"/>
                <a:gd name="T49" fmla="*/ 27 h 141"/>
                <a:gd name="T50" fmla="*/ 111 w 166"/>
                <a:gd name="T51" fmla="*/ 15 h 141"/>
                <a:gd name="T52" fmla="*/ 86 w 166"/>
                <a:gd name="T53" fmla="*/ 15 h 141"/>
                <a:gd name="T54" fmla="*/ 99 w 166"/>
                <a:gd name="T55" fmla="*/ 15 h 141"/>
                <a:gd name="T56" fmla="*/ 99 w 166"/>
                <a:gd name="T57" fmla="*/ 27 h 141"/>
                <a:gd name="T58" fmla="*/ 86 w 166"/>
                <a:gd name="T59" fmla="*/ 27 h 141"/>
                <a:gd name="T60" fmla="*/ 86 w 166"/>
                <a:gd name="T61" fmla="*/ 15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66" h="141">
                  <a:moveTo>
                    <a:pt x="20" y="132"/>
                  </a:moveTo>
                  <a:cubicBezTo>
                    <a:pt x="14" y="132"/>
                    <a:pt x="8" y="127"/>
                    <a:pt x="8" y="120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158" y="41"/>
                    <a:pt x="158" y="41"/>
                    <a:pt x="158" y="41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6"/>
                    <a:pt x="158" y="46"/>
                    <a:pt x="159" y="46"/>
                  </a:cubicBezTo>
                  <a:cubicBezTo>
                    <a:pt x="161" y="46"/>
                    <a:pt x="164" y="46"/>
                    <a:pt x="166" y="46"/>
                  </a:cubicBezTo>
                  <a:cubicBezTo>
                    <a:pt x="166" y="20"/>
                    <a:pt x="166" y="20"/>
                    <a:pt x="166" y="20"/>
                  </a:cubicBezTo>
                  <a:cubicBezTo>
                    <a:pt x="166" y="9"/>
                    <a:pt x="157" y="0"/>
                    <a:pt x="14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31"/>
                    <a:pt x="9" y="141"/>
                    <a:pt x="20" y="141"/>
                  </a:cubicBezTo>
                  <a:cubicBezTo>
                    <a:pt x="102" y="141"/>
                    <a:pt x="102" y="141"/>
                    <a:pt x="102" y="141"/>
                  </a:cubicBezTo>
                  <a:cubicBezTo>
                    <a:pt x="101" y="138"/>
                    <a:pt x="99" y="135"/>
                    <a:pt x="98" y="132"/>
                  </a:cubicBezTo>
                  <a:lnTo>
                    <a:pt x="20" y="132"/>
                  </a:lnTo>
                  <a:close/>
                  <a:moveTo>
                    <a:pt x="135" y="15"/>
                  </a:moveTo>
                  <a:cubicBezTo>
                    <a:pt x="149" y="15"/>
                    <a:pt x="149" y="15"/>
                    <a:pt x="149" y="15"/>
                  </a:cubicBezTo>
                  <a:cubicBezTo>
                    <a:pt x="149" y="27"/>
                    <a:pt x="149" y="27"/>
                    <a:pt x="149" y="27"/>
                  </a:cubicBezTo>
                  <a:cubicBezTo>
                    <a:pt x="135" y="27"/>
                    <a:pt x="135" y="27"/>
                    <a:pt x="135" y="27"/>
                  </a:cubicBezTo>
                  <a:lnTo>
                    <a:pt x="135" y="15"/>
                  </a:lnTo>
                  <a:close/>
                  <a:moveTo>
                    <a:pt x="111" y="15"/>
                  </a:moveTo>
                  <a:cubicBezTo>
                    <a:pt x="125" y="15"/>
                    <a:pt x="125" y="15"/>
                    <a:pt x="125" y="15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11" y="27"/>
                    <a:pt x="111" y="27"/>
                    <a:pt x="111" y="27"/>
                  </a:cubicBezTo>
                  <a:lnTo>
                    <a:pt x="111" y="15"/>
                  </a:lnTo>
                  <a:close/>
                  <a:moveTo>
                    <a:pt x="86" y="15"/>
                  </a:moveTo>
                  <a:cubicBezTo>
                    <a:pt x="99" y="15"/>
                    <a:pt x="99" y="15"/>
                    <a:pt x="99" y="15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86" y="27"/>
                    <a:pt x="86" y="27"/>
                    <a:pt x="86" y="27"/>
                  </a:cubicBezTo>
                  <a:lnTo>
                    <a:pt x="86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84">
              <a:extLst>
                <a:ext uri="{FF2B5EF4-FFF2-40B4-BE49-F238E27FC236}">
                  <a16:creationId xmlns:a16="http://schemas.microsoft.com/office/drawing/2014/main" id="{F50369CB-8CA2-ADC9-8F88-A5C69C4ED0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99216" y="1033903"/>
              <a:ext cx="439738" cy="442913"/>
            </a:xfrm>
            <a:custGeom>
              <a:avLst/>
              <a:gdLst>
                <a:gd name="T0" fmla="*/ 59 w 117"/>
                <a:gd name="T1" fmla="*/ 0 h 118"/>
                <a:gd name="T2" fmla="*/ 0 w 117"/>
                <a:gd name="T3" fmla="*/ 59 h 118"/>
                <a:gd name="T4" fmla="*/ 59 w 117"/>
                <a:gd name="T5" fmla="*/ 118 h 118"/>
                <a:gd name="T6" fmla="*/ 117 w 117"/>
                <a:gd name="T7" fmla="*/ 59 h 118"/>
                <a:gd name="T8" fmla="*/ 59 w 117"/>
                <a:gd name="T9" fmla="*/ 0 h 118"/>
                <a:gd name="T10" fmla="*/ 59 w 117"/>
                <a:gd name="T11" fmla="*/ 115 h 118"/>
                <a:gd name="T12" fmla="*/ 3 w 117"/>
                <a:gd name="T13" fmla="*/ 59 h 118"/>
                <a:gd name="T14" fmla="*/ 59 w 117"/>
                <a:gd name="T15" fmla="*/ 3 h 118"/>
                <a:gd name="T16" fmla="*/ 114 w 117"/>
                <a:gd name="T17" fmla="*/ 59 h 118"/>
                <a:gd name="T18" fmla="*/ 59 w 117"/>
                <a:gd name="T19" fmla="*/ 11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" h="118">
                  <a:moveTo>
                    <a:pt x="59" y="0"/>
                  </a:moveTo>
                  <a:cubicBezTo>
                    <a:pt x="26" y="0"/>
                    <a:pt x="0" y="27"/>
                    <a:pt x="0" y="59"/>
                  </a:cubicBezTo>
                  <a:cubicBezTo>
                    <a:pt x="0" y="91"/>
                    <a:pt x="26" y="118"/>
                    <a:pt x="59" y="118"/>
                  </a:cubicBezTo>
                  <a:cubicBezTo>
                    <a:pt x="91" y="118"/>
                    <a:pt x="117" y="91"/>
                    <a:pt x="117" y="59"/>
                  </a:cubicBezTo>
                  <a:cubicBezTo>
                    <a:pt x="117" y="27"/>
                    <a:pt x="91" y="0"/>
                    <a:pt x="59" y="0"/>
                  </a:cubicBezTo>
                  <a:close/>
                  <a:moveTo>
                    <a:pt x="59" y="115"/>
                  </a:moveTo>
                  <a:cubicBezTo>
                    <a:pt x="28" y="115"/>
                    <a:pt x="3" y="90"/>
                    <a:pt x="3" y="59"/>
                  </a:cubicBezTo>
                  <a:cubicBezTo>
                    <a:pt x="3" y="28"/>
                    <a:pt x="28" y="3"/>
                    <a:pt x="59" y="3"/>
                  </a:cubicBezTo>
                  <a:cubicBezTo>
                    <a:pt x="89" y="3"/>
                    <a:pt x="114" y="28"/>
                    <a:pt x="114" y="59"/>
                  </a:cubicBezTo>
                  <a:cubicBezTo>
                    <a:pt x="114" y="90"/>
                    <a:pt x="89" y="115"/>
                    <a:pt x="59" y="1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85">
              <a:extLst>
                <a:ext uri="{FF2B5EF4-FFF2-40B4-BE49-F238E27FC236}">
                  <a16:creationId xmlns:a16="http://schemas.microsoft.com/office/drawing/2014/main" id="{59A3343B-F4EE-25B6-3DB4-EF895F643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529" y="1041840"/>
              <a:ext cx="258763" cy="255588"/>
            </a:xfrm>
            <a:custGeom>
              <a:avLst/>
              <a:gdLst>
                <a:gd name="T0" fmla="*/ 54 w 69"/>
                <a:gd name="T1" fmla="*/ 29 h 68"/>
                <a:gd name="T2" fmla="*/ 54 w 69"/>
                <a:gd name="T3" fmla="*/ 29 h 68"/>
                <a:gd name="T4" fmla="*/ 52 w 69"/>
                <a:gd name="T5" fmla="*/ 30 h 68"/>
                <a:gd name="T6" fmla="*/ 50 w 69"/>
                <a:gd name="T7" fmla="*/ 36 h 68"/>
                <a:gd name="T8" fmla="*/ 47 w 69"/>
                <a:gd name="T9" fmla="*/ 21 h 68"/>
                <a:gd name="T10" fmla="*/ 46 w 69"/>
                <a:gd name="T11" fmla="*/ 19 h 68"/>
                <a:gd name="T12" fmla="*/ 44 w 69"/>
                <a:gd name="T13" fmla="*/ 21 h 68"/>
                <a:gd name="T14" fmla="*/ 39 w 69"/>
                <a:gd name="T15" fmla="*/ 53 h 68"/>
                <a:gd name="T16" fmla="*/ 32 w 69"/>
                <a:gd name="T17" fmla="*/ 2 h 68"/>
                <a:gd name="T18" fmla="*/ 30 w 69"/>
                <a:gd name="T19" fmla="*/ 0 h 68"/>
                <a:gd name="T20" fmla="*/ 28 w 69"/>
                <a:gd name="T21" fmla="*/ 2 h 68"/>
                <a:gd name="T22" fmla="*/ 24 w 69"/>
                <a:gd name="T23" fmla="*/ 35 h 68"/>
                <a:gd name="T24" fmla="*/ 21 w 69"/>
                <a:gd name="T25" fmla="*/ 20 h 68"/>
                <a:gd name="T26" fmla="*/ 20 w 69"/>
                <a:gd name="T27" fmla="*/ 18 h 68"/>
                <a:gd name="T28" fmla="*/ 18 w 69"/>
                <a:gd name="T29" fmla="*/ 19 h 68"/>
                <a:gd name="T30" fmla="*/ 14 w 69"/>
                <a:gd name="T31" fmla="*/ 29 h 68"/>
                <a:gd name="T32" fmla="*/ 2 w 69"/>
                <a:gd name="T33" fmla="*/ 29 h 68"/>
                <a:gd name="T34" fmla="*/ 0 w 69"/>
                <a:gd name="T35" fmla="*/ 31 h 68"/>
                <a:gd name="T36" fmla="*/ 2 w 69"/>
                <a:gd name="T37" fmla="*/ 33 h 68"/>
                <a:gd name="T38" fmla="*/ 15 w 69"/>
                <a:gd name="T39" fmla="*/ 33 h 68"/>
                <a:gd name="T40" fmla="*/ 17 w 69"/>
                <a:gd name="T41" fmla="*/ 31 h 68"/>
                <a:gd name="T42" fmla="*/ 19 w 69"/>
                <a:gd name="T43" fmla="*/ 27 h 68"/>
                <a:gd name="T44" fmla="*/ 22 w 69"/>
                <a:gd name="T45" fmla="*/ 47 h 68"/>
                <a:gd name="T46" fmla="*/ 24 w 69"/>
                <a:gd name="T47" fmla="*/ 49 h 68"/>
                <a:gd name="T48" fmla="*/ 25 w 69"/>
                <a:gd name="T49" fmla="*/ 47 h 68"/>
                <a:gd name="T50" fmla="*/ 25 w 69"/>
                <a:gd name="T51" fmla="*/ 47 h 68"/>
                <a:gd name="T52" fmla="*/ 30 w 69"/>
                <a:gd name="T53" fmla="*/ 15 h 68"/>
                <a:gd name="T54" fmla="*/ 37 w 69"/>
                <a:gd name="T55" fmla="*/ 66 h 68"/>
                <a:gd name="T56" fmla="*/ 39 w 69"/>
                <a:gd name="T57" fmla="*/ 68 h 68"/>
                <a:gd name="T58" fmla="*/ 41 w 69"/>
                <a:gd name="T59" fmla="*/ 66 h 68"/>
                <a:gd name="T60" fmla="*/ 46 w 69"/>
                <a:gd name="T61" fmla="*/ 32 h 68"/>
                <a:gd name="T62" fmla="*/ 48 w 69"/>
                <a:gd name="T63" fmla="*/ 44 h 68"/>
                <a:gd name="T64" fmla="*/ 50 w 69"/>
                <a:gd name="T65" fmla="*/ 45 h 68"/>
                <a:gd name="T66" fmla="*/ 51 w 69"/>
                <a:gd name="T67" fmla="*/ 44 h 68"/>
                <a:gd name="T68" fmla="*/ 51 w 69"/>
                <a:gd name="T69" fmla="*/ 44 h 68"/>
                <a:gd name="T70" fmla="*/ 55 w 69"/>
                <a:gd name="T71" fmla="*/ 33 h 68"/>
                <a:gd name="T72" fmla="*/ 67 w 69"/>
                <a:gd name="T73" fmla="*/ 33 h 68"/>
                <a:gd name="T74" fmla="*/ 69 w 69"/>
                <a:gd name="T75" fmla="*/ 31 h 68"/>
                <a:gd name="T76" fmla="*/ 67 w 69"/>
                <a:gd name="T77" fmla="*/ 29 h 68"/>
                <a:gd name="T78" fmla="*/ 54 w 69"/>
                <a:gd name="T79" fmla="*/ 29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9" h="68">
                  <a:moveTo>
                    <a:pt x="54" y="29"/>
                  </a:moveTo>
                  <a:cubicBezTo>
                    <a:pt x="54" y="29"/>
                    <a:pt x="54" y="29"/>
                    <a:pt x="54" y="29"/>
                  </a:cubicBezTo>
                  <a:cubicBezTo>
                    <a:pt x="53" y="29"/>
                    <a:pt x="53" y="30"/>
                    <a:pt x="52" y="30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0"/>
                    <a:pt x="47" y="19"/>
                    <a:pt x="46" y="19"/>
                  </a:cubicBezTo>
                  <a:cubicBezTo>
                    <a:pt x="45" y="19"/>
                    <a:pt x="44" y="20"/>
                    <a:pt x="44" y="21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1"/>
                    <a:pt x="31" y="1"/>
                    <a:pt x="30" y="0"/>
                  </a:cubicBezTo>
                  <a:cubicBezTo>
                    <a:pt x="29" y="0"/>
                    <a:pt x="28" y="1"/>
                    <a:pt x="28" y="2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8"/>
                    <a:pt x="20" y="18"/>
                  </a:cubicBezTo>
                  <a:cubicBezTo>
                    <a:pt x="19" y="18"/>
                    <a:pt x="18" y="18"/>
                    <a:pt x="18" y="1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1" y="29"/>
                    <a:pt x="0" y="30"/>
                    <a:pt x="0" y="31"/>
                  </a:cubicBezTo>
                  <a:cubicBezTo>
                    <a:pt x="0" y="32"/>
                    <a:pt x="1" y="33"/>
                    <a:pt x="2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7" y="32"/>
                    <a:pt x="17" y="31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8"/>
                    <a:pt x="23" y="49"/>
                    <a:pt x="24" y="49"/>
                  </a:cubicBezTo>
                  <a:cubicBezTo>
                    <a:pt x="25" y="49"/>
                    <a:pt x="25" y="48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7" y="66"/>
                    <a:pt x="37" y="66"/>
                    <a:pt x="37" y="66"/>
                  </a:cubicBezTo>
                  <a:cubicBezTo>
                    <a:pt x="37" y="67"/>
                    <a:pt x="38" y="68"/>
                    <a:pt x="39" y="68"/>
                  </a:cubicBezTo>
                  <a:cubicBezTo>
                    <a:pt x="40" y="67"/>
                    <a:pt x="41" y="67"/>
                    <a:pt x="41" y="66"/>
                  </a:cubicBezTo>
                  <a:cubicBezTo>
                    <a:pt x="46" y="32"/>
                    <a:pt x="46" y="32"/>
                    <a:pt x="46" y="32"/>
                  </a:cubicBezTo>
                  <a:cubicBezTo>
                    <a:pt x="48" y="44"/>
                    <a:pt x="48" y="44"/>
                    <a:pt x="48" y="44"/>
                  </a:cubicBezTo>
                  <a:cubicBezTo>
                    <a:pt x="48" y="45"/>
                    <a:pt x="49" y="46"/>
                    <a:pt x="50" y="45"/>
                  </a:cubicBezTo>
                  <a:cubicBezTo>
                    <a:pt x="51" y="45"/>
                    <a:pt x="51" y="45"/>
                    <a:pt x="51" y="44"/>
                  </a:cubicBezTo>
                  <a:cubicBezTo>
                    <a:pt x="51" y="44"/>
                    <a:pt x="51" y="44"/>
                    <a:pt x="51" y="44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68" y="33"/>
                    <a:pt x="69" y="32"/>
                    <a:pt x="69" y="31"/>
                  </a:cubicBezTo>
                  <a:cubicBezTo>
                    <a:pt x="69" y="30"/>
                    <a:pt x="68" y="29"/>
                    <a:pt x="67" y="29"/>
                  </a:cubicBezTo>
                  <a:lnTo>
                    <a:pt x="54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pic>
        <p:nvPicPr>
          <p:cNvPr id="10" name="图形 9" descr="原子 纯色填充">
            <a:extLst>
              <a:ext uri="{FF2B5EF4-FFF2-40B4-BE49-F238E27FC236}">
                <a16:creationId xmlns:a16="http://schemas.microsoft.com/office/drawing/2014/main" id="{87947F25-FD30-7614-C359-B9629630C7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5027" y="2832173"/>
            <a:ext cx="914400" cy="914400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EC575834-60E7-E02A-9816-8B63767F8578}"/>
              </a:ext>
            </a:extLst>
          </p:cNvPr>
          <p:cNvSpPr txBox="1"/>
          <p:nvPr/>
        </p:nvSpPr>
        <p:spPr>
          <a:xfrm>
            <a:off x="2437006" y="2895973"/>
            <a:ext cx="8450304" cy="1148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1"/>
              </a:lnSpc>
            </a:pPr>
            <a:r>
              <a:rPr lang="zh-CN" altLang="en-US" b="1" dirty="0"/>
              <a:t>文本分类是自然语言处理的重要任务</a:t>
            </a:r>
            <a:br>
              <a:rPr lang="en-US" altLang="zh-CN" b="1" dirty="0"/>
            </a:br>
            <a:r>
              <a:rPr lang="zh-CN" altLang="en-US" dirty="0"/>
              <a:t>面对每天产生的数以亿计的新闻和帖子，依靠人工甄别既耗时又低效，亟需自动化、智能化的识别手段来提升信息审核效率和覆盖范围。</a:t>
            </a:r>
            <a:endParaRPr lang="en-US" sz="1933" spc="37" dirty="0">
              <a:solidFill>
                <a:srgbClr val="666666"/>
              </a:solidFill>
              <a:ea typeface="Arimo"/>
              <a:cs typeface="Arimo"/>
              <a:sym typeface="Arimo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FF3D3D72-0B1D-F53C-24AA-90AC17FDAF1A}"/>
              </a:ext>
            </a:extLst>
          </p:cNvPr>
          <p:cNvSpPr txBox="1"/>
          <p:nvPr/>
        </p:nvSpPr>
        <p:spPr>
          <a:xfrm>
            <a:off x="2437004" y="4384415"/>
            <a:ext cx="8450304" cy="1545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1"/>
              </a:lnSpc>
            </a:pPr>
            <a:r>
              <a:rPr lang="zh-CN" altLang="en-US" b="1" dirty="0"/>
              <a:t>循环神经网络适合建模文本序列数据</a:t>
            </a:r>
            <a:br>
              <a:rPr lang="en-US" altLang="zh-CN" b="1" dirty="0"/>
            </a:br>
            <a:r>
              <a:rPr lang="zh-CN" altLang="en-US" dirty="0"/>
              <a:t>特别是循环神经网络（</a:t>
            </a:r>
            <a:r>
              <a:rPr lang="en-US" altLang="zh-CN" dirty="0"/>
              <a:t>RNN</a:t>
            </a:r>
            <a:r>
              <a:rPr lang="zh-CN" altLang="en-US" dirty="0"/>
              <a:t>）及其改进结构</a:t>
            </a:r>
            <a:r>
              <a:rPr lang="en-US" altLang="zh-CN" dirty="0"/>
              <a:t>LSTM</a:t>
            </a:r>
            <a:r>
              <a:rPr lang="zh-CN" altLang="en-US" dirty="0"/>
              <a:t>，能够有效建模文本中的时序依赖和语义特征，在自然语言处理任务中展现出强大能力，适用于从原始新闻文本中自动学习真假判别规律。</a:t>
            </a:r>
            <a:endParaRPr lang="en-US" sz="1933" spc="37" dirty="0">
              <a:solidFill>
                <a:srgbClr val="666666"/>
              </a:solidFill>
              <a:ea typeface="Arimo"/>
              <a:cs typeface="Arimo"/>
              <a:sym typeface="Arimo"/>
            </a:endParaRPr>
          </a:p>
        </p:txBody>
      </p:sp>
      <p:sp>
        <p:nvSpPr>
          <p:cNvPr id="6" name="Freeform 11" descr="preencoded.png">
            <a:extLst>
              <a:ext uri="{FF2B5EF4-FFF2-40B4-BE49-F238E27FC236}">
                <a16:creationId xmlns:a16="http://schemas.microsoft.com/office/drawing/2014/main" id="{51D663DB-6F95-C0C7-5B24-6ABF94FD50C2}"/>
              </a:ext>
            </a:extLst>
          </p:cNvPr>
          <p:cNvSpPr/>
          <p:nvPr/>
        </p:nvSpPr>
        <p:spPr>
          <a:xfrm>
            <a:off x="1412175" y="4384415"/>
            <a:ext cx="874911" cy="839090"/>
          </a:xfrm>
          <a:custGeom>
            <a:avLst/>
            <a:gdLst/>
            <a:ahLst/>
            <a:cxnLst/>
            <a:rect l="l" t="t" r="r" b="b"/>
            <a:pathLst>
              <a:path w="1526900" h="1526900">
                <a:moveTo>
                  <a:pt x="0" y="0"/>
                </a:moveTo>
                <a:lnTo>
                  <a:pt x="1526900" y="0"/>
                </a:lnTo>
                <a:lnTo>
                  <a:pt x="1526900" y="1526900"/>
                </a:lnTo>
                <a:lnTo>
                  <a:pt x="0" y="1526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5C813A-BF1D-9404-5063-5561B959B4FF}"/>
              </a:ext>
            </a:extLst>
          </p:cNvPr>
          <p:cNvSpPr txBox="1"/>
          <p:nvPr/>
        </p:nvSpPr>
        <p:spPr>
          <a:xfrm>
            <a:off x="2437007" y="1440844"/>
            <a:ext cx="8450303" cy="1148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1"/>
              </a:lnSpc>
            </a:pPr>
            <a:r>
              <a:rPr lang="zh-CN" altLang="en-US" b="1" dirty="0"/>
              <a:t>假新闻在社交媒体中传播迅速，影响社会稳定</a:t>
            </a:r>
            <a:br>
              <a:rPr lang="en-US" altLang="zh-CN" b="1" dirty="0"/>
            </a:br>
            <a:r>
              <a:rPr lang="zh-CN" altLang="en-US" dirty="0"/>
              <a:t>随着社交媒体和自媒体平台的迅猛发展，虚假信息得以在短时间内大规模传播，不仅误导公众认知，还可能引发社会恐慌、政治动荡甚至经济损失。</a:t>
            </a:r>
          </a:p>
        </p:txBody>
      </p:sp>
    </p:spTree>
    <p:extLst>
      <p:ext uri="{BB962C8B-B14F-4D97-AF65-F5344CB8AC3E}">
        <p14:creationId xmlns:p14="http://schemas.microsoft.com/office/powerpoint/2010/main" val="2875223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ED506-B637-B6E7-FCE9-76C07090B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A29ED01-43DA-D954-4F91-E92185356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6" t="79044" r="53519"/>
          <a:stretch>
            <a:fillRect/>
          </a:stretch>
        </p:blipFill>
        <p:spPr>
          <a:xfrm rot="20147618">
            <a:off x="-483871" y="-795874"/>
            <a:ext cx="4884403" cy="2080299"/>
          </a:xfrm>
          <a:custGeom>
            <a:avLst/>
            <a:gdLst>
              <a:gd name="connsiteX0" fmla="*/ 957211 w 6228785"/>
              <a:gd name="connsiteY0" fmla="*/ 0 h 2652880"/>
              <a:gd name="connsiteX1" fmla="*/ 5857672 w 6228785"/>
              <a:gd name="connsiteY1" fmla="*/ 2203009 h 2652880"/>
              <a:gd name="connsiteX2" fmla="*/ 6228785 w 6228785"/>
              <a:gd name="connsiteY2" fmla="*/ 2652880 h 2652880"/>
              <a:gd name="connsiteX3" fmla="*/ 1164771 w 6228785"/>
              <a:gd name="connsiteY3" fmla="*/ 2652880 h 2652880"/>
              <a:gd name="connsiteX4" fmla="*/ 0 w 6228785"/>
              <a:gd name="connsiteY4" fmla="*/ 2129256 h 2652880"/>
              <a:gd name="connsiteX5" fmla="*/ 957211 w 6228785"/>
              <a:gd name="connsiteY5" fmla="*/ 0 h 265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28785" h="2652880">
                <a:moveTo>
                  <a:pt x="957211" y="0"/>
                </a:moveTo>
                <a:lnTo>
                  <a:pt x="5857672" y="2203009"/>
                </a:lnTo>
                <a:lnTo>
                  <a:pt x="6228785" y="2652880"/>
                </a:lnTo>
                <a:lnTo>
                  <a:pt x="1164771" y="2652880"/>
                </a:lnTo>
                <a:lnTo>
                  <a:pt x="0" y="2129256"/>
                </a:lnTo>
                <a:lnTo>
                  <a:pt x="957211" y="0"/>
                </a:lnTo>
                <a:close/>
              </a:path>
            </a:pathLst>
          </a:custGeom>
          <a:ln>
            <a:noFill/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A624B45-BA09-9284-924D-A3B0AFEA9828}"/>
              </a:ext>
            </a:extLst>
          </p:cNvPr>
          <p:cNvSpPr txBox="1"/>
          <p:nvPr/>
        </p:nvSpPr>
        <p:spPr>
          <a:xfrm>
            <a:off x="395785" y="436730"/>
            <a:ext cx="643318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200"/>
              </a:lnSpc>
            </a:pPr>
            <a:r>
              <a:rPr lang="zh-CN" altLang="en-US" sz="2800" b="1" spc="59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问题定义与任务目标</a:t>
            </a:r>
            <a:endParaRPr lang="en-US" altLang="zh-CN" sz="2800" b="1" spc="59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BEB70D-FAAB-0EA0-0E11-14D0F23CCAC4}"/>
              </a:ext>
            </a:extLst>
          </p:cNvPr>
          <p:cNvSpPr txBox="1"/>
          <p:nvPr/>
        </p:nvSpPr>
        <p:spPr>
          <a:xfrm>
            <a:off x="1207363" y="1418834"/>
            <a:ext cx="415179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000" dirty="0">
                <a:latin typeface="+mn-ea"/>
              </a:rPr>
              <a:t>输入：英文新闻文本</a:t>
            </a:r>
            <a:endParaRPr lang="en-US" altLang="zh-CN" sz="2000" dirty="0">
              <a:latin typeface="+mn-ea"/>
            </a:endParaRPr>
          </a:p>
          <a:p>
            <a:pPr marL="0" indent="0">
              <a:buNone/>
            </a:pPr>
            <a:endParaRPr lang="zh-CN" altLang="en-US" sz="2000" dirty="0">
              <a:latin typeface="+mn-ea"/>
            </a:endParaRPr>
          </a:p>
          <a:p>
            <a:pPr marL="0" indent="0">
              <a:buNone/>
            </a:pPr>
            <a:r>
              <a:rPr lang="zh-CN" altLang="en-US" sz="2000" dirty="0">
                <a:latin typeface="+mn-ea"/>
              </a:rPr>
              <a:t>输出：真假新闻（二分类）</a:t>
            </a:r>
            <a:endParaRPr lang="en-US" altLang="zh-CN" sz="2000" dirty="0">
              <a:latin typeface="+mn-ea"/>
            </a:endParaRPr>
          </a:p>
          <a:p>
            <a:pPr marL="0" indent="0">
              <a:buNone/>
            </a:pPr>
            <a:endParaRPr lang="zh-CN" altLang="en-US" sz="2000" dirty="0">
              <a:latin typeface="+mn-ea"/>
            </a:endParaRPr>
          </a:p>
          <a:p>
            <a:pPr marL="0" indent="0">
              <a:buNone/>
            </a:pPr>
            <a:r>
              <a:rPr lang="zh-CN" altLang="en-US" sz="2000" dirty="0">
                <a:latin typeface="+mn-ea"/>
              </a:rPr>
              <a:t>标签：假新闻</a:t>
            </a:r>
            <a:r>
              <a:rPr lang="en-US" altLang="zh-CN" sz="2000" dirty="0">
                <a:latin typeface="+mn-ea"/>
              </a:rPr>
              <a:t>=0</a:t>
            </a:r>
            <a:r>
              <a:rPr lang="zh-CN" altLang="en-US" sz="2000" dirty="0">
                <a:latin typeface="+mn-ea"/>
              </a:rPr>
              <a:t>，真实新闻</a:t>
            </a:r>
            <a:r>
              <a:rPr lang="en-US" altLang="zh-CN" sz="2000" dirty="0">
                <a:latin typeface="+mn-ea"/>
              </a:rPr>
              <a:t>=1</a:t>
            </a:r>
          </a:p>
          <a:p>
            <a:pPr marL="0" indent="0">
              <a:buNone/>
            </a:pPr>
            <a:endParaRPr lang="en-US" altLang="zh-CN" sz="2000" dirty="0">
              <a:latin typeface="+mn-ea"/>
            </a:endParaRPr>
          </a:p>
          <a:p>
            <a:pPr marL="0" indent="0">
              <a:buNone/>
            </a:pPr>
            <a:r>
              <a:rPr lang="zh-CN" altLang="en-US" sz="2000" dirty="0">
                <a:latin typeface="+mn-ea"/>
              </a:rPr>
              <a:t>评估指标：</a:t>
            </a:r>
            <a:r>
              <a:rPr lang="en-US" altLang="zh-CN" sz="2000" dirty="0">
                <a:latin typeface="+mn-ea"/>
              </a:rPr>
              <a:t>Accuracy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9701326-4452-FFD6-008C-0817ABB23816}"/>
              </a:ext>
            </a:extLst>
          </p:cNvPr>
          <p:cNvSpPr/>
          <p:nvPr/>
        </p:nvSpPr>
        <p:spPr>
          <a:xfrm>
            <a:off x="1768580" y="4127861"/>
            <a:ext cx="1140822" cy="18200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英文新闻文本</a:t>
            </a:r>
            <a:endParaRPr lang="en-US" altLang="zh-CN" sz="2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625C00CE-87FA-F9ED-1B20-1C11532F083F}"/>
              </a:ext>
            </a:extLst>
          </p:cNvPr>
          <p:cNvSpPr/>
          <p:nvPr/>
        </p:nvSpPr>
        <p:spPr>
          <a:xfrm>
            <a:off x="3168112" y="4652059"/>
            <a:ext cx="1397726" cy="6077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2EDA898-CB75-A846-C972-0F1B5A94E41D}"/>
              </a:ext>
            </a:extLst>
          </p:cNvPr>
          <p:cNvSpPr/>
          <p:nvPr/>
        </p:nvSpPr>
        <p:spPr>
          <a:xfrm>
            <a:off x="4824548" y="4440648"/>
            <a:ext cx="2008808" cy="11945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+mn-ea"/>
              </a:rPr>
              <a:t>假新闻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=0</a:t>
            </a:r>
          </a:p>
          <a:p>
            <a:pPr algn="ctr"/>
            <a:r>
              <a:rPr lang="zh-CN" altLang="en-US" b="1" dirty="0">
                <a:solidFill>
                  <a:schemeClr val="tx1"/>
                </a:solidFill>
                <a:latin typeface="+mn-ea"/>
              </a:rPr>
              <a:t>真实新闻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=1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0D94751-C628-03F1-BA34-413314AF8658}"/>
              </a:ext>
            </a:extLst>
          </p:cNvPr>
          <p:cNvSpPr/>
          <p:nvPr/>
        </p:nvSpPr>
        <p:spPr>
          <a:xfrm>
            <a:off x="8643258" y="4127861"/>
            <a:ext cx="1098761" cy="18200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真假新闻</a:t>
            </a:r>
            <a:endParaRPr lang="zh-CN" altLang="en-US" dirty="0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3FBB4601-702B-697F-D2F6-F570DED810E7}"/>
              </a:ext>
            </a:extLst>
          </p:cNvPr>
          <p:cNvSpPr/>
          <p:nvPr/>
        </p:nvSpPr>
        <p:spPr>
          <a:xfrm>
            <a:off x="7039444" y="4686129"/>
            <a:ext cx="1397726" cy="6077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C28C78-CD63-32D7-1E5E-CC3B0D83D9E6}"/>
              </a:ext>
            </a:extLst>
          </p:cNvPr>
          <p:cNvSpPr txBox="1"/>
          <p:nvPr/>
        </p:nvSpPr>
        <p:spPr>
          <a:xfrm>
            <a:off x="8702737" y="5574928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(</a:t>
            </a:r>
            <a:r>
              <a:rPr lang="zh-CN" altLang="en-US" b="1" dirty="0"/>
              <a:t>二分类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pic>
        <p:nvPicPr>
          <p:cNvPr id="3074" name="图片 2" descr="1649818100(1)">
            <a:extLst>
              <a:ext uri="{FF2B5EF4-FFF2-40B4-BE49-F238E27FC236}">
                <a16:creationId xmlns:a16="http://schemas.microsoft.com/office/drawing/2014/main" id="{5E583555-1F7E-E718-73EC-A51222811B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673"/>
          <a:stretch>
            <a:fillRect/>
          </a:stretch>
        </p:blipFill>
        <p:spPr bwMode="auto">
          <a:xfrm>
            <a:off x="5359153" y="1418834"/>
            <a:ext cx="6598800" cy="1820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685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35368-13E0-C0BA-60B2-5E9CE6EA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F3ED98F-E786-09E1-4604-79C27A757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89" r="53519"/>
          <a:stretch>
            <a:fillRect/>
          </a:stretch>
        </p:blipFill>
        <p:spPr>
          <a:xfrm rot="18571216">
            <a:off x="-830670" y="-1570681"/>
            <a:ext cx="6555461" cy="4989057"/>
          </a:xfrm>
          <a:custGeom>
            <a:avLst/>
            <a:gdLst>
              <a:gd name="connsiteX0" fmla="*/ 1605325 w 4313260"/>
              <a:gd name="connsiteY0" fmla="*/ 0 h 3282622"/>
              <a:gd name="connsiteX1" fmla="*/ 4313260 w 4313260"/>
              <a:gd name="connsiteY1" fmla="*/ 3282622 h 3282622"/>
              <a:gd name="connsiteX2" fmla="*/ 0 w 4313260"/>
              <a:gd name="connsiteY2" fmla="*/ 3282622 h 3282622"/>
              <a:gd name="connsiteX3" fmla="*/ 0 w 4313260"/>
              <a:gd name="connsiteY3" fmla="*/ 1324281 h 3282622"/>
              <a:gd name="connsiteX4" fmla="*/ 1605325 w 4313260"/>
              <a:gd name="connsiteY4" fmla="*/ 0 h 3282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3260" h="3282622">
                <a:moveTo>
                  <a:pt x="1605325" y="0"/>
                </a:moveTo>
                <a:lnTo>
                  <a:pt x="4313260" y="3282622"/>
                </a:lnTo>
                <a:lnTo>
                  <a:pt x="0" y="3282622"/>
                </a:lnTo>
                <a:lnTo>
                  <a:pt x="0" y="1324281"/>
                </a:lnTo>
                <a:lnTo>
                  <a:pt x="1605325" y="0"/>
                </a:lnTo>
                <a:close/>
              </a:path>
            </a:pathLst>
          </a:cu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8299393-813C-A9F7-5EE7-45B0F8C43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06" r="40353"/>
          <a:stretch>
            <a:fillRect/>
          </a:stretch>
        </p:blipFill>
        <p:spPr>
          <a:xfrm rot="8195221">
            <a:off x="6015934" y="3502426"/>
            <a:ext cx="7957079" cy="4585384"/>
          </a:xfrm>
          <a:custGeom>
            <a:avLst/>
            <a:gdLst>
              <a:gd name="connsiteX0" fmla="*/ 0 w 5125566"/>
              <a:gd name="connsiteY0" fmla="*/ 2953683 h 2953683"/>
              <a:gd name="connsiteX1" fmla="*/ 0 w 5125566"/>
              <a:gd name="connsiteY1" fmla="*/ 2117735 h 2953683"/>
              <a:gd name="connsiteX2" fmla="*/ 2003551 w 5125566"/>
              <a:gd name="connsiteY2" fmla="*/ 0 h 2953683"/>
              <a:gd name="connsiteX3" fmla="*/ 5125566 w 5125566"/>
              <a:gd name="connsiteY3" fmla="*/ 2953683 h 2953683"/>
              <a:gd name="connsiteX4" fmla="*/ 0 w 5125566"/>
              <a:gd name="connsiteY4" fmla="*/ 2953683 h 2953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5566" h="2953683">
                <a:moveTo>
                  <a:pt x="0" y="2953683"/>
                </a:moveTo>
                <a:lnTo>
                  <a:pt x="0" y="2117735"/>
                </a:lnTo>
                <a:lnTo>
                  <a:pt x="2003551" y="0"/>
                </a:lnTo>
                <a:lnTo>
                  <a:pt x="5125566" y="2953683"/>
                </a:lnTo>
                <a:lnTo>
                  <a:pt x="0" y="2953683"/>
                </a:lnTo>
                <a:close/>
              </a:path>
            </a:pathLst>
          </a:cu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B612617-31D2-35A9-9A01-D1402ADB03DA}"/>
              </a:ext>
            </a:extLst>
          </p:cNvPr>
          <p:cNvSpPr txBox="1"/>
          <p:nvPr/>
        </p:nvSpPr>
        <p:spPr>
          <a:xfrm>
            <a:off x="3303143" y="3396958"/>
            <a:ext cx="5585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00000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ea typeface="方正兰亭粗黑简体" panose="02000000000000000000" pitchFamily="2" charset="-122"/>
              </a:rPr>
              <a:t>数 据 与 预 处 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52E5A4-8942-A680-29A1-D98879770D51}"/>
              </a:ext>
            </a:extLst>
          </p:cNvPr>
          <p:cNvSpPr txBox="1"/>
          <p:nvPr/>
        </p:nvSpPr>
        <p:spPr>
          <a:xfrm>
            <a:off x="5353094" y="2138920"/>
            <a:ext cx="14858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dirty="0">
                <a:solidFill>
                  <a:srgbClr val="000000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02</a:t>
            </a:r>
            <a:endParaRPr lang="zh-CN" altLang="en-US" sz="8000" b="1" dirty="0">
              <a:solidFill>
                <a:srgbClr val="000000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969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A80EE-94E3-E8EA-246F-D5B987AEE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42E9CED-D929-7458-5054-FDD35A543F12}"/>
              </a:ext>
            </a:extLst>
          </p:cNvPr>
          <p:cNvGrpSpPr/>
          <p:nvPr/>
        </p:nvGrpSpPr>
        <p:grpSpPr>
          <a:xfrm>
            <a:off x="-483871" y="-795874"/>
            <a:ext cx="7130855" cy="2080299"/>
            <a:chOff x="-483871" y="-795874"/>
            <a:chExt cx="7130855" cy="2080299"/>
          </a:xfrm>
        </p:grpSpPr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5BF9FD84-3D29-5D52-24B3-A2D47F9AA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6" t="79044" r="53519"/>
            <a:stretch>
              <a:fillRect/>
            </a:stretch>
          </p:blipFill>
          <p:spPr>
            <a:xfrm rot="20147618">
              <a:off x="-483871" y="-795874"/>
              <a:ext cx="4884403" cy="2080299"/>
            </a:xfrm>
            <a:custGeom>
              <a:avLst/>
              <a:gdLst>
                <a:gd name="connsiteX0" fmla="*/ 957211 w 6228785"/>
                <a:gd name="connsiteY0" fmla="*/ 0 h 2652880"/>
                <a:gd name="connsiteX1" fmla="*/ 5857672 w 6228785"/>
                <a:gd name="connsiteY1" fmla="*/ 2203009 h 2652880"/>
                <a:gd name="connsiteX2" fmla="*/ 6228785 w 6228785"/>
                <a:gd name="connsiteY2" fmla="*/ 2652880 h 2652880"/>
                <a:gd name="connsiteX3" fmla="*/ 1164771 w 6228785"/>
                <a:gd name="connsiteY3" fmla="*/ 2652880 h 2652880"/>
                <a:gd name="connsiteX4" fmla="*/ 0 w 6228785"/>
                <a:gd name="connsiteY4" fmla="*/ 2129256 h 2652880"/>
                <a:gd name="connsiteX5" fmla="*/ 957211 w 6228785"/>
                <a:gd name="connsiteY5" fmla="*/ 0 h 265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28785" h="2652880">
                  <a:moveTo>
                    <a:pt x="957211" y="0"/>
                  </a:moveTo>
                  <a:lnTo>
                    <a:pt x="5857672" y="2203009"/>
                  </a:lnTo>
                  <a:lnTo>
                    <a:pt x="6228785" y="2652880"/>
                  </a:lnTo>
                  <a:lnTo>
                    <a:pt x="1164771" y="2652880"/>
                  </a:lnTo>
                  <a:lnTo>
                    <a:pt x="0" y="2129256"/>
                  </a:lnTo>
                  <a:lnTo>
                    <a:pt x="957211" y="0"/>
                  </a:lnTo>
                  <a:close/>
                </a:path>
              </a:pathLst>
            </a:custGeom>
            <a:ln>
              <a:noFill/>
            </a:ln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DF08C64C-E3F4-423D-B292-8235CA683C1D}"/>
                </a:ext>
              </a:extLst>
            </p:cNvPr>
            <p:cNvSpPr txBox="1"/>
            <p:nvPr/>
          </p:nvSpPr>
          <p:spPr>
            <a:xfrm>
              <a:off x="395785" y="436730"/>
              <a:ext cx="6251199" cy="5885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zh-CN" altLang="en-US" sz="2800" b="1" spc="59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数据集介绍</a:t>
              </a:r>
              <a:endPara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6218F75D-0AB9-5BFC-9164-B5AA8542AC52}"/>
              </a:ext>
            </a:extLst>
          </p:cNvPr>
          <p:cNvSpPr txBox="1"/>
          <p:nvPr/>
        </p:nvSpPr>
        <p:spPr>
          <a:xfrm>
            <a:off x="582381" y="1560347"/>
            <a:ext cx="5387491" cy="435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7B6FAC-D5D0-AD57-55DB-F9CDAD13A64E}"/>
              </a:ext>
            </a:extLst>
          </p:cNvPr>
          <p:cNvSpPr txBox="1"/>
          <p:nvPr/>
        </p:nvSpPr>
        <p:spPr>
          <a:xfrm>
            <a:off x="1027156" y="1252829"/>
            <a:ext cx="460248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sz="2000" b="1" i="0" dirty="0">
                <a:solidFill>
                  <a:srgbClr val="111133"/>
                </a:solidFill>
                <a:effectLst/>
                <a:latin typeface="-apple-system"/>
              </a:rPr>
              <a:t>假新闻检测数据集</a:t>
            </a:r>
            <a:br>
              <a:rPr lang="en-US" altLang="zh-CN" sz="2000" b="1" i="0" dirty="0">
                <a:solidFill>
                  <a:srgbClr val="111133"/>
                </a:solidFill>
                <a:effectLst/>
                <a:latin typeface="-apple-system"/>
              </a:rPr>
            </a:br>
            <a:r>
              <a:rPr lang="en-US" altLang="zh-CN" dirty="0"/>
              <a:t>Kaggle Fake and Real News Dataset</a:t>
            </a:r>
            <a:endParaRPr lang="en-US" altLang="zh-CN" b="1" i="0" dirty="0">
              <a:solidFill>
                <a:srgbClr val="111133"/>
              </a:solidFill>
              <a:effectLst/>
              <a:latin typeface="-apple-system"/>
            </a:endParaRPr>
          </a:p>
          <a:p>
            <a:pPr algn="l">
              <a:lnSpc>
                <a:spcPts val="2100"/>
              </a:lnSpc>
              <a:buNone/>
            </a:pPr>
            <a:endParaRPr lang="en-US" altLang="zh-CN" dirty="0">
              <a:solidFill>
                <a:srgbClr val="111133"/>
              </a:solidFill>
              <a:latin typeface="-apple-system"/>
            </a:endParaRPr>
          </a:p>
          <a:p>
            <a:pPr>
              <a:lnSpc>
                <a:spcPts val="2100"/>
              </a:lnSpc>
            </a:pPr>
            <a:r>
              <a:rPr lang="zh-CN" altLang="en-US" dirty="0">
                <a:solidFill>
                  <a:srgbClr val="111133"/>
                </a:solidFill>
                <a:latin typeface="-apple-system"/>
              </a:rPr>
              <a:t>数据类型：</a:t>
            </a:r>
            <a:endParaRPr lang="en-US" altLang="zh-CN" dirty="0">
              <a:solidFill>
                <a:srgbClr val="111133"/>
              </a:solidFill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111133"/>
                </a:solidFill>
                <a:latin typeface="-apple-system"/>
              </a:rPr>
              <a:t>英文新闻正文</a:t>
            </a:r>
            <a:br>
              <a:rPr lang="en-US" altLang="zh-CN" b="0" i="0" dirty="0">
                <a:solidFill>
                  <a:srgbClr val="111133"/>
                </a:solidFill>
                <a:effectLst/>
                <a:latin typeface="-apple-system"/>
              </a:rPr>
            </a:br>
            <a:endParaRPr lang="zh-CN" altLang="en-US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algn="l">
              <a:lnSpc>
                <a:spcPts val="2100"/>
              </a:lnSpc>
              <a:buNone/>
            </a:pP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该数据集分为两个文件：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111133"/>
                </a:solidFill>
                <a:effectLst/>
                <a:latin typeface="-apple-system"/>
              </a:rPr>
              <a:t>Fake.csv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（包含 </a:t>
            </a:r>
            <a:r>
              <a:rPr lang="en-US" altLang="zh-CN" b="0" i="0" dirty="0">
                <a:solidFill>
                  <a:srgbClr val="111133"/>
                </a:solidFill>
                <a:effectLst/>
                <a:latin typeface="-apple-system"/>
              </a:rPr>
              <a:t>23,502 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条假新闻文章）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111133"/>
                </a:solidFill>
                <a:effectLst/>
                <a:latin typeface="-apple-system"/>
              </a:rPr>
              <a:t>True.csv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（包含 </a:t>
            </a:r>
            <a:r>
              <a:rPr lang="en-US" altLang="zh-CN" b="0" i="0" dirty="0">
                <a:solidFill>
                  <a:srgbClr val="111133"/>
                </a:solidFill>
                <a:effectLst/>
                <a:latin typeface="-apple-system"/>
              </a:rPr>
              <a:t>21,417 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条真实新闻文章）</a:t>
            </a:r>
            <a:br>
              <a:rPr lang="en-US" altLang="zh-CN" b="0" i="0" dirty="0">
                <a:solidFill>
                  <a:srgbClr val="111133"/>
                </a:solidFill>
                <a:effectLst/>
                <a:latin typeface="-apple-system"/>
              </a:rPr>
            </a:br>
            <a:endParaRPr lang="zh-CN" altLang="en-US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algn="l">
              <a:lnSpc>
                <a:spcPts val="2100"/>
              </a:lnSpc>
              <a:buNone/>
            </a:pP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数据集包含以下列：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111133"/>
                </a:solidFill>
                <a:effectLst/>
                <a:latin typeface="-apple-system"/>
              </a:rPr>
              <a:t>Title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：新闻文章的标题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111133"/>
                </a:solidFill>
                <a:effectLst/>
                <a:latin typeface="-apple-system"/>
              </a:rPr>
              <a:t>Text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：新闻文章的正文内容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111133"/>
                </a:solidFill>
                <a:effectLst/>
                <a:latin typeface="-apple-system"/>
              </a:rPr>
              <a:t>Subject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：新闻文章的主题</a:t>
            </a:r>
            <a:endParaRPr lang="en-US" altLang="zh-CN" b="0" i="0" dirty="0">
              <a:solidFill>
                <a:srgbClr val="111133"/>
              </a:solidFill>
              <a:effectLst/>
              <a:latin typeface="-apple-system"/>
            </a:endParaRP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111133"/>
                </a:solidFill>
                <a:effectLst/>
                <a:latin typeface="-apple-system"/>
              </a:rPr>
              <a:t>Date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：新闻文章的发布日期</a:t>
            </a:r>
            <a:endParaRPr lang="en-US" altLang="zh-CN" b="0" i="0" dirty="0">
              <a:solidFill>
                <a:srgbClr val="111133"/>
              </a:solidFill>
              <a:effectLst/>
              <a:latin typeface="-apple-system"/>
            </a:endParaRPr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F538E5B1-0D09-1682-D9CD-95708B1C5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603" y="1366040"/>
            <a:ext cx="5029200" cy="93345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94E6B41-7B4A-7814-B148-8D168D74B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603" y="3274422"/>
            <a:ext cx="4980689" cy="250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849665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18A5E-0861-3611-5BB1-26B27839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CDF9987-7581-586C-4580-927D920D6C35}"/>
              </a:ext>
            </a:extLst>
          </p:cNvPr>
          <p:cNvGrpSpPr/>
          <p:nvPr/>
        </p:nvGrpSpPr>
        <p:grpSpPr>
          <a:xfrm>
            <a:off x="-483871" y="-795874"/>
            <a:ext cx="7130855" cy="2080299"/>
            <a:chOff x="-483871" y="-795874"/>
            <a:chExt cx="7130855" cy="2080299"/>
          </a:xfrm>
        </p:grpSpPr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B519CB42-B98F-6B0C-FB01-7D49C81CE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6" t="79044" r="53519"/>
            <a:stretch>
              <a:fillRect/>
            </a:stretch>
          </p:blipFill>
          <p:spPr>
            <a:xfrm rot="20147618">
              <a:off x="-483871" y="-795874"/>
              <a:ext cx="4884403" cy="2080299"/>
            </a:xfrm>
            <a:custGeom>
              <a:avLst/>
              <a:gdLst>
                <a:gd name="connsiteX0" fmla="*/ 957211 w 6228785"/>
                <a:gd name="connsiteY0" fmla="*/ 0 h 2652880"/>
                <a:gd name="connsiteX1" fmla="*/ 5857672 w 6228785"/>
                <a:gd name="connsiteY1" fmla="*/ 2203009 h 2652880"/>
                <a:gd name="connsiteX2" fmla="*/ 6228785 w 6228785"/>
                <a:gd name="connsiteY2" fmla="*/ 2652880 h 2652880"/>
                <a:gd name="connsiteX3" fmla="*/ 1164771 w 6228785"/>
                <a:gd name="connsiteY3" fmla="*/ 2652880 h 2652880"/>
                <a:gd name="connsiteX4" fmla="*/ 0 w 6228785"/>
                <a:gd name="connsiteY4" fmla="*/ 2129256 h 2652880"/>
                <a:gd name="connsiteX5" fmla="*/ 957211 w 6228785"/>
                <a:gd name="connsiteY5" fmla="*/ 0 h 265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28785" h="2652880">
                  <a:moveTo>
                    <a:pt x="957211" y="0"/>
                  </a:moveTo>
                  <a:lnTo>
                    <a:pt x="5857672" y="2203009"/>
                  </a:lnTo>
                  <a:lnTo>
                    <a:pt x="6228785" y="2652880"/>
                  </a:lnTo>
                  <a:lnTo>
                    <a:pt x="1164771" y="2652880"/>
                  </a:lnTo>
                  <a:lnTo>
                    <a:pt x="0" y="2129256"/>
                  </a:lnTo>
                  <a:lnTo>
                    <a:pt x="957211" y="0"/>
                  </a:lnTo>
                  <a:close/>
                </a:path>
              </a:pathLst>
            </a:custGeom>
            <a:ln>
              <a:noFill/>
            </a:ln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DE6953F-35D5-82E2-20FC-05344081EE5B}"/>
                </a:ext>
              </a:extLst>
            </p:cNvPr>
            <p:cNvSpPr txBox="1"/>
            <p:nvPr/>
          </p:nvSpPr>
          <p:spPr>
            <a:xfrm>
              <a:off x="395785" y="436730"/>
              <a:ext cx="6251199" cy="5885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zh-CN" altLang="en-US" sz="2800" b="1" spc="59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数据预处理</a:t>
              </a:r>
              <a:endPara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1CAF751E-E36C-A282-A567-CD4AF1326306}"/>
              </a:ext>
            </a:extLst>
          </p:cNvPr>
          <p:cNvSpPr txBox="1"/>
          <p:nvPr/>
        </p:nvSpPr>
        <p:spPr>
          <a:xfrm>
            <a:off x="4876799" y="2711064"/>
            <a:ext cx="2438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dirty="0"/>
              <a:t>Tokenizer + Padding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EA42E8C-0F99-8E77-0F96-C7301550DC77}"/>
              </a:ext>
            </a:extLst>
          </p:cNvPr>
          <p:cNvSpPr txBox="1"/>
          <p:nvPr/>
        </p:nvSpPr>
        <p:spPr>
          <a:xfrm>
            <a:off x="9300075" y="2722517"/>
            <a:ext cx="2590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dirty="0"/>
              <a:t>训练集 </a:t>
            </a:r>
            <a:r>
              <a:rPr lang="en-US" altLang="zh-CN" dirty="0"/>
              <a:t>: </a:t>
            </a:r>
            <a:r>
              <a:rPr lang="zh-CN" altLang="en-US" dirty="0"/>
              <a:t>测试集 </a:t>
            </a:r>
            <a:r>
              <a:rPr lang="en-US" altLang="zh-CN" dirty="0"/>
              <a:t>= 8 : 2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B868C01-5C91-07E7-5D88-6BFE4D950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62" y="3361775"/>
            <a:ext cx="3875299" cy="2576316"/>
          </a:xfrm>
          <a:prstGeom prst="rect">
            <a:avLst/>
          </a:prstGeom>
        </p:spPr>
      </p:pic>
      <p:sp>
        <p:nvSpPr>
          <p:cNvPr id="12" name="TextBox 8">
            <a:extLst>
              <a:ext uri="{FF2B5EF4-FFF2-40B4-BE49-F238E27FC236}">
                <a16:creationId xmlns:a16="http://schemas.microsoft.com/office/drawing/2014/main" id="{BAA069B1-C9D9-C34E-9F58-C3A9A89A30F6}"/>
              </a:ext>
            </a:extLst>
          </p:cNvPr>
          <p:cNvSpPr txBox="1"/>
          <p:nvPr/>
        </p:nvSpPr>
        <p:spPr>
          <a:xfrm>
            <a:off x="395785" y="1698199"/>
            <a:ext cx="3258399" cy="371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</a:pPr>
            <a:r>
              <a:rPr lang="zh-CN" altLang="en-US" sz="2400" b="1" dirty="0"/>
              <a:t>文本清洗</a:t>
            </a:r>
            <a:endParaRPr lang="zh-CN" altLang="en-US" sz="2400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190A282-6275-CAF5-CE07-70B7B0303294}"/>
              </a:ext>
            </a:extLst>
          </p:cNvPr>
          <p:cNvGrpSpPr/>
          <p:nvPr/>
        </p:nvGrpSpPr>
        <p:grpSpPr>
          <a:xfrm>
            <a:off x="1958330" y="2277985"/>
            <a:ext cx="8721488" cy="154461"/>
            <a:chOff x="2164550" y="3257070"/>
            <a:chExt cx="7551316" cy="150231"/>
          </a:xfrm>
        </p:grpSpPr>
        <p:grpSp>
          <p:nvGrpSpPr>
            <p:cNvPr id="15" name="Group 7">
              <a:extLst>
                <a:ext uri="{FF2B5EF4-FFF2-40B4-BE49-F238E27FC236}">
                  <a16:creationId xmlns:a16="http://schemas.microsoft.com/office/drawing/2014/main" id="{28946AEF-5FB8-7B93-BFF3-B78E4385956C}"/>
                </a:ext>
              </a:extLst>
            </p:cNvPr>
            <p:cNvGrpSpPr/>
            <p:nvPr/>
          </p:nvGrpSpPr>
          <p:grpSpPr>
            <a:xfrm>
              <a:off x="2181967" y="3309746"/>
              <a:ext cx="7460873" cy="45719"/>
              <a:chOff x="2941534" y="-35308"/>
              <a:chExt cx="14921746" cy="91438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625DD3EE-2F89-24C8-9D06-6DE35CC355B7}"/>
                  </a:ext>
                </a:extLst>
              </p:cNvPr>
              <p:cNvSpPr/>
              <p:nvPr/>
            </p:nvSpPr>
            <p:spPr>
              <a:xfrm>
                <a:off x="2941534" y="-35308"/>
                <a:ext cx="14921746" cy="91438"/>
              </a:xfrm>
              <a:custGeom>
                <a:avLst/>
                <a:gdLst/>
                <a:ahLst/>
                <a:cxnLst/>
                <a:rect l="l" t="t" r="r" b="b"/>
                <a:pathLst>
                  <a:path w="21336000" h="508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50800"/>
                    </a:lnTo>
                    <a:lnTo>
                      <a:pt x="0" y="50800"/>
                    </a:lnTo>
                    <a:close/>
                  </a:path>
                </a:pathLst>
              </a:custGeom>
              <a:solidFill>
                <a:srgbClr val="4784CB"/>
              </a:solidFill>
            </p:spPr>
          </p:sp>
        </p:grpSp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373556B4-33F8-B778-BC08-651BE164BC0B}"/>
                </a:ext>
              </a:extLst>
            </p:cNvPr>
            <p:cNvGrpSpPr/>
            <p:nvPr/>
          </p:nvGrpSpPr>
          <p:grpSpPr>
            <a:xfrm>
              <a:off x="2164550" y="3257070"/>
              <a:ext cx="146050" cy="146050"/>
              <a:chOff x="842947" y="-39060"/>
              <a:chExt cx="292099" cy="292099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B74C88B1-6B03-DC46-7285-B7191511C5FC}"/>
                  </a:ext>
                </a:extLst>
              </p:cNvPr>
              <p:cNvSpPr/>
              <p:nvPr/>
            </p:nvSpPr>
            <p:spPr>
              <a:xfrm>
                <a:off x="842947" y="-39060"/>
                <a:ext cx="292099" cy="292099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146050"/>
                    </a:moveTo>
                    <a:cubicBezTo>
                      <a:pt x="0" y="65405"/>
                      <a:pt x="65405" y="0"/>
                      <a:pt x="146050" y="0"/>
                    </a:cubicBezTo>
                    <a:cubicBezTo>
                      <a:pt x="226695" y="0"/>
                      <a:pt x="292100" y="65405"/>
                      <a:pt x="292100" y="146050"/>
                    </a:cubicBezTo>
                    <a:cubicBezTo>
                      <a:pt x="292100" y="226695"/>
                      <a:pt x="226695" y="292100"/>
                      <a:pt x="146050" y="292100"/>
                    </a:cubicBezTo>
                    <a:cubicBezTo>
                      <a:pt x="65405" y="292100"/>
                      <a:pt x="0" y="226695"/>
                      <a:pt x="0" y="146050"/>
                    </a:cubicBezTo>
                    <a:close/>
                  </a:path>
                </a:pathLst>
              </a:custGeom>
              <a:solidFill>
                <a:srgbClr val="4784CB"/>
              </a:solidFill>
            </p:spPr>
          </p:sp>
        </p:grpSp>
        <p:grpSp>
          <p:nvGrpSpPr>
            <p:cNvPr id="18" name="Group 13">
              <a:extLst>
                <a:ext uri="{FF2B5EF4-FFF2-40B4-BE49-F238E27FC236}">
                  <a16:creationId xmlns:a16="http://schemas.microsoft.com/office/drawing/2014/main" id="{D949C355-216D-3FBA-464A-22A192A27B0D}"/>
                </a:ext>
              </a:extLst>
            </p:cNvPr>
            <p:cNvGrpSpPr/>
            <p:nvPr/>
          </p:nvGrpSpPr>
          <p:grpSpPr>
            <a:xfrm>
              <a:off x="5674038" y="3261251"/>
              <a:ext cx="146050" cy="146050"/>
              <a:chOff x="2426317" y="-30699"/>
              <a:chExt cx="292099" cy="292099"/>
            </a:xfrm>
          </p:grpSpPr>
          <p:sp>
            <p:nvSpPr>
              <p:cNvPr id="27" name="Freeform 14">
                <a:extLst>
                  <a:ext uri="{FF2B5EF4-FFF2-40B4-BE49-F238E27FC236}">
                    <a16:creationId xmlns:a16="http://schemas.microsoft.com/office/drawing/2014/main" id="{6CE95F26-64D8-5758-4939-00A305334453}"/>
                  </a:ext>
                </a:extLst>
              </p:cNvPr>
              <p:cNvSpPr/>
              <p:nvPr/>
            </p:nvSpPr>
            <p:spPr>
              <a:xfrm>
                <a:off x="2426317" y="-30699"/>
                <a:ext cx="292099" cy="292099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146050"/>
                    </a:moveTo>
                    <a:cubicBezTo>
                      <a:pt x="0" y="65405"/>
                      <a:pt x="65405" y="0"/>
                      <a:pt x="146050" y="0"/>
                    </a:cubicBezTo>
                    <a:cubicBezTo>
                      <a:pt x="226695" y="0"/>
                      <a:pt x="292100" y="65405"/>
                      <a:pt x="292100" y="146050"/>
                    </a:cubicBezTo>
                    <a:cubicBezTo>
                      <a:pt x="292100" y="226695"/>
                      <a:pt x="226695" y="292100"/>
                      <a:pt x="146050" y="292100"/>
                    </a:cubicBezTo>
                    <a:cubicBezTo>
                      <a:pt x="65405" y="292100"/>
                      <a:pt x="0" y="226695"/>
                      <a:pt x="0" y="146050"/>
                    </a:cubicBezTo>
                    <a:close/>
                  </a:path>
                </a:pathLst>
              </a:custGeom>
              <a:solidFill>
                <a:srgbClr val="4784CB"/>
              </a:solidFill>
            </p:spPr>
          </p:sp>
        </p:grpSp>
        <p:grpSp>
          <p:nvGrpSpPr>
            <p:cNvPr id="20" name="Group 17">
              <a:extLst>
                <a:ext uri="{FF2B5EF4-FFF2-40B4-BE49-F238E27FC236}">
                  <a16:creationId xmlns:a16="http://schemas.microsoft.com/office/drawing/2014/main" id="{DA227612-3B0A-C851-DC28-8A70C8F86886}"/>
                </a:ext>
              </a:extLst>
            </p:cNvPr>
            <p:cNvGrpSpPr/>
            <p:nvPr/>
          </p:nvGrpSpPr>
          <p:grpSpPr>
            <a:xfrm>
              <a:off x="9569816" y="3259580"/>
              <a:ext cx="146050" cy="146050"/>
              <a:chOff x="4782266" y="-34040"/>
              <a:chExt cx="292099" cy="292099"/>
            </a:xfrm>
          </p:grpSpPr>
          <p:sp>
            <p:nvSpPr>
              <p:cNvPr id="26" name="Freeform 18">
                <a:extLst>
                  <a:ext uri="{FF2B5EF4-FFF2-40B4-BE49-F238E27FC236}">
                    <a16:creationId xmlns:a16="http://schemas.microsoft.com/office/drawing/2014/main" id="{3DD5E766-DFB9-11E7-20D6-C484483F4AC9}"/>
                  </a:ext>
                </a:extLst>
              </p:cNvPr>
              <p:cNvSpPr/>
              <p:nvPr/>
            </p:nvSpPr>
            <p:spPr>
              <a:xfrm>
                <a:off x="4782266" y="-34040"/>
                <a:ext cx="292099" cy="292099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146050"/>
                    </a:moveTo>
                    <a:cubicBezTo>
                      <a:pt x="0" y="65405"/>
                      <a:pt x="65405" y="0"/>
                      <a:pt x="146050" y="0"/>
                    </a:cubicBezTo>
                    <a:cubicBezTo>
                      <a:pt x="226695" y="0"/>
                      <a:pt x="292100" y="65405"/>
                      <a:pt x="292100" y="146050"/>
                    </a:cubicBezTo>
                    <a:cubicBezTo>
                      <a:pt x="292100" y="226695"/>
                      <a:pt x="226695" y="292100"/>
                      <a:pt x="146050" y="292100"/>
                    </a:cubicBezTo>
                    <a:cubicBezTo>
                      <a:pt x="65405" y="292100"/>
                      <a:pt x="0" y="226695"/>
                      <a:pt x="0" y="146050"/>
                    </a:cubicBezTo>
                    <a:close/>
                  </a:path>
                </a:pathLst>
              </a:custGeom>
              <a:solidFill>
                <a:srgbClr val="4784CB"/>
              </a:solidFill>
            </p:spPr>
          </p:sp>
        </p:grp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BF98A362-C52B-8560-9D54-303356A68659}"/>
              </a:ext>
            </a:extLst>
          </p:cNvPr>
          <p:cNvSpPr txBox="1"/>
          <p:nvPr/>
        </p:nvSpPr>
        <p:spPr>
          <a:xfrm>
            <a:off x="409246" y="2710299"/>
            <a:ext cx="3435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去特殊字符、小写化、去停用词</a:t>
            </a:r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8360433F-7381-CC34-DB56-09122577EA66}"/>
              </a:ext>
            </a:extLst>
          </p:cNvPr>
          <p:cNvSpPr txBox="1"/>
          <p:nvPr/>
        </p:nvSpPr>
        <p:spPr>
          <a:xfrm>
            <a:off x="4466798" y="1696411"/>
            <a:ext cx="3258399" cy="371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</a:pPr>
            <a:r>
              <a:rPr lang="zh-CN" altLang="en-US" sz="2400" b="1" dirty="0"/>
              <a:t>文本向量化</a:t>
            </a:r>
            <a:endParaRPr lang="zh-CN" altLang="en-US" sz="2400" dirty="0"/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E3B23B6D-D130-02B2-89C3-55910806DC34}"/>
              </a:ext>
            </a:extLst>
          </p:cNvPr>
          <p:cNvSpPr txBox="1"/>
          <p:nvPr/>
        </p:nvSpPr>
        <p:spPr>
          <a:xfrm>
            <a:off x="8933601" y="1696411"/>
            <a:ext cx="3258399" cy="371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</a:pPr>
            <a:r>
              <a:rPr lang="zh-CN" altLang="en-US" sz="2400" b="1" dirty="0"/>
              <a:t>数据划分</a:t>
            </a:r>
            <a:endParaRPr lang="zh-CN" altLang="en-US" sz="2400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2E5419CC-01E6-A333-7226-8D5E03D38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450" y="3372185"/>
            <a:ext cx="7484188" cy="1066565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32E7B0FC-D2A0-E198-1BDF-D770F7B1B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450" y="5296791"/>
            <a:ext cx="7484188" cy="6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979000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64201-7F26-44FB-03BA-D4A25870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B52622D-4CAB-3030-CBD7-7C6C9660C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89" r="53519"/>
          <a:stretch>
            <a:fillRect/>
          </a:stretch>
        </p:blipFill>
        <p:spPr>
          <a:xfrm rot="18571216">
            <a:off x="-830670" y="-1570681"/>
            <a:ext cx="6555461" cy="4989057"/>
          </a:xfrm>
          <a:custGeom>
            <a:avLst/>
            <a:gdLst>
              <a:gd name="connsiteX0" fmla="*/ 1605325 w 4313260"/>
              <a:gd name="connsiteY0" fmla="*/ 0 h 3282622"/>
              <a:gd name="connsiteX1" fmla="*/ 4313260 w 4313260"/>
              <a:gd name="connsiteY1" fmla="*/ 3282622 h 3282622"/>
              <a:gd name="connsiteX2" fmla="*/ 0 w 4313260"/>
              <a:gd name="connsiteY2" fmla="*/ 3282622 h 3282622"/>
              <a:gd name="connsiteX3" fmla="*/ 0 w 4313260"/>
              <a:gd name="connsiteY3" fmla="*/ 1324281 h 3282622"/>
              <a:gd name="connsiteX4" fmla="*/ 1605325 w 4313260"/>
              <a:gd name="connsiteY4" fmla="*/ 0 h 3282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3260" h="3282622">
                <a:moveTo>
                  <a:pt x="1605325" y="0"/>
                </a:moveTo>
                <a:lnTo>
                  <a:pt x="4313260" y="3282622"/>
                </a:lnTo>
                <a:lnTo>
                  <a:pt x="0" y="3282622"/>
                </a:lnTo>
                <a:lnTo>
                  <a:pt x="0" y="1324281"/>
                </a:lnTo>
                <a:lnTo>
                  <a:pt x="1605325" y="0"/>
                </a:lnTo>
                <a:close/>
              </a:path>
            </a:pathLst>
          </a:cu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0104D2E-59FA-798C-1E18-B91F4DB18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06" r="40353"/>
          <a:stretch>
            <a:fillRect/>
          </a:stretch>
        </p:blipFill>
        <p:spPr>
          <a:xfrm rot="8195221">
            <a:off x="6015934" y="3502426"/>
            <a:ext cx="7957079" cy="4585384"/>
          </a:xfrm>
          <a:custGeom>
            <a:avLst/>
            <a:gdLst>
              <a:gd name="connsiteX0" fmla="*/ 0 w 5125566"/>
              <a:gd name="connsiteY0" fmla="*/ 2953683 h 2953683"/>
              <a:gd name="connsiteX1" fmla="*/ 0 w 5125566"/>
              <a:gd name="connsiteY1" fmla="*/ 2117735 h 2953683"/>
              <a:gd name="connsiteX2" fmla="*/ 2003551 w 5125566"/>
              <a:gd name="connsiteY2" fmla="*/ 0 h 2953683"/>
              <a:gd name="connsiteX3" fmla="*/ 5125566 w 5125566"/>
              <a:gd name="connsiteY3" fmla="*/ 2953683 h 2953683"/>
              <a:gd name="connsiteX4" fmla="*/ 0 w 5125566"/>
              <a:gd name="connsiteY4" fmla="*/ 2953683 h 2953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5566" h="2953683">
                <a:moveTo>
                  <a:pt x="0" y="2953683"/>
                </a:moveTo>
                <a:lnTo>
                  <a:pt x="0" y="2117735"/>
                </a:lnTo>
                <a:lnTo>
                  <a:pt x="2003551" y="0"/>
                </a:lnTo>
                <a:lnTo>
                  <a:pt x="5125566" y="2953683"/>
                </a:lnTo>
                <a:lnTo>
                  <a:pt x="0" y="2953683"/>
                </a:lnTo>
                <a:close/>
              </a:path>
            </a:pathLst>
          </a:cu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CFA4EB9-657D-0535-5332-86B6BE84CA78}"/>
              </a:ext>
            </a:extLst>
          </p:cNvPr>
          <p:cNvSpPr txBox="1"/>
          <p:nvPr/>
        </p:nvSpPr>
        <p:spPr>
          <a:xfrm>
            <a:off x="3303143" y="3396958"/>
            <a:ext cx="5585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00000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ea typeface="方正兰亭粗黑简体" panose="02000000000000000000" pitchFamily="2" charset="-122"/>
              </a:rPr>
              <a:t>模 型 设 计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C0A6123-8FF0-AAF2-EC6B-D52575830B75}"/>
              </a:ext>
            </a:extLst>
          </p:cNvPr>
          <p:cNvSpPr txBox="1"/>
          <p:nvPr/>
        </p:nvSpPr>
        <p:spPr>
          <a:xfrm>
            <a:off x="5353094" y="2138920"/>
            <a:ext cx="14858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dirty="0">
                <a:solidFill>
                  <a:srgbClr val="000000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03</a:t>
            </a:r>
            <a:endParaRPr lang="zh-CN" altLang="en-US" sz="8000" b="1" dirty="0">
              <a:solidFill>
                <a:srgbClr val="000000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407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1BB19-CDAE-5250-591E-603690A60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65B2E9B-6928-74D1-E8BE-26E3F284EA36}"/>
              </a:ext>
            </a:extLst>
          </p:cNvPr>
          <p:cNvGrpSpPr/>
          <p:nvPr/>
        </p:nvGrpSpPr>
        <p:grpSpPr>
          <a:xfrm>
            <a:off x="-483871" y="-795874"/>
            <a:ext cx="7130855" cy="2294433"/>
            <a:chOff x="-483871" y="-795874"/>
            <a:chExt cx="7130855" cy="2294433"/>
          </a:xfrm>
        </p:grpSpPr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FA8C8159-D974-B608-57CF-5F03DE857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6" t="79044" r="53519"/>
            <a:stretch>
              <a:fillRect/>
            </a:stretch>
          </p:blipFill>
          <p:spPr>
            <a:xfrm rot="20147618">
              <a:off x="-483871" y="-795874"/>
              <a:ext cx="4884403" cy="2080299"/>
            </a:xfrm>
            <a:custGeom>
              <a:avLst/>
              <a:gdLst>
                <a:gd name="connsiteX0" fmla="*/ 957211 w 6228785"/>
                <a:gd name="connsiteY0" fmla="*/ 0 h 2652880"/>
                <a:gd name="connsiteX1" fmla="*/ 5857672 w 6228785"/>
                <a:gd name="connsiteY1" fmla="*/ 2203009 h 2652880"/>
                <a:gd name="connsiteX2" fmla="*/ 6228785 w 6228785"/>
                <a:gd name="connsiteY2" fmla="*/ 2652880 h 2652880"/>
                <a:gd name="connsiteX3" fmla="*/ 1164771 w 6228785"/>
                <a:gd name="connsiteY3" fmla="*/ 2652880 h 2652880"/>
                <a:gd name="connsiteX4" fmla="*/ 0 w 6228785"/>
                <a:gd name="connsiteY4" fmla="*/ 2129256 h 2652880"/>
                <a:gd name="connsiteX5" fmla="*/ 957211 w 6228785"/>
                <a:gd name="connsiteY5" fmla="*/ 0 h 265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28785" h="2652880">
                  <a:moveTo>
                    <a:pt x="957211" y="0"/>
                  </a:moveTo>
                  <a:lnTo>
                    <a:pt x="5857672" y="2203009"/>
                  </a:lnTo>
                  <a:lnTo>
                    <a:pt x="6228785" y="2652880"/>
                  </a:lnTo>
                  <a:lnTo>
                    <a:pt x="1164771" y="2652880"/>
                  </a:lnTo>
                  <a:lnTo>
                    <a:pt x="0" y="2129256"/>
                  </a:lnTo>
                  <a:lnTo>
                    <a:pt x="957211" y="0"/>
                  </a:lnTo>
                  <a:close/>
                </a:path>
              </a:pathLst>
            </a:custGeom>
            <a:ln>
              <a:noFill/>
            </a:ln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75D63674-BAC8-8D7C-10B2-2D7937FC2BB0}"/>
                </a:ext>
              </a:extLst>
            </p:cNvPr>
            <p:cNvSpPr txBox="1"/>
            <p:nvPr/>
          </p:nvSpPr>
          <p:spPr>
            <a:xfrm>
              <a:off x="395785" y="436730"/>
              <a:ext cx="6251199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altLang="zh-CN" sz="2800" b="1" spc="59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RNN</a:t>
              </a:r>
              <a:r>
                <a:rPr lang="zh-CN" altLang="en-US" sz="2800" b="1" spc="59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模型结构</a:t>
              </a:r>
              <a:endParaRPr lang="en-US" altLang="zh-CN" sz="2800" b="1" spc="59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  <a:p>
              <a:endPara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1FA728DC-1B01-2C09-AA77-6068ED175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894" y="4583108"/>
            <a:ext cx="8114212" cy="213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A3EBADD-9EA3-EF02-DFCB-88A075836010}"/>
              </a:ext>
            </a:extLst>
          </p:cNvPr>
          <p:cNvSpPr txBox="1"/>
          <p:nvPr/>
        </p:nvSpPr>
        <p:spPr>
          <a:xfrm>
            <a:off x="840377" y="2409460"/>
            <a:ext cx="3104606" cy="2121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RNN 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的模型结构：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Embedding </a:t>
            </a:r>
            <a:r>
              <a:rPr lang="zh-CN" altLang="en-US" dirty="0"/>
              <a:t>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SimpleRNN</a:t>
            </a:r>
            <a:r>
              <a:rPr lang="en-US" altLang="zh-CN" dirty="0"/>
              <a:t> (64)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Dropout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Dense + Sigmoid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2BCC0B-24B1-937C-95AD-B91F95F252F0}"/>
              </a:ext>
            </a:extLst>
          </p:cNvPr>
          <p:cNvSpPr txBox="1"/>
          <p:nvPr/>
        </p:nvSpPr>
        <p:spPr>
          <a:xfrm>
            <a:off x="7198088" y="1087207"/>
            <a:ext cx="5098414" cy="3443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RNN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的优缺点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优点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：</a:t>
            </a:r>
          </a:p>
          <a:p>
            <a:pPr marL="285750" indent="-285750" algn="l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能够处理变长序列文本</a:t>
            </a:r>
          </a:p>
          <a:p>
            <a:pPr marL="285750" indent="-285750" algn="l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理论上可以记住任意长度的历史信息</a:t>
            </a:r>
          </a:p>
          <a:p>
            <a:pPr marL="285750" indent="-285750" algn="l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参数共享（同一组权重用于所有时间步）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缺点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：</a:t>
            </a:r>
          </a:p>
          <a:p>
            <a:pPr marL="285750" indent="-285750" algn="l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 存在梯度消失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/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爆炸问题（难以学习长期依赖）</a:t>
            </a:r>
          </a:p>
          <a:p>
            <a:pPr marL="285750" indent="-285750" algn="l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 计算效率较低（无法并行处理时间步）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AA1EFB-12B2-6B03-9995-2CBC6F91502D}"/>
              </a:ext>
            </a:extLst>
          </p:cNvPr>
          <p:cNvSpPr txBox="1"/>
          <p:nvPr/>
        </p:nvSpPr>
        <p:spPr>
          <a:xfrm>
            <a:off x="840377" y="1276675"/>
            <a:ext cx="6104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RNN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的核心在于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循环连接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Recurrent Connection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），即网络的输出不仅取决于当前输入，还取决于之前所有时间步的输入。这种结构使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RNN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能够处理任意长度的序列数据。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1453261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F6E7D-D035-EC69-B57B-531C6A54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9DCDB7F-1D00-E582-41B1-168268B70860}"/>
              </a:ext>
            </a:extLst>
          </p:cNvPr>
          <p:cNvGrpSpPr/>
          <p:nvPr/>
        </p:nvGrpSpPr>
        <p:grpSpPr>
          <a:xfrm>
            <a:off x="-483871" y="-795874"/>
            <a:ext cx="7130855" cy="2294433"/>
            <a:chOff x="-483871" y="-795874"/>
            <a:chExt cx="7130855" cy="2294433"/>
          </a:xfrm>
        </p:grpSpPr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B92A2F70-FF75-3505-3841-2DD20E321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6" t="79044" r="53519"/>
            <a:stretch>
              <a:fillRect/>
            </a:stretch>
          </p:blipFill>
          <p:spPr>
            <a:xfrm rot="20147618">
              <a:off x="-483871" y="-795874"/>
              <a:ext cx="4884403" cy="2080299"/>
            </a:xfrm>
            <a:custGeom>
              <a:avLst/>
              <a:gdLst>
                <a:gd name="connsiteX0" fmla="*/ 957211 w 6228785"/>
                <a:gd name="connsiteY0" fmla="*/ 0 h 2652880"/>
                <a:gd name="connsiteX1" fmla="*/ 5857672 w 6228785"/>
                <a:gd name="connsiteY1" fmla="*/ 2203009 h 2652880"/>
                <a:gd name="connsiteX2" fmla="*/ 6228785 w 6228785"/>
                <a:gd name="connsiteY2" fmla="*/ 2652880 h 2652880"/>
                <a:gd name="connsiteX3" fmla="*/ 1164771 w 6228785"/>
                <a:gd name="connsiteY3" fmla="*/ 2652880 h 2652880"/>
                <a:gd name="connsiteX4" fmla="*/ 0 w 6228785"/>
                <a:gd name="connsiteY4" fmla="*/ 2129256 h 2652880"/>
                <a:gd name="connsiteX5" fmla="*/ 957211 w 6228785"/>
                <a:gd name="connsiteY5" fmla="*/ 0 h 265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28785" h="2652880">
                  <a:moveTo>
                    <a:pt x="957211" y="0"/>
                  </a:moveTo>
                  <a:lnTo>
                    <a:pt x="5857672" y="2203009"/>
                  </a:lnTo>
                  <a:lnTo>
                    <a:pt x="6228785" y="2652880"/>
                  </a:lnTo>
                  <a:lnTo>
                    <a:pt x="1164771" y="2652880"/>
                  </a:lnTo>
                  <a:lnTo>
                    <a:pt x="0" y="2129256"/>
                  </a:lnTo>
                  <a:lnTo>
                    <a:pt x="957211" y="0"/>
                  </a:lnTo>
                  <a:close/>
                </a:path>
              </a:pathLst>
            </a:custGeom>
            <a:ln>
              <a:noFill/>
            </a:ln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7FF906C4-1DBD-8C6C-E7C8-F79A945FDF3F}"/>
                </a:ext>
              </a:extLst>
            </p:cNvPr>
            <p:cNvSpPr txBox="1"/>
            <p:nvPr/>
          </p:nvSpPr>
          <p:spPr>
            <a:xfrm>
              <a:off x="395785" y="436730"/>
              <a:ext cx="6251199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altLang="zh-CN" sz="2800" b="1" spc="59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LSTM</a:t>
              </a:r>
              <a:r>
                <a:rPr lang="zh-CN" altLang="en-US" sz="2800" b="1" spc="59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模型结构</a:t>
              </a:r>
              <a:endParaRPr lang="en-US" altLang="zh-CN" sz="2800" b="1" spc="59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  <a:p>
              <a:endPara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7E9FCB73-B65B-0C29-962E-16AD485EAE27}"/>
              </a:ext>
            </a:extLst>
          </p:cNvPr>
          <p:cNvSpPr txBox="1"/>
          <p:nvPr/>
        </p:nvSpPr>
        <p:spPr>
          <a:xfrm>
            <a:off x="875211" y="1498559"/>
            <a:ext cx="6104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LSTM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Long Short-Term Memory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）是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RNN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的一种改进架构，专门设计来解决标准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RNN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的长期依赖问题。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197A8B-45F0-0EAC-924B-74CEB5BFBDCB}"/>
              </a:ext>
            </a:extLst>
          </p:cNvPr>
          <p:cNvSpPr txBox="1"/>
          <p:nvPr/>
        </p:nvSpPr>
        <p:spPr>
          <a:xfrm>
            <a:off x="875211" y="2381891"/>
            <a:ext cx="3226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b="1" dirty="0"/>
              <a:t>引入门控机制，缓解梯度消失</a:t>
            </a:r>
          </a:p>
        </p:txBody>
      </p:sp>
      <p:pic>
        <p:nvPicPr>
          <p:cNvPr id="9" name="图片 8" descr="表格&#10;&#10;AI 生成的内容可能不正确。">
            <a:extLst>
              <a:ext uri="{FF2B5EF4-FFF2-40B4-BE49-F238E27FC236}">
                <a16:creationId xmlns:a16="http://schemas.microsoft.com/office/drawing/2014/main" id="{8C12F9E8-B54C-914B-5D04-A67A152DA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92" y="3034894"/>
            <a:ext cx="3914775" cy="1628775"/>
          </a:xfrm>
          <a:prstGeom prst="rect">
            <a:avLst/>
          </a:prstGeom>
        </p:spPr>
      </p:pic>
      <p:pic>
        <p:nvPicPr>
          <p:cNvPr id="11" name="图片 10" descr="图示&#10;&#10;AI 生成的内容可能不正确。">
            <a:extLst>
              <a:ext uri="{FF2B5EF4-FFF2-40B4-BE49-F238E27FC236}">
                <a16:creationId xmlns:a16="http://schemas.microsoft.com/office/drawing/2014/main" id="{4DA1E59F-90E3-8F6F-136F-E91AFE9B7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542" y="4762500"/>
            <a:ext cx="5572125" cy="20955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52CB3CC-03D8-85FA-7AAF-20C9E3497751}"/>
              </a:ext>
            </a:extLst>
          </p:cNvPr>
          <p:cNvSpPr txBox="1"/>
          <p:nvPr/>
        </p:nvSpPr>
        <p:spPr>
          <a:xfrm>
            <a:off x="5434148" y="2375722"/>
            <a:ext cx="2290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更好建模长文本依赖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71F7B97-3289-EF8B-6A6C-A38E50220393}"/>
              </a:ext>
            </a:extLst>
          </p:cNvPr>
          <p:cNvSpPr txBox="1"/>
          <p:nvPr/>
        </p:nvSpPr>
        <p:spPr>
          <a:xfrm>
            <a:off x="5434148" y="2869197"/>
            <a:ext cx="6104708" cy="167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ct val="200000"/>
              </a:lnSpc>
              <a:buFont typeface="+mj-lt"/>
              <a:buAutoNum type="arabicPeriod"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选择性记忆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：遗忘门可以决定保留或丢弃特定信息</a:t>
            </a:r>
          </a:p>
          <a:p>
            <a:pPr algn="l" latinLnBrk="1">
              <a:lnSpc>
                <a:spcPct val="200000"/>
              </a:lnSpc>
              <a:buFont typeface="+mj-lt"/>
              <a:buAutoNum type="arabicPeriod"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梯度通路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：记忆单元提供了相对直接的梯度传播路径</a:t>
            </a:r>
          </a:p>
          <a:p>
            <a:pPr algn="l" latinLnBrk="1">
              <a:lnSpc>
                <a:spcPct val="200000"/>
              </a:lnSpc>
              <a:buFont typeface="+mj-lt"/>
              <a:buAutoNum type="arabicPeriod"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信息保护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：记忆内容不会被每个时间步的操作直接修改</a:t>
            </a:r>
          </a:p>
        </p:txBody>
      </p:sp>
    </p:spTree>
    <p:extLst>
      <p:ext uri="{BB962C8B-B14F-4D97-AF65-F5344CB8AC3E}">
        <p14:creationId xmlns:p14="http://schemas.microsoft.com/office/powerpoint/2010/main" val="3895484319"/>
      </p:ext>
    </p:extLst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2F246-21E3-4CEA-75E8-5E9B9DA99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A6B00295-BAD4-E407-F5F6-188EF1DA5AEF}"/>
              </a:ext>
            </a:extLst>
          </p:cNvPr>
          <p:cNvSpPr/>
          <p:nvPr/>
        </p:nvSpPr>
        <p:spPr>
          <a:xfrm>
            <a:off x="1522922" y="1841267"/>
            <a:ext cx="3235235" cy="2896926"/>
          </a:xfrm>
          <a:prstGeom prst="roundRect">
            <a:avLst/>
          </a:prstGeom>
          <a:solidFill>
            <a:srgbClr val="E7F7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E6795E5-9A5D-87CD-5E6E-4FD7323D9E82}"/>
              </a:ext>
            </a:extLst>
          </p:cNvPr>
          <p:cNvGrpSpPr/>
          <p:nvPr/>
        </p:nvGrpSpPr>
        <p:grpSpPr>
          <a:xfrm>
            <a:off x="-483871" y="-795874"/>
            <a:ext cx="7130855" cy="2294433"/>
            <a:chOff x="-483871" y="-795874"/>
            <a:chExt cx="7130855" cy="2294433"/>
          </a:xfrm>
        </p:grpSpPr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D01149D5-2FF9-D542-4F8A-1FB14888F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6" t="79044" r="53519"/>
            <a:stretch>
              <a:fillRect/>
            </a:stretch>
          </p:blipFill>
          <p:spPr>
            <a:xfrm rot="20147618">
              <a:off x="-483871" y="-795874"/>
              <a:ext cx="4884403" cy="2080299"/>
            </a:xfrm>
            <a:custGeom>
              <a:avLst/>
              <a:gdLst>
                <a:gd name="connsiteX0" fmla="*/ 957211 w 6228785"/>
                <a:gd name="connsiteY0" fmla="*/ 0 h 2652880"/>
                <a:gd name="connsiteX1" fmla="*/ 5857672 w 6228785"/>
                <a:gd name="connsiteY1" fmla="*/ 2203009 h 2652880"/>
                <a:gd name="connsiteX2" fmla="*/ 6228785 w 6228785"/>
                <a:gd name="connsiteY2" fmla="*/ 2652880 h 2652880"/>
                <a:gd name="connsiteX3" fmla="*/ 1164771 w 6228785"/>
                <a:gd name="connsiteY3" fmla="*/ 2652880 h 2652880"/>
                <a:gd name="connsiteX4" fmla="*/ 0 w 6228785"/>
                <a:gd name="connsiteY4" fmla="*/ 2129256 h 2652880"/>
                <a:gd name="connsiteX5" fmla="*/ 957211 w 6228785"/>
                <a:gd name="connsiteY5" fmla="*/ 0 h 265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28785" h="2652880">
                  <a:moveTo>
                    <a:pt x="957211" y="0"/>
                  </a:moveTo>
                  <a:lnTo>
                    <a:pt x="5857672" y="2203009"/>
                  </a:lnTo>
                  <a:lnTo>
                    <a:pt x="6228785" y="2652880"/>
                  </a:lnTo>
                  <a:lnTo>
                    <a:pt x="1164771" y="2652880"/>
                  </a:lnTo>
                  <a:lnTo>
                    <a:pt x="0" y="2129256"/>
                  </a:lnTo>
                  <a:lnTo>
                    <a:pt x="957211" y="0"/>
                  </a:lnTo>
                  <a:close/>
                </a:path>
              </a:pathLst>
            </a:custGeom>
            <a:ln>
              <a:noFill/>
            </a:ln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80D1E762-3E68-4DD3-EC2D-6D2072C5567D}"/>
                </a:ext>
              </a:extLst>
            </p:cNvPr>
            <p:cNvSpPr txBox="1"/>
            <p:nvPr/>
          </p:nvSpPr>
          <p:spPr>
            <a:xfrm>
              <a:off x="395785" y="436730"/>
              <a:ext cx="6251199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zh-CN" altLang="en-US" sz="2800" b="1" spc="59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实验参数设置</a:t>
              </a:r>
              <a:endParaRPr lang="en-US" altLang="zh-CN" sz="2800" b="1" spc="59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  <a:p>
              <a:endPara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DBB9F88-0DCC-4D9E-F60B-D7AA8061FD13}"/>
              </a:ext>
            </a:extLst>
          </p:cNvPr>
          <p:cNvSpPr txBox="1"/>
          <p:nvPr/>
        </p:nvSpPr>
        <p:spPr>
          <a:xfrm>
            <a:off x="1770027" y="1841267"/>
            <a:ext cx="3235235" cy="2778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词表大小：</a:t>
            </a:r>
            <a:r>
              <a:rPr lang="en-US" altLang="zh-CN" dirty="0"/>
              <a:t>10000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序列长度：</a:t>
            </a:r>
            <a:r>
              <a:rPr lang="en-US" altLang="zh-CN" dirty="0"/>
              <a:t>200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Embedding </a:t>
            </a:r>
            <a:r>
              <a:rPr lang="zh-CN" altLang="en-US" dirty="0"/>
              <a:t>维度：</a:t>
            </a:r>
            <a:r>
              <a:rPr lang="en-US" altLang="zh-CN" dirty="0"/>
              <a:t>128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Epochs</a:t>
            </a:r>
            <a:r>
              <a:rPr lang="zh-CN" altLang="en-US" dirty="0"/>
              <a:t>：</a:t>
            </a:r>
            <a:r>
              <a:rPr lang="en-US" altLang="zh-CN" dirty="0"/>
              <a:t>5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Batch Size</a:t>
            </a:r>
            <a:r>
              <a:rPr lang="zh-CN" altLang="en-US" dirty="0"/>
              <a:t>：</a:t>
            </a:r>
            <a:r>
              <a:rPr lang="en-US" altLang="zh-CN" dirty="0"/>
              <a:t>32</a:t>
            </a:r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86FA680A-00B0-7DFF-D651-495FD02FD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105" y="1958046"/>
            <a:ext cx="6029985" cy="266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695184"/>
      </p:ext>
    </p:extLst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1BCFF-89F7-E595-35D9-1FB4D7F5B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56E103F-416E-C8F5-5FF4-1E667D387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89" r="53519"/>
          <a:stretch>
            <a:fillRect/>
          </a:stretch>
        </p:blipFill>
        <p:spPr>
          <a:xfrm rot="18571216">
            <a:off x="-830670" y="-1570681"/>
            <a:ext cx="6555461" cy="4989057"/>
          </a:xfrm>
          <a:custGeom>
            <a:avLst/>
            <a:gdLst>
              <a:gd name="connsiteX0" fmla="*/ 1605325 w 4313260"/>
              <a:gd name="connsiteY0" fmla="*/ 0 h 3282622"/>
              <a:gd name="connsiteX1" fmla="*/ 4313260 w 4313260"/>
              <a:gd name="connsiteY1" fmla="*/ 3282622 h 3282622"/>
              <a:gd name="connsiteX2" fmla="*/ 0 w 4313260"/>
              <a:gd name="connsiteY2" fmla="*/ 3282622 h 3282622"/>
              <a:gd name="connsiteX3" fmla="*/ 0 w 4313260"/>
              <a:gd name="connsiteY3" fmla="*/ 1324281 h 3282622"/>
              <a:gd name="connsiteX4" fmla="*/ 1605325 w 4313260"/>
              <a:gd name="connsiteY4" fmla="*/ 0 h 3282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3260" h="3282622">
                <a:moveTo>
                  <a:pt x="1605325" y="0"/>
                </a:moveTo>
                <a:lnTo>
                  <a:pt x="4313260" y="3282622"/>
                </a:lnTo>
                <a:lnTo>
                  <a:pt x="0" y="3282622"/>
                </a:lnTo>
                <a:lnTo>
                  <a:pt x="0" y="1324281"/>
                </a:lnTo>
                <a:lnTo>
                  <a:pt x="1605325" y="0"/>
                </a:lnTo>
                <a:close/>
              </a:path>
            </a:pathLst>
          </a:cu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1C9912C-838F-6663-305C-749E48942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06" r="40353"/>
          <a:stretch>
            <a:fillRect/>
          </a:stretch>
        </p:blipFill>
        <p:spPr>
          <a:xfrm rot="8195221">
            <a:off x="6015934" y="3502426"/>
            <a:ext cx="7957079" cy="4585384"/>
          </a:xfrm>
          <a:custGeom>
            <a:avLst/>
            <a:gdLst>
              <a:gd name="connsiteX0" fmla="*/ 0 w 5125566"/>
              <a:gd name="connsiteY0" fmla="*/ 2953683 h 2953683"/>
              <a:gd name="connsiteX1" fmla="*/ 0 w 5125566"/>
              <a:gd name="connsiteY1" fmla="*/ 2117735 h 2953683"/>
              <a:gd name="connsiteX2" fmla="*/ 2003551 w 5125566"/>
              <a:gd name="connsiteY2" fmla="*/ 0 h 2953683"/>
              <a:gd name="connsiteX3" fmla="*/ 5125566 w 5125566"/>
              <a:gd name="connsiteY3" fmla="*/ 2953683 h 2953683"/>
              <a:gd name="connsiteX4" fmla="*/ 0 w 5125566"/>
              <a:gd name="connsiteY4" fmla="*/ 2953683 h 2953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5566" h="2953683">
                <a:moveTo>
                  <a:pt x="0" y="2953683"/>
                </a:moveTo>
                <a:lnTo>
                  <a:pt x="0" y="2117735"/>
                </a:lnTo>
                <a:lnTo>
                  <a:pt x="2003551" y="0"/>
                </a:lnTo>
                <a:lnTo>
                  <a:pt x="5125566" y="2953683"/>
                </a:lnTo>
                <a:lnTo>
                  <a:pt x="0" y="2953683"/>
                </a:lnTo>
                <a:close/>
              </a:path>
            </a:pathLst>
          </a:cu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6A6BA40-F9D3-CB27-64DB-C7CABED7DB43}"/>
              </a:ext>
            </a:extLst>
          </p:cNvPr>
          <p:cNvSpPr txBox="1"/>
          <p:nvPr/>
        </p:nvSpPr>
        <p:spPr>
          <a:xfrm>
            <a:off x="3303143" y="3396958"/>
            <a:ext cx="5585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00000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ea typeface="方正兰亭粗黑简体" panose="02000000000000000000" pitchFamily="2" charset="-122"/>
              </a:rPr>
              <a:t>实 验 结 果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18D4E0-A259-BE07-FCAA-382B57AB651F}"/>
              </a:ext>
            </a:extLst>
          </p:cNvPr>
          <p:cNvSpPr txBox="1"/>
          <p:nvPr/>
        </p:nvSpPr>
        <p:spPr>
          <a:xfrm>
            <a:off x="5353094" y="2138920"/>
            <a:ext cx="14858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dirty="0">
                <a:solidFill>
                  <a:srgbClr val="000000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04</a:t>
            </a:r>
            <a:endParaRPr lang="zh-CN" altLang="en-US" sz="8000" b="1" dirty="0">
              <a:solidFill>
                <a:srgbClr val="000000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343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8AD88A6-DF65-47EE-4954-0676BA4B9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6" t="79044" r="53519"/>
          <a:stretch>
            <a:fillRect/>
          </a:stretch>
        </p:blipFill>
        <p:spPr>
          <a:xfrm rot="20147618">
            <a:off x="-483871" y="-795874"/>
            <a:ext cx="4884403" cy="2080299"/>
          </a:xfrm>
          <a:custGeom>
            <a:avLst/>
            <a:gdLst>
              <a:gd name="connsiteX0" fmla="*/ 957211 w 6228785"/>
              <a:gd name="connsiteY0" fmla="*/ 0 h 2652880"/>
              <a:gd name="connsiteX1" fmla="*/ 5857672 w 6228785"/>
              <a:gd name="connsiteY1" fmla="*/ 2203009 h 2652880"/>
              <a:gd name="connsiteX2" fmla="*/ 6228785 w 6228785"/>
              <a:gd name="connsiteY2" fmla="*/ 2652880 h 2652880"/>
              <a:gd name="connsiteX3" fmla="*/ 1164771 w 6228785"/>
              <a:gd name="connsiteY3" fmla="*/ 2652880 h 2652880"/>
              <a:gd name="connsiteX4" fmla="*/ 0 w 6228785"/>
              <a:gd name="connsiteY4" fmla="*/ 2129256 h 2652880"/>
              <a:gd name="connsiteX5" fmla="*/ 957211 w 6228785"/>
              <a:gd name="connsiteY5" fmla="*/ 0 h 265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28785" h="2652880">
                <a:moveTo>
                  <a:pt x="957211" y="0"/>
                </a:moveTo>
                <a:lnTo>
                  <a:pt x="5857672" y="2203009"/>
                </a:lnTo>
                <a:lnTo>
                  <a:pt x="6228785" y="2652880"/>
                </a:lnTo>
                <a:lnTo>
                  <a:pt x="1164771" y="2652880"/>
                </a:lnTo>
                <a:lnTo>
                  <a:pt x="0" y="2129256"/>
                </a:lnTo>
                <a:lnTo>
                  <a:pt x="957211" y="0"/>
                </a:lnTo>
                <a:close/>
              </a:path>
            </a:pathLst>
          </a:custGeom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8A44977-C5F6-9733-0214-FA214A88232F}"/>
              </a:ext>
            </a:extLst>
          </p:cNvPr>
          <p:cNvSpPr txBox="1"/>
          <p:nvPr/>
        </p:nvSpPr>
        <p:spPr>
          <a:xfrm>
            <a:off x="395785" y="436730"/>
            <a:ext cx="625119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200"/>
              </a:lnSpc>
            </a:pPr>
            <a:r>
              <a:rPr lang="zh-CN" altLang="en-US" sz="2800" b="1" spc="59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实验结果对比</a:t>
            </a:r>
            <a:endParaRPr lang="en-US" altLang="zh-CN" sz="2800" b="1" spc="59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A8CDD64-920F-CF89-DC70-464CAA26D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9" y="1695990"/>
            <a:ext cx="10972822" cy="3657607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B09DEFFF-55A3-9C1B-83D4-60D85C06FCBE}"/>
              </a:ext>
            </a:extLst>
          </p:cNvPr>
          <p:cNvSpPr txBox="1"/>
          <p:nvPr/>
        </p:nvSpPr>
        <p:spPr>
          <a:xfrm>
            <a:off x="727166" y="5332606"/>
            <a:ext cx="5368834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RNN </a:t>
            </a:r>
            <a:r>
              <a:rPr lang="zh-CN" altLang="en-US" dirty="0"/>
              <a:t>测试集准确率</a:t>
            </a:r>
            <a:br>
              <a:rPr lang="en-US" altLang="zh-CN" dirty="0"/>
            </a:br>
            <a:r>
              <a:rPr lang="zh-CN" altLang="en-US" dirty="0"/>
              <a:t>训练过程不稳定，模型出现了严重的波动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在假新闻分类中表现较差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74D3B-CADC-4212-EC0E-80C566156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A0C6DC4-D9AD-1872-7CC8-9707A1880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6" t="79044" r="53519"/>
          <a:stretch>
            <a:fillRect/>
          </a:stretch>
        </p:blipFill>
        <p:spPr>
          <a:xfrm rot="20147618">
            <a:off x="-483871" y="-795874"/>
            <a:ext cx="4884403" cy="2080299"/>
          </a:xfrm>
          <a:custGeom>
            <a:avLst/>
            <a:gdLst>
              <a:gd name="connsiteX0" fmla="*/ 957211 w 6228785"/>
              <a:gd name="connsiteY0" fmla="*/ 0 h 2652880"/>
              <a:gd name="connsiteX1" fmla="*/ 5857672 w 6228785"/>
              <a:gd name="connsiteY1" fmla="*/ 2203009 h 2652880"/>
              <a:gd name="connsiteX2" fmla="*/ 6228785 w 6228785"/>
              <a:gd name="connsiteY2" fmla="*/ 2652880 h 2652880"/>
              <a:gd name="connsiteX3" fmla="*/ 1164771 w 6228785"/>
              <a:gd name="connsiteY3" fmla="*/ 2652880 h 2652880"/>
              <a:gd name="connsiteX4" fmla="*/ 0 w 6228785"/>
              <a:gd name="connsiteY4" fmla="*/ 2129256 h 2652880"/>
              <a:gd name="connsiteX5" fmla="*/ 957211 w 6228785"/>
              <a:gd name="connsiteY5" fmla="*/ 0 h 265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28785" h="2652880">
                <a:moveTo>
                  <a:pt x="957211" y="0"/>
                </a:moveTo>
                <a:lnTo>
                  <a:pt x="5857672" y="2203009"/>
                </a:lnTo>
                <a:lnTo>
                  <a:pt x="6228785" y="2652880"/>
                </a:lnTo>
                <a:lnTo>
                  <a:pt x="1164771" y="2652880"/>
                </a:lnTo>
                <a:lnTo>
                  <a:pt x="0" y="2129256"/>
                </a:lnTo>
                <a:lnTo>
                  <a:pt x="957211" y="0"/>
                </a:lnTo>
                <a:close/>
              </a:path>
            </a:pathLst>
          </a:custGeom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586AE57-DF35-AB15-E3BA-211826AE4A9D}"/>
              </a:ext>
            </a:extLst>
          </p:cNvPr>
          <p:cNvSpPr txBox="1"/>
          <p:nvPr/>
        </p:nvSpPr>
        <p:spPr>
          <a:xfrm>
            <a:off x="395785" y="436730"/>
            <a:ext cx="625119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200"/>
              </a:lnSpc>
            </a:pPr>
            <a:r>
              <a:rPr lang="zh-CN" altLang="en-US" sz="2800" b="1" spc="59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实验结果对比</a:t>
            </a:r>
            <a:endParaRPr lang="en-US" altLang="zh-CN" sz="2800" b="1" spc="59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C175C8-8F1A-4E78-EE7E-DD09C293D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9" y="1600196"/>
            <a:ext cx="10972822" cy="365760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378BB0C-82FB-0972-8E91-FE7EF46D3060}"/>
              </a:ext>
            </a:extLst>
          </p:cNvPr>
          <p:cNvSpPr txBox="1"/>
          <p:nvPr/>
        </p:nvSpPr>
        <p:spPr>
          <a:xfrm>
            <a:off x="727166" y="5318766"/>
            <a:ext cx="5368834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LSTM </a:t>
            </a:r>
            <a:r>
              <a:rPr lang="zh-CN" altLang="en-US" dirty="0"/>
              <a:t>测试集准确率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高于 </a:t>
            </a:r>
            <a:r>
              <a:rPr lang="en-US" altLang="zh-CN" dirty="0"/>
              <a:t>RNN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在假新闻分类中表现更好</a:t>
            </a:r>
          </a:p>
        </p:txBody>
      </p:sp>
    </p:spTree>
    <p:extLst>
      <p:ext uri="{BB962C8B-B14F-4D97-AF65-F5344CB8AC3E}">
        <p14:creationId xmlns:p14="http://schemas.microsoft.com/office/powerpoint/2010/main" val="274236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78F8B-A839-240D-BE20-D9F8AD044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6320CCE-EF55-AC57-4BF2-72F610975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89" r="53519"/>
          <a:stretch>
            <a:fillRect/>
          </a:stretch>
        </p:blipFill>
        <p:spPr>
          <a:xfrm rot="18571216">
            <a:off x="-830670" y="-1570681"/>
            <a:ext cx="6555461" cy="4989057"/>
          </a:xfrm>
          <a:custGeom>
            <a:avLst/>
            <a:gdLst>
              <a:gd name="connsiteX0" fmla="*/ 1605325 w 4313260"/>
              <a:gd name="connsiteY0" fmla="*/ 0 h 3282622"/>
              <a:gd name="connsiteX1" fmla="*/ 4313260 w 4313260"/>
              <a:gd name="connsiteY1" fmla="*/ 3282622 h 3282622"/>
              <a:gd name="connsiteX2" fmla="*/ 0 w 4313260"/>
              <a:gd name="connsiteY2" fmla="*/ 3282622 h 3282622"/>
              <a:gd name="connsiteX3" fmla="*/ 0 w 4313260"/>
              <a:gd name="connsiteY3" fmla="*/ 1324281 h 3282622"/>
              <a:gd name="connsiteX4" fmla="*/ 1605325 w 4313260"/>
              <a:gd name="connsiteY4" fmla="*/ 0 h 3282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3260" h="3282622">
                <a:moveTo>
                  <a:pt x="1605325" y="0"/>
                </a:moveTo>
                <a:lnTo>
                  <a:pt x="4313260" y="3282622"/>
                </a:lnTo>
                <a:lnTo>
                  <a:pt x="0" y="3282622"/>
                </a:lnTo>
                <a:lnTo>
                  <a:pt x="0" y="1324281"/>
                </a:lnTo>
                <a:lnTo>
                  <a:pt x="1605325" y="0"/>
                </a:lnTo>
                <a:close/>
              </a:path>
            </a:pathLst>
          </a:cu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E9CC63E-5400-1DA5-F228-311DEAFF7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06" r="40353"/>
          <a:stretch>
            <a:fillRect/>
          </a:stretch>
        </p:blipFill>
        <p:spPr>
          <a:xfrm rot="8195221">
            <a:off x="6015934" y="3502426"/>
            <a:ext cx="7957079" cy="4585384"/>
          </a:xfrm>
          <a:custGeom>
            <a:avLst/>
            <a:gdLst>
              <a:gd name="connsiteX0" fmla="*/ 0 w 5125566"/>
              <a:gd name="connsiteY0" fmla="*/ 2953683 h 2953683"/>
              <a:gd name="connsiteX1" fmla="*/ 0 w 5125566"/>
              <a:gd name="connsiteY1" fmla="*/ 2117735 h 2953683"/>
              <a:gd name="connsiteX2" fmla="*/ 2003551 w 5125566"/>
              <a:gd name="connsiteY2" fmla="*/ 0 h 2953683"/>
              <a:gd name="connsiteX3" fmla="*/ 5125566 w 5125566"/>
              <a:gd name="connsiteY3" fmla="*/ 2953683 h 2953683"/>
              <a:gd name="connsiteX4" fmla="*/ 0 w 5125566"/>
              <a:gd name="connsiteY4" fmla="*/ 2953683 h 2953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5566" h="2953683">
                <a:moveTo>
                  <a:pt x="0" y="2953683"/>
                </a:moveTo>
                <a:lnTo>
                  <a:pt x="0" y="2117735"/>
                </a:lnTo>
                <a:lnTo>
                  <a:pt x="2003551" y="0"/>
                </a:lnTo>
                <a:lnTo>
                  <a:pt x="5125566" y="2953683"/>
                </a:lnTo>
                <a:lnTo>
                  <a:pt x="0" y="2953683"/>
                </a:lnTo>
                <a:close/>
              </a:path>
            </a:pathLst>
          </a:cu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98B0AB5-7CE8-6514-4BB8-5C9A1172DB2A}"/>
              </a:ext>
            </a:extLst>
          </p:cNvPr>
          <p:cNvSpPr txBox="1"/>
          <p:nvPr/>
        </p:nvSpPr>
        <p:spPr>
          <a:xfrm>
            <a:off x="3303143" y="3396958"/>
            <a:ext cx="5585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00000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ea typeface="方正兰亭粗黑简体" panose="02000000000000000000" pitchFamily="2" charset="-122"/>
              </a:rPr>
              <a:t>总 结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DC68C72-9F03-DA1C-FAFF-2D394045BEEE}"/>
              </a:ext>
            </a:extLst>
          </p:cNvPr>
          <p:cNvSpPr txBox="1"/>
          <p:nvPr/>
        </p:nvSpPr>
        <p:spPr>
          <a:xfrm>
            <a:off x="5353094" y="2138920"/>
            <a:ext cx="14858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dirty="0">
                <a:solidFill>
                  <a:srgbClr val="000000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05</a:t>
            </a:r>
            <a:endParaRPr lang="zh-CN" altLang="en-US" sz="8000" b="1" dirty="0">
              <a:solidFill>
                <a:srgbClr val="000000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443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725445" y="1600979"/>
            <a:ext cx="2064799" cy="788783"/>
            <a:chOff x="3095626" y="1206106"/>
            <a:chExt cx="1549003" cy="591741"/>
          </a:xfrm>
        </p:grpSpPr>
        <p:cxnSp>
          <p:nvCxnSpPr>
            <p:cNvPr id="3" name="Straight Connector 62"/>
            <p:cNvCxnSpPr/>
            <p:nvPr/>
          </p:nvCxnSpPr>
          <p:spPr>
            <a:xfrm>
              <a:off x="3095626" y="1458516"/>
              <a:ext cx="1348980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28"/>
            <p:cNvSpPr/>
            <p:nvPr/>
          </p:nvSpPr>
          <p:spPr bwMode="auto">
            <a:xfrm>
              <a:off x="4052888" y="1206106"/>
              <a:ext cx="591741" cy="591741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d-ID" sz="1600"/>
            </a:p>
          </p:txBody>
        </p:sp>
        <p:grpSp>
          <p:nvGrpSpPr>
            <p:cNvPr id="5" name="Group 38"/>
            <p:cNvGrpSpPr>
              <a:grpSpLocks noChangeAspect="1"/>
            </p:cNvGrpSpPr>
            <p:nvPr/>
          </p:nvGrpSpPr>
          <p:grpSpPr>
            <a:xfrm>
              <a:off x="4162193" y="1311775"/>
              <a:ext cx="365627" cy="365627"/>
              <a:chOff x="-2771775" y="66675"/>
              <a:chExt cx="827087" cy="827088"/>
            </a:xfrm>
            <a:solidFill>
              <a:schemeClr val="bg1"/>
            </a:solidFill>
          </p:grpSpPr>
          <p:sp>
            <p:nvSpPr>
              <p:cNvPr id="6" name="Freeform 19"/>
              <p:cNvSpPr>
                <a:spLocks noEditPoints="1"/>
              </p:cNvSpPr>
              <p:nvPr/>
            </p:nvSpPr>
            <p:spPr bwMode="auto">
              <a:xfrm>
                <a:off x="-2771775" y="66675"/>
                <a:ext cx="827087" cy="827088"/>
              </a:xfrm>
              <a:custGeom>
                <a:avLst/>
                <a:gdLst>
                  <a:gd name="T0" fmla="*/ 188 w 220"/>
                  <a:gd name="T1" fmla="*/ 83 h 220"/>
                  <a:gd name="T2" fmla="*/ 196 w 220"/>
                  <a:gd name="T3" fmla="*/ 56 h 220"/>
                  <a:gd name="T4" fmla="*/ 181 w 220"/>
                  <a:gd name="T5" fmla="*/ 26 h 220"/>
                  <a:gd name="T6" fmla="*/ 164 w 220"/>
                  <a:gd name="T7" fmla="*/ 24 h 220"/>
                  <a:gd name="T8" fmla="*/ 137 w 220"/>
                  <a:gd name="T9" fmla="*/ 32 h 220"/>
                  <a:gd name="T10" fmla="*/ 119 w 220"/>
                  <a:gd name="T11" fmla="*/ 0 h 220"/>
                  <a:gd name="T12" fmla="*/ 87 w 220"/>
                  <a:gd name="T13" fmla="*/ 11 h 220"/>
                  <a:gd name="T14" fmla="*/ 74 w 220"/>
                  <a:gd name="T15" fmla="*/ 36 h 220"/>
                  <a:gd name="T16" fmla="*/ 49 w 220"/>
                  <a:gd name="T17" fmla="*/ 22 h 220"/>
                  <a:gd name="T18" fmla="*/ 26 w 220"/>
                  <a:gd name="T19" fmla="*/ 39 h 220"/>
                  <a:gd name="T20" fmla="*/ 36 w 220"/>
                  <a:gd name="T21" fmla="*/ 74 h 220"/>
                  <a:gd name="T22" fmla="*/ 11 w 220"/>
                  <a:gd name="T23" fmla="*/ 87 h 220"/>
                  <a:gd name="T24" fmla="*/ 0 w 220"/>
                  <a:gd name="T25" fmla="*/ 119 h 220"/>
                  <a:gd name="T26" fmla="*/ 32 w 220"/>
                  <a:gd name="T27" fmla="*/ 137 h 220"/>
                  <a:gd name="T28" fmla="*/ 24 w 220"/>
                  <a:gd name="T29" fmla="*/ 164 h 220"/>
                  <a:gd name="T30" fmla="*/ 39 w 220"/>
                  <a:gd name="T31" fmla="*/ 194 h 220"/>
                  <a:gd name="T32" fmla="*/ 56 w 220"/>
                  <a:gd name="T33" fmla="*/ 196 h 220"/>
                  <a:gd name="T34" fmla="*/ 83 w 220"/>
                  <a:gd name="T35" fmla="*/ 188 h 220"/>
                  <a:gd name="T36" fmla="*/ 101 w 220"/>
                  <a:gd name="T37" fmla="*/ 220 h 220"/>
                  <a:gd name="T38" fmla="*/ 133 w 220"/>
                  <a:gd name="T39" fmla="*/ 209 h 220"/>
                  <a:gd name="T40" fmla="*/ 146 w 220"/>
                  <a:gd name="T41" fmla="*/ 184 h 220"/>
                  <a:gd name="T42" fmla="*/ 171 w 220"/>
                  <a:gd name="T43" fmla="*/ 198 h 220"/>
                  <a:gd name="T44" fmla="*/ 194 w 220"/>
                  <a:gd name="T45" fmla="*/ 181 h 220"/>
                  <a:gd name="T46" fmla="*/ 184 w 220"/>
                  <a:gd name="T47" fmla="*/ 146 h 220"/>
                  <a:gd name="T48" fmla="*/ 209 w 220"/>
                  <a:gd name="T49" fmla="*/ 133 h 220"/>
                  <a:gd name="T50" fmla="*/ 220 w 220"/>
                  <a:gd name="T51" fmla="*/ 101 h 220"/>
                  <a:gd name="T52" fmla="*/ 185 w 220"/>
                  <a:gd name="T53" fmla="*/ 124 h 220"/>
                  <a:gd name="T54" fmla="*/ 172 w 220"/>
                  <a:gd name="T55" fmla="*/ 140 h 220"/>
                  <a:gd name="T56" fmla="*/ 185 w 220"/>
                  <a:gd name="T57" fmla="*/ 171 h 220"/>
                  <a:gd name="T58" fmla="*/ 154 w 220"/>
                  <a:gd name="T59" fmla="*/ 173 h 220"/>
                  <a:gd name="T60" fmla="*/ 140 w 220"/>
                  <a:gd name="T61" fmla="*/ 172 h 220"/>
                  <a:gd name="T62" fmla="*/ 124 w 220"/>
                  <a:gd name="T63" fmla="*/ 185 h 220"/>
                  <a:gd name="T64" fmla="*/ 101 w 220"/>
                  <a:gd name="T65" fmla="*/ 206 h 220"/>
                  <a:gd name="T66" fmla="*/ 87 w 220"/>
                  <a:gd name="T67" fmla="*/ 175 h 220"/>
                  <a:gd name="T68" fmla="*/ 74 w 220"/>
                  <a:gd name="T69" fmla="*/ 170 h 220"/>
                  <a:gd name="T70" fmla="*/ 49 w 220"/>
                  <a:gd name="T71" fmla="*/ 185 h 220"/>
                  <a:gd name="T72" fmla="*/ 47 w 220"/>
                  <a:gd name="T73" fmla="*/ 154 h 220"/>
                  <a:gd name="T74" fmla="*/ 45 w 220"/>
                  <a:gd name="T75" fmla="*/ 133 h 220"/>
                  <a:gd name="T76" fmla="*/ 14 w 220"/>
                  <a:gd name="T77" fmla="*/ 119 h 220"/>
                  <a:gd name="T78" fmla="*/ 35 w 220"/>
                  <a:gd name="T79" fmla="*/ 96 h 220"/>
                  <a:gd name="T80" fmla="*/ 48 w 220"/>
                  <a:gd name="T81" fmla="*/ 80 h 220"/>
                  <a:gd name="T82" fmla="*/ 35 w 220"/>
                  <a:gd name="T83" fmla="*/ 49 h 220"/>
                  <a:gd name="T84" fmla="*/ 66 w 220"/>
                  <a:gd name="T85" fmla="*/ 47 h 220"/>
                  <a:gd name="T86" fmla="*/ 80 w 220"/>
                  <a:gd name="T87" fmla="*/ 48 h 220"/>
                  <a:gd name="T88" fmla="*/ 96 w 220"/>
                  <a:gd name="T89" fmla="*/ 35 h 220"/>
                  <a:gd name="T90" fmla="*/ 119 w 220"/>
                  <a:gd name="T91" fmla="*/ 14 h 220"/>
                  <a:gd name="T92" fmla="*/ 133 w 220"/>
                  <a:gd name="T93" fmla="*/ 45 h 220"/>
                  <a:gd name="T94" fmla="*/ 146 w 220"/>
                  <a:gd name="T95" fmla="*/ 50 h 220"/>
                  <a:gd name="T96" fmla="*/ 171 w 220"/>
                  <a:gd name="T97" fmla="*/ 35 h 220"/>
                  <a:gd name="T98" fmla="*/ 173 w 220"/>
                  <a:gd name="T99" fmla="*/ 66 h 220"/>
                  <a:gd name="T100" fmla="*/ 175 w 220"/>
                  <a:gd name="T101" fmla="*/ 87 h 220"/>
                  <a:gd name="T102" fmla="*/ 206 w 220"/>
                  <a:gd name="T103" fmla="*/ 101 h 220"/>
                  <a:gd name="T104" fmla="*/ 185 w 220"/>
                  <a:gd name="T105" fmla="*/ 124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20" h="220">
                    <a:moveTo>
                      <a:pt x="209" y="87"/>
                    </a:moveTo>
                    <a:cubicBezTo>
                      <a:pt x="188" y="83"/>
                      <a:pt x="188" y="83"/>
                      <a:pt x="188" y="83"/>
                    </a:cubicBezTo>
                    <a:cubicBezTo>
                      <a:pt x="187" y="80"/>
                      <a:pt x="186" y="77"/>
                      <a:pt x="184" y="74"/>
                    </a:cubicBezTo>
                    <a:cubicBezTo>
                      <a:pt x="196" y="56"/>
                      <a:pt x="196" y="56"/>
                      <a:pt x="196" y="56"/>
                    </a:cubicBezTo>
                    <a:cubicBezTo>
                      <a:pt x="200" y="51"/>
                      <a:pt x="199" y="43"/>
                      <a:pt x="194" y="39"/>
                    </a:cubicBezTo>
                    <a:cubicBezTo>
                      <a:pt x="181" y="26"/>
                      <a:pt x="181" y="26"/>
                      <a:pt x="181" y="26"/>
                    </a:cubicBezTo>
                    <a:cubicBezTo>
                      <a:pt x="179" y="23"/>
                      <a:pt x="175" y="22"/>
                      <a:pt x="171" y="22"/>
                    </a:cubicBezTo>
                    <a:cubicBezTo>
                      <a:pt x="169" y="22"/>
                      <a:pt x="166" y="22"/>
                      <a:pt x="164" y="24"/>
                    </a:cubicBezTo>
                    <a:cubicBezTo>
                      <a:pt x="146" y="36"/>
                      <a:pt x="146" y="36"/>
                      <a:pt x="146" y="36"/>
                    </a:cubicBezTo>
                    <a:cubicBezTo>
                      <a:pt x="143" y="34"/>
                      <a:pt x="140" y="33"/>
                      <a:pt x="137" y="3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5"/>
                      <a:pt x="126" y="0"/>
                      <a:pt x="119" y="0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94" y="0"/>
                      <a:pt x="88" y="5"/>
                      <a:pt x="87" y="11"/>
                    </a:cubicBezTo>
                    <a:cubicBezTo>
                      <a:pt x="83" y="32"/>
                      <a:pt x="83" y="32"/>
                      <a:pt x="83" y="32"/>
                    </a:cubicBezTo>
                    <a:cubicBezTo>
                      <a:pt x="80" y="33"/>
                      <a:pt x="77" y="34"/>
                      <a:pt x="74" y="36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4" y="22"/>
                      <a:pt x="51" y="22"/>
                      <a:pt x="49" y="22"/>
                    </a:cubicBezTo>
                    <a:cubicBezTo>
                      <a:pt x="45" y="22"/>
                      <a:pt x="41" y="23"/>
                      <a:pt x="39" y="26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1" y="43"/>
                      <a:pt x="20" y="51"/>
                      <a:pt x="24" y="56"/>
                    </a:cubicBezTo>
                    <a:cubicBezTo>
                      <a:pt x="36" y="74"/>
                      <a:pt x="36" y="74"/>
                      <a:pt x="36" y="74"/>
                    </a:cubicBezTo>
                    <a:cubicBezTo>
                      <a:pt x="34" y="77"/>
                      <a:pt x="33" y="80"/>
                      <a:pt x="32" y="83"/>
                    </a:cubicBezTo>
                    <a:cubicBezTo>
                      <a:pt x="11" y="87"/>
                      <a:pt x="11" y="87"/>
                      <a:pt x="11" y="87"/>
                    </a:cubicBezTo>
                    <a:cubicBezTo>
                      <a:pt x="5" y="88"/>
                      <a:pt x="0" y="94"/>
                      <a:pt x="0" y="101"/>
                    </a:cubicBezTo>
                    <a:cubicBezTo>
                      <a:pt x="0" y="119"/>
                      <a:pt x="0" y="119"/>
                      <a:pt x="0" y="119"/>
                    </a:cubicBezTo>
                    <a:cubicBezTo>
                      <a:pt x="0" y="126"/>
                      <a:pt x="5" y="132"/>
                      <a:pt x="11" y="133"/>
                    </a:cubicBezTo>
                    <a:cubicBezTo>
                      <a:pt x="32" y="137"/>
                      <a:pt x="32" y="137"/>
                      <a:pt x="32" y="137"/>
                    </a:cubicBezTo>
                    <a:cubicBezTo>
                      <a:pt x="33" y="140"/>
                      <a:pt x="34" y="143"/>
                      <a:pt x="36" y="146"/>
                    </a:cubicBezTo>
                    <a:cubicBezTo>
                      <a:pt x="24" y="164"/>
                      <a:pt x="24" y="164"/>
                      <a:pt x="24" y="164"/>
                    </a:cubicBezTo>
                    <a:cubicBezTo>
                      <a:pt x="20" y="169"/>
                      <a:pt x="21" y="177"/>
                      <a:pt x="26" y="181"/>
                    </a:cubicBezTo>
                    <a:cubicBezTo>
                      <a:pt x="39" y="194"/>
                      <a:pt x="39" y="194"/>
                      <a:pt x="39" y="194"/>
                    </a:cubicBezTo>
                    <a:cubicBezTo>
                      <a:pt x="41" y="197"/>
                      <a:pt x="45" y="198"/>
                      <a:pt x="49" y="198"/>
                    </a:cubicBezTo>
                    <a:cubicBezTo>
                      <a:pt x="51" y="198"/>
                      <a:pt x="54" y="198"/>
                      <a:pt x="56" y="196"/>
                    </a:cubicBezTo>
                    <a:cubicBezTo>
                      <a:pt x="74" y="184"/>
                      <a:pt x="74" y="184"/>
                      <a:pt x="74" y="184"/>
                    </a:cubicBezTo>
                    <a:cubicBezTo>
                      <a:pt x="77" y="186"/>
                      <a:pt x="80" y="187"/>
                      <a:pt x="83" y="188"/>
                    </a:cubicBezTo>
                    <a:cubicBezTo>
                      <a:pt x="87" y="209"/>
                      <a:pt x="87" y="209"/>
                      <a:pt x="87" y="209"/>
                    </a:cubicBezTo>
                    <a:cubicBezTo>
                      <a:pt x="88" y="215"/>
                      <a:pt x="94" y="220"/>
                      <a:pt x="101" y="220"/>
                    </a:cubicBezTo>
                    <a:cubicBezTo>
                      <a:pt x="119" y="220"/>
                      <a:pt x="119" y="220"/>
                      <a:pt x="119" y="220"/>
                    </a:cubicBezTo>
                    <a:cubicBezTo>
                      <a:pt x="126" y="220"/>
                      <a:pt x="132" y="215"/>
                      <a:pt x="133" y="209"/>
                    </a:cubicBezTo>
                    <a:cubicBezTo>
                      <a:pt x="137" y="188"/>
                      <a:pt x="137" y="188"/>
                      <a:pt x="137" y="188"/>
                    </a:cubicBezTo>
                    <a:cubicBezTo>
                      <a:pt x="140" y="187"/>
                      <a:pt x="143" y="186"/>
                      <a:pt x="146" y="184"/>
                    </a:cubicBezTo>
                    <a:cubicBezTo>
                      <a:pt x="164" y="196"/>
                      <a:pt x="164" y="196"/>
                      <a:pt x="164" y="196"/>
                    </a:cubicBezTo>
                    <a:cubicBezTo>
                      <a:pt x="166" y="198"/>
                      <a:pt x="169" y="198"/>
                      <a:pt x="171" y="198"/>
                    </a:cubicBezTo>
                    <a:cubicBezTo>
                      <a:pt x="175" y="198"/>
                      <a:pt x="179" y="197"/>
                      <a:pt x="181" y="194"/>
                    </a:cubicBezTo>
                    <a:cubicBezTo>
                      <a:pt x="194" y="181"/>
                      <a:pt x="194" y="181"/>
                      <a:pt x="194" y="181"/>
                    </a:cubicBezTo>
                    <a:cubicBezTo>
                      <a:pt x="199" y="177"/>
                      <a:pt x="200" y="169"/>
                      <a:pt x="196" y="164"/>
                    </a:cubicBezTo>
                    <a:cubicBezTo>
                      <a:pt x="184" y="146"/>
                      <a:pt x="184" y="146"/>
                      <a:pt x="184" y="146"/>
                    </a:cubicBezTo>
                    <a:cubicBezTo>
                      <a:pt x="186" y="143"/>
                      <a:pt x="187" y="140"/>
                      <a:pt x="188" y="137"/>
                    </a:cubicBezTo>
                    <a:cubicBezTo>
                      <a:pt x="209" y="133"/>
                      <a:pt x="209" y="133"/>
                      <a:pt x="209" y="133"/>
                    </a:cubicBezTo>
                    <a:cubicBezTo>
                      <a:pt x="215" y="132"/>
                      <a:pt x="220" y="126"/>
                      <a:pt x="220" y="119"/>
                    </a:cubicBezTo>
                    <a:cubicBezTo>
                      <a:pt x="220" y="101"/>
                      <a:pt x="220" y="101"/>
                      <a:pt x="220" y="101"/>
                    </a:cubicBezTo>
                    <a:cubicBezTo>
                      <a:pt x="220" y="94"/>
                      <a:pt x="215" y="88"/>
                      <a:pt x="209" y="87"/>
                    </a:cubicBezTo>
                    <a:close/>
                    <a:moveTo>
                      <a:pt x="185" y="124"/>
                    </a:moveTo>
                    <a:cubicBezTo>
                      <a:pt x="180" y="125"/>
                      <a:pt x="176" y="128"/>
                      <a:pt x="175" y="133"/>
                    </a:cubicBezTo>
                    <a:cubicBezTo>
                      <a:pt x="174" y="135"/>
                      <a:pt x="173" y="138"/>
                      <a:pt x="172" y="140"/>
                    </a:cubicBezTo>
                    <a:cubicBezTo>
                      <a:pt x="170" y="144"/>
                      <a:pt x="170" y="149"/>
                      <a:pt x="173" y="154"/>
                    </a:cubicBezTo>
                    <a:cubicBezTo>
                      <a:pt x="185" y="171"/>
                      <a:pt x="185" y="171"/>
                      <a:pt x="185" y="171"/>
                    </a:cubicBezTo>
                    <a:cubicBezTo>
                      <a:pt x="171" y="185"/>
                      <a:pt x="171" y="185"/>
                      <a:pt x="171" y="185"/>
                    </a:cubicBezTo>
                    <a:cubicBezTo>
                      <a:pt x="154" y="173"/>
                      <a:pt x="154" y="173"/>
                      <a:pt x="154" y="173"/>
                    </a:cubicBezTo>
                    <a:cubicBezTo>
                      <a:pt x="151" y="171"/>
                      <a:pt x="149" y="170"/>
                      <a:pt x="146" y="170"/>
                    </a:cubicBezTo>
                    <a:cubicBezTo>
                      <a:pt x="144" y="170"/>
                      <a:pt x="142" y="171"/>
                      <a:pt x="140" y="172"/>
                    </a:cubicBezTo>
                    <a:cubicBezTo>
                      <a:pt x="138" y="173"/>
                      <a:pt x="135" y="174"/>
                      <a:pt x="133" y="175"/>
                    </a:cubicBezTo>
                    <a:cubicBezTo>
                      <a:pt x="128" y="176"/>
                      <a:pt x="125" y="180"/>
                      <a:pt x="124" y="185"/>
                    </a:cubicBezTo>
                    <a:cubicBezTo>
                      <a:pt x="119" y="206"/>
                      <a:pt x="119" y="206"/>
                      <a:pt x="119" y="206"/>
                    </a:cubicBezTo>
                    <a:cubicBezTo>
                      <a:pt x="101" y="206"/>
                      <a:pt x="101" y="206"/>
                      <a:pt x="101" y="206"/>
                    </a:cubicBezTo>
                    <a:cubicBezTo>
                      <a:pt x="96" y="185"/>
                      <a:pt x="96" y="185"/>
                      <a:pt x="96" y="185"/>
                    </a:cubicBezTo>
                    <a:cubicBezTo>
                      <a:pt x="95" y="180"/>
                      <a:pt x="92" y="176"/>
                      <a:pt x="87" y="175"/>
                    </a:cubicBezTo>
                    <a:cubicBezTo>
                      <a:pt x="85" y="174"/>
                      <a:pt x="82" y="173"/>
                      <a:pt x="80" y="172"/>
                    </a:cubicBezTo>
                    <a:cubicBezTo>
                      <a:pt x="78" y="171"/>
                      <a:pt x="76" y="170"/>
                      <a:pt x="74" y="170"/>
                    </a:cubicBezTo>
                    <a:cubicBezTo>
                      <a:pt x="71" y="170"/>
                      <a:pt x="69" y="171"/>
                      <a:pt x="66" y="173"/>
                    </a:cubicBezTo>
                    <a:cubicBezTo>
                      <a:pt x="49" y="185"/>
                      <a:pt x="49" y="185"/>
                      <a:pt x="49" y="185"/>
                    </a:cubicBezTo>
                    <a:cubicBezTo>
                      <a:pt x="35" y="171"/>
                      <a:pt x="35" y="171"/>
                      <a:pt x="35" y="171"/>
                    </a:cubicBezTo>
                    <a:cubicBezTo>
                      <a:pt x="47" y="154"/>
                      <a:pt x="47" y="154"/>
                      <a:pt x="47" y="154"/>
                    </a:cubicBezTo>
                    <a:cubicBezTo>
                      <a:pt x="50" y="149"/>
                      <a:pt x="50" y="144"/>
                      <a:pt x="48" y="140"/>
                    </a:cubicBezTo>
                    <a:cubicBezTo>
                      <a:pt x="47" y="138"/>
                      <a:pt x="46" y="135"/>
                      <a:pt x="45" y="133"/>
                    </a:cubicBezTo>
                    <a:cubicBezTo>
                      <a:pt x="44" y="128"/>
                      <a:pt x="40" y="125"/>
                      <a:pt x="35" y="124"/>
                    </a:cubicBezTo>
                    <a:cubicBezTo>
                      <a:pt x="14" y="119"/>
                      <a:pt x="14" y="119"/>
                      <a:pt x="14" y="119"/>
                    </a:cubicBezTo>
                    <a:cubicBezTo>
                      <a:pt x="14" y="101"/>
                      <a:pt x="14" y="101"/>
                      <a:pt x="14" y="101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40" y="95"/>
                      <a:pt x="44" y="92"/>
                      <a:pt x="45" y="87"/>
                    </a:cubicBezTo>
                    <a:cubicBezTo>
                      <a:pt x="46" y="85"/>
                      <a:pt x="47" y="82"/>
                      <a:pt x="48" y="80"/>
                    </a:cubicBezTo>
                    <a:cubicBezTo>
                      <a:pt x="50" y="76"/>
                      <a:pt x="50" y="71"/>
                      <a:pt x="47" y="66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66" y="47"/>
                      <a:pt x="66" y="47"/>
                      <a:pt x="66" y="47"/>
                    </a:cubicBezTo>
                    <a:cubicBezTo>
                      <a:pt x="69" y="49"/>
                      <a:pt x="71" y="50"/>
                      <a:pt x="74" y="50"/>
                    </a:cubicBezTo>
                    <a:cubicBezTo>
                      <a:pt x="76" y="50"/>
                      <a:pt x="78" y="49"/>
                      <a:pt x="80" y="48"/>
                    </a:cubicBezTo>
                    <a:cubicBezTo>
                      <a:pt x="82" y="47"/>
                      <a:pt x="85" y="46"/>
                      <a:pt x="87" y="45"/>
                    </a:cubicBezTo>
                    <a:cubicBezTo>
                      <a:pt x="92" y="44"/>
                      <a:pt x="95" y="40"/>
                      <a:pt x="96" y="35"/>
                    </a:cubicBezTo>
                    <a:cubicBezTo>
                      <a:pt x="101" y="14"/>
                      <a:pt x="101" y="14"/>
                      <a:pt x="101" y="14"/>
                    </a:cubicBezTo>
                    <a:cubicBezTo>
                      <a:pt x="119" y="14"/>
                      <a:pt x="119" y="14"/>
                      <a:pt x="119" y="14"/>
                    </a:cubicBezTo>
                    <a:cubicBezTo>
                      <a:pt x="124" y="35"/>
                      <a:pt x="124" y="35"/>
                      <a:pt x="124" y="35"/>
                    </a:cubicBezTo>
                    <a:cubicBezTo>
                      <a:pt x="125" y="40"/>
                      <a:pt x="128" y="44"/>
                      <a:pt x="133" y="45"/>
                    </a:cubicBezTo>
                    <a:cubicBezTo>
                      <a:pt x="135" y="46"/>
                      <a:pt x="138" y="47"/>
                      <a:pt x="140" y="48"/>
                    </a:cubicBezTo>
                    <a:cubicBezTo>
                      <a:pt x="142" y="49"/>
                      <a:pt x="144" y="50"/>
                      <a:pt x="146" y="50"/>
                    </a:cubicBezTo>
                    <a:cubicBezTo>
                      <a:pt x="149" y="50"/>
                      <a:pt x="151" y="49"/>
                      <a:pt x="154" y="47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85" y="49"/>
                      <a:pt x="185" y="49"/>
                      <a:pt x="185" y="49"/>
                    </a:cubicBezTo>
                    <a:cubicBezTo>
                      <a:pt x="173" y="66"/>
                      <a:pt x="173" y="66"/>
                      <a:pt x="173" y="66"/>
                    </a:cubicBezTo>
                    <a:cubicBezTo>
                      <a:pt x="170" y="71"/>
                      <a:pt x="170" y="76"/>
                      <a:pt x="172" y="80"/>
                    </a:cubicBezTo>
                    <a:cubicBezTo>
                      <a:pt x="173" y="82"/>
                      <a:pt x="174" y="85"/>
                      <a:pt x="175" y="87"/>
                    </a:cubicBezTo>
                    <a:cubicBezTo>
                      <a:pt x="176" y="92"/>
                      <a:pt x="180" y="95"/>
                      <a:pt x="185" y="96"/>
                    </a:cubicBezTo>
                    <a:cubicBezTo>
                      <a:pt x="206" y="101"/>
                      <a:pt x="206" y="101"/>
                      <a:pt x="206" y="101"/>
                    </a:cubicBezTo>
                    <a:cubicBezTo>
                      <a:pt x="206" y="119"/>
                      <a:pt x="206" y="119"/>
                      <a:pt x="206" y="119"/>
                    </a:cubicBezTo>
                    <a:lnTo>
                      <a:pt x="185" y="1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id-ID" sz="1600"/>
              </a:p>
            </p:txBody>
          </p:sp>
          <p:sp>
            <p:nvSpPr>
              <p:cNvPr id="7" name="Freeform 20"/>
              <p:cNvSpPr>
                <a:spLocks noEditPoints="1"/>
              </p:cNvSpPr>
              <p:nvPr/>
            </p:nvSpPr>
            <p:spPr bwMode="auto">
              <a:xfrm>
                <a:off x="-2538413" y="300038"/>
                <a:ext cx="360362" cy="360363"/>
              </a:xfrm>
              <a:custGeom>
                <a:avLst/>
                <a:gdLst>
                  <a:gd name="T0" fmla="*/ 48 w 96"/>
                  <a:gd name="T1" fmla="*/ 0 h 96"/>
                  <a:gd name="T2" fmla="*/ 0 w 96"/>
                  <a:gd name="T3" fmla="*/ 48 h 96"/>
                  <a:gd name="T4" fmla="*/ 48 w 96"/>
                  <a:gd name="T5" fmla="*/ 96 h 96"/>
                  <a:gd name="T6" fmla="*/ 96 w 96"/>
                  <a:gd name="T7" fmla="*/ 48 h 96"/>
                  <a:gd name="T8" fmla="*/ 48 w 96"/>
                  <a:gd name="T9" fmla="*/ 0 h 96"/>
                  <a:gd name="T10" fmla="*/ 48 w 96"/>
                  <a:gd name="T11" fmla="*/ 90 h 96"/>
                  <a:gd name="T12" fmla="*/ 6 w 96"/>
                  <a:gd name="T13" fmla="*/ 48 h 96"/>
                  <a:gd name="T14" fmla="*/ 48 w 96"/>
                  <a:gd name="T15" fmla="*/ 6 h 96"/>
                  <a:gd name="T16" fmla="*/ 90 w 96"/>
                  <a:gd name="T17" fmla="*/ 48 h 96"/>
                  <a:gd name="T18" fmla="*/ 48 w 96"/>
                  <a:gd name="T19" fmla="*/ 9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" h="96">
                    <a:moveTo>
                      <a:pt x="48" y="0"/>
                    </a:moveTo>
                    <a:cubicBezTo>
                      <a:pt x="21" y="0"/>
                      <a:pt x="0" y="21"/>
                      <a:pt x="0" y="48"/>
                    </a:cubicBezTo>
                    <a:cubicBezTo>
                      <a:pt x="0" y="75"/>
                      <a:pt x="21" y="96"/>
                      <a:pt x="48" y="96"/>
                    </a:cubicBezTo>
                    <a:cubicBezTo>
                      <a:pt x="75" y="96"/>
                      <a:pt x="96" y="75"/>
                      <a:pt x="96" y="48"/>
                    </a:cubicBezTo>
                    <a:cubicBezTo>
                      <a:pt x="96" y="21"/>
                      <a:pt x="75" y="0"/>
                      <a:pt x="48" y="0"/>
                    </a:cubicBezTo>
                    <a:close/>
                    <a:moveTo>
                      <a:pt x="48" y="90"/>
                    </a:moveTo>
                    <a:cubicBezTo>
                      <a:pt x="25" y="90"/>
                      <a:pt x="6" y="71"/>
                      <a:pt x="6" y="48"/>
                    </a:cubicBezTo>
                    <a:cubicBezTo>
                      <a:pt x="6" y="25"/>
                      <a:pt x="25" y="6"/>
                      <a:pt x="48" y="6"/>
                    </a:cubicBezTo>
                    <a:cubicBezTo>
                      <a:pt x="71" y="6"/>
                      <a:pt x="90" y="25"/>
                      <a:pt x="90" y="48"/>
                    </a:cubicBezTo>
                    <a:cubicBezTo>
                      <a:pt x="90" y="71"/>
                      <a:pt x="71" y="90"/>
                      <a:pt x="48" y="9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id-ID" sz="1600"/>
              </a:p>
            </p:txBody>
          </p:sp>
          <p:sp>
            <p:nvSpPr>
              <p:cNvPr id="8" name="Freeform 21"/>
              <p:cNvSpPr>
                <a:spLocks noEditPoints="1"/>
              </p:cNvSpPr>
              <p:nvPr/>
            </p:nvSpPr>
            <p:spPr bwMode="auto">
              <a:xfrm>
                <a:off x="-2460625" y="374650"/>
                <a:ext cx="207962" cy="206375"/>
              </a:xfrm>
              <a:custGeom>
                <a:avLst/>
                <a:gdLst>
                  <a:gd name="T0" fmla="*/ 27 w 55"/>
                  <a:gd name="T1" fmla="*/ 0 h 55"/>
                  <a:gd name="T2" fmla="*/ 0 w 55"/>
                  <a:gd name="T3" fmla="*/ 28 h 55"/>
                  <a:gd name="T4" fmla="*/ 27 w 55"/>
                  <a:gd name="T5" fmla="*/ 55 h 55"/>
                  <a:gd name="T6" fmla="*/ 55 w 55"/>
                  <a:gd name="T7" fmla="*/ 28 h 55"/>
                  <a:gd name="T8" fmla="*/ 27 w 55"/>
                  <a:gd name="T9" fmla="*/ 0 h 55"/>
                  <a:gd name="T10" fmla="*/ 27 w 55"/>
                  <a:gd name="T11" fmla="*/ 49 h 55"/>
                  <a:gd name="T12" fmla="*/ 6 w 55"/>
                  <a:gd name="T13" fmla="*/ 28 h 55"/>
                  <a:gd name="T14" fmla="*/ 27 w 55"/>
                  <a:gd name="T15" fmla="*/ 7 h 55"/>
                  <a:gd name="T16" fmla="*/ 48 w 55"/>
                  <a:gd name="T17" fmla="*/ 28 h 55"/>
                  <a:gd name="T18" fmla="*/ 27 w 55"/>
                  <a:gd name="T19" fmla="*/ 49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" h="55">
                    <a:moveTo>
                      <a:pt x="27" y="0"/>
                    </a:moveTo>
                    <a:cubicBezTo>
                      <a:pt x="12" y="0"/>
                      <a:pt x="0" y="13"/>
                      <a:pt x="0" y="28"/>
                    </a:cubicBezTo>
                    <a:cubicBezTo>
                      <a:pt x="0" y="43"/>
                      <a:pt x="12" y="55"/>
                      <a:pt x="27" y="55"/>
                    </a:cubicBezTo>
                    <a:cubicBezTo>
                      <a:pt x="42" y="55"/>
                      <a:pt x="55" y="43"/>
                      <a:pt x="55" y="28"/>
                    </a:cubicBezTo>
                    <a:cubicBezTo>
                      <a:pt x="55" y="13"/>
                      <a:pt x="42" y="0"/>
                      <a:pt x="27" y="0"/>
                    </a:cubicBezTo>
                    <a:close/>
                    <a:moveTo>
                      <a:pt x="27" y="49"/>
                    </a:moveTo>
                    <a:cubicBezTo>
                      <a:pt x="16" y="49"/>
                      <a:pt x="6" y="39"/>
                      <a:pt x="6" y="28"/>
                    </a:cubicBezTo>
                    <a:cubicBezTo>
                      <a:pt x="6" y="17"/>
                      <a:pt x="16" y="7"/>
                      <a:pt x="27" y="7"/>
                    </a:cubicBezTo>
                    <a:cubicBezTo>
                      <a:pt x="38" y="7"/>
                      <a:pt x="48" y="17"/>
                      <a:pt x="48" y="28"/>
                    </a:cubicBezTo>
                    <a:cubicBezTo>
                      <a:pt x="48" y="39"/>
                      <a:pt x="38" y="49"/>
                      <a:pt x="27" y="4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id-ID" sz="1600"/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3109386" y="4930686"/>
            <a:ext cx="2520292" cy="788783"/>
            <a:chOff x="3487342" y="3704037"/>
            <a:chExt cx="1890711" cy="591741"/>
          </a:xfrm>
        </p:grpSpPr>
        <p:cxnSp>
          <p:nvCxnSpPr>
            <p:cNvPr id="10" name="Straight Connector 65"/>
            <p:cNvCxnSpPr/>
            <p:nvPr/>
          </p:nvCxnSpPr>
          <p:spPr>
            <a:xfrm>
              <a:off x="3487342" y="4013597"/>
              <a:ext cx="1350169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31"/>
            <p:cNvSpPr/>
            <p:nvPr/>
          </p:nvSpPr>
          <p:spPr bwMode="auto">
            <a:xfrm>
              <a:off x="4786312" y="3704037"/>
              <a:ext cx="591741" cy="591741"/>
            </a:xfrm>
            <a:prstGeom prst="ellipse">
              <a:avLst/>
            </a:prstGeom>
            <a:solidFill>
              <a:srgbClr val="92B6DA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d-ID" sz="1600"/>
            </a:p>
          </p:txBody>
        </p:sp>
        <p:grpSp>
          <p:nvGrpSpPr>
            <p:cNvPr id="12" name="Group 42"/>
            <p:cNvGrpSpPr/>
            <p:nvPr/>
          </p:nvGrpSpPr>
          <p:grpSpPr>
            <a:xfrm>
              <a:off x="4917922" y="3874428"/>
              <a:ext cx="324274" cy="247844"/>
              <a:chOff x="5516563" y="84138"/>
              <a:chExt cx="1414463" cy="1081087"/>
            </a:xfrm>
            <a:solidFill>
              <a:schemeClr val="bg1"/>
            </a:solidFill>
          </p:grpSpPr>
          <p:sp>
            <p:nvSpPr>
              <p:cNvPr id="13" name="Freeform 13"/>
              <p:cNvSpPr>
                <a:spLocks noEditPoints="1"/>
              </p:cNvSpPr>
              <p:nvPr/>
            </p:nvSpPr>
            <p:spPr bwMode="auto">
              <a:xfrm>
                <a:off x="5688013" y="249238"/>
                <a:ext cx="896938" cy="698500"/>
              </a:xfrm>
              <a:custGeom>
                <a:avLst/>
                <a:gdLst>
                  <a:gd name="T0" fmla="*/ 214 w 239"/>
                  <a:gd name="T1" fmla="*/ 9 h 186"/>
                  <a:gd name="T2" fmla="*/ 120 w 239"/>
                  <a:gd name="T3" fmla="*/ 0 h 186"/>
                  <a:gd name="T4" fmla="*/ 26 w 239"/>
                  <a:gd name="T5" fmla="*/ 9 h 186"/>
                  <a:gd name="T6" fmla="*/ 17 w 239"/>
                  <a:gd name="T7" fmla="*/ 17 h 186"/>
                  <a:gd name="T8" fmla="*/ 17 w 239"/>
                  <a:gd name="T9" fmla="*/ 169 h 186"/>
                  <a:gd name="T10" fmla="*/ 26 w 239"/>
                  <a:gd name="T11" fmla="*/ 177 h 186"/>
                  <a:gd name="T12" fmla="*/ 120 w 239"/>
                  <a:gd name="T13" fmla="*/ 186 h 186"/>
                  <a:gd name="T14" fmla="*/ 214 w 239"/>
                  <a:gd name="T15" fmla="*/ 177 h 186"/>
                  <a:gd name="T16" fmla="*/ 222 w 239"/>
                  <a:gd name="T17" fmla="*/ 169 h 186"/>
                  <a:gd name="T18" fmla="*/ 222 w 239"/>
                  <a:gd name="T19" fmla="*/ 17 h 186"/>
                  <a:gd name="T20" fmla="*/ 214 w 239"/>
                  <a:gd name="T21" fmla="*/ 9 h 186"/>
                  <a:gd name="T22" fmla="*/ 211 w 239"/>
                  <a:gd name="T23" fmla="*/ 165 h 186"/>
                  <a:gd name="T24" fmla="*/ 28 w 239"/>
                  <a:gd name="T25" fmla="*/ 165 h 186"/>
                  <a:gd name="T26" fmla="*/ 28 w 239"/>
                  <a:gd name="T27" fmla="*/ 21 h 186"/>
                  <a:gd name="T28" fmla="*/ 211 w 239"/>
                  <a:gd name="T29" fmla="*/ 21 h 186"/>
                  <a:gd name="T30" fmla="*/ 211 w 239"/>
                  <a:gd name="T31" fmla="*/ 165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39" h="186">
                    <a:moveTo>
                      <a:pt x="214" y="9"/>
                    </a:moveTo>
                    <a:cubicBezTo>
                      <a:pt x="182" y="3"/>
                      <a:pt x="151" y="0"/>
                      <a:pt x="120" y="0"/>
                    </a:cubicBezTo>
                    <a:cubicBezTo>
                      <a:pt x="88" y="0"/>
                      <a:pt x="57" y="3"/>
                      <a:pt x="26" y="9"/>
                    </a:cubicBezTo>
                    <a:cubicBezTo>
                      <a:pt x="22" y="10"/>
                      <a:pt x="18" y="13"/>
                      <a:pt x="17" y="17"/>
                    </a:cubicBezTo>
                    <a:cubicBezTo>
                      <a:pt x="0" y="67"/>
                      <a:pt x="0" y="118"/>
                      <a:pt x="17" y="169"/>
                    </a:cubicBezTo>
                    <a:cubicBezTo>
                      <a:pt x="18" y="173"/>
                      <a:pt x="22" y="176"/>
                      <a:pt x="26" y="177"/>
                    </a:cubicBezTo>
                    <a:cubicBezTo>
                      <a:pt x="57" y="183"/>
                      <a:pt x="88" y="186"/>
                      <a:pt x="120" y="186"/>
                    </a:cubicBezTo>
                    <a:cubicBezTo>
                      <a:pt x="151" y="186"/>
                      <a:pt x="182" y="183"/>
                      <a:pt x="214" y="177"/>
                    </a:cubicBezTo>
                    <a:cubicBezTo>
                      <a:pt x="218" y="176"/>
                      <a:pt x="221" y="173"/>
                      <a:pt x="222" y="169"/>
                    </a:cubicBezTo>
                    <a:cubicBezTo>
                      <a:pt x="239" y="118"/>
                      <a:pt x="239" y="67"/>
                      <a:pt x="222" y="17"/>
                    </a:cubicBezTo>
                    <a:cubicBezTo>
                      <a:pt x="221" y="13"/>
                      <a:pt x="218" y="10"/>
                      <a:pt x="214" y="9"/>
                    </a:cubicBezTo>
                    <a:close/>
                    <a:moveTo>
                      <a:pt x="211" y="165"/>
                    </a:moveTo>
                    <a:cubicBezTo>
                      <a:pt x="150" y="178"/>
                      <a:pt x="89" y="178"/>
                      <a:pt x="28" y="165"/>
                    </a:cubicBezTo>
                    <a:cubicBezTo>
                      <a:pt x="12" y="117"/>
                      <a:pt x="12" y="69"/>
                      <a:pt x="28" y="21"/>
                    </a:cubicBezTo>
                    <a:cubicBezTo>
                      <a:pt x="89" y="8"/>
                      <a:pt x="150" y="8"/>
                      <a:pt x="211" y="21"/>
                    </a:cubicBezTo>
                    <a:cubicBezTo>
                      <a:pt x="227" y="69"/>
                      <a:pt x="227" y="117"/>
                      <a:pt x="211" y="16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id-ID" sz="1600"/>
              </a:p>
            </p:txBody>
          </p:sp>
          <p:sp>
            <p:nvSpPr>
              <p:cNvPr id="14" name="Freeform 14"/>
              <p:cNvSpPr>
                <a:spLocks noEditPoints="1"/>
              </p:cNvSpPr>
              <p:nvPr/>
            </p:nvSpPr>
            <p:spPr bwMode="auto">
              <a:xfrm>
                <a:off x="5516563" y="84138"/>
                <a:ext cx="1414463" cy="1081087"/>
              </a:xfrm>
              <a:custGeom>
                <a:avLst/>
                <a:gdLst>
                  <a:gd name="T0" fmla="*/ 359 w 377"/>
                  <a:gd name="T1" fmla="*/ 27 h 288"/>
                  <a:gd name="T2" fmla="*/ 340 w 377"/>
                  <a:gd name="T3" fmla="*/ 9 h 288"/>
                  <a:gd name="T4" fmla="*/ 189 w 377"/>
                  <a:gd name="T5" fmla="*/ 0 h 288"/>
                  <a:gd name="T6" fmla="*/ 37 w 377"/>
                  <a:gd name="T7" fmla="*/ 9 h 288"/>
                  <a:gd name="T8" fmla="*/ 18 w 377"/>
                  <a:gd name="T9" fmla="*/ 27 h 288"/>
                  <a:gd name="T10" fmla="*/ 18 w 377"/>
                  <a:gd name="T11" fmla="*/ 250 h 288"/>
                  <a:gd name="T12" fmla="*/ 37 w 377"/>
                  <a:gd name="T13" fmla="*/ 267 h 288"/>
                  <a:gd name="T14" fmla="*/ 110 w 377"/>
                  <a:gd name="T15" fmla="*/ 274 h 288"/>
                  <a:gd name="T16" fmla="*/ 108 w 377"/>
                  <a:gd name="T17" fmla="*/ 276 h 288"/>
                  <a:gd name="T18" fmla="*/ 189 w 377"/>
                  <a:gd name="T19" fmla="*/ 288 h 288"/>
                  <a:gd name="T20" fmla="*/ 269 w 377"/>
                  <a:gd name="T21" fmla="*/ 276 h 288"/>
                  <a:gd name="T22" fmla="*/ 267 w 377"/>
                  <a:gd name="T23" fmla="*/ 274 h 288"/>
                  <a:gd name="T24" fmla="*/ 340 w 377"/>
                  <a:gd name="T25" fmla="*/ 267 h 288"/>
                  <a:gd name="T26" fmla="*/ 359 w 377"/>
                  <a:gd name="T27" fmla="*/ 250 h 288"/>
                  <a:gd name="T28" fmla="*/ 359 w 377"/>
                  <a:gd name="T29" fmla="*/ 27 h 288"/>
                  <a:gd name="T30" fmla="*/ 337 w 377"/>
                  <a:gd name="T31" fmla="*/ 244 h 288"/>
                  <a:gd name="T32" fmla="*/ 40 w 377"/>
                  <a:gd name="T33" fmla="*/ 244 h 288"/>
                  <a:gd name="T34" fmla="*/ 40 w 377"/>
                  <a:gd name="T35" fmla="*/ 32 h 288"/>
                  <a:gd name="T36" fmla="*/ 337 w 377"/>
                  <a:gd name="T37" fmla="*/ 32 h 288"/>
                  <a:gd name="T38" fmla="*/ 337 w 377"/>
                  <a:gd name="T39" fmla="*/ 2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77" h="288">
                    <a:moveTo>
                      <a:pt x="359" y="27"/>
                    </a:moveTo>
                    <a:cubicBezTo>
                      <a:pt x="357" y="17"/>
                      <a:pt x="349" y="10"/>
                      <a:pt x="340" y="9"/>
                    </a:cubicBezTo>
                    <a:cubicBezTo>
                      <a:pt x="290" y="3"/>
                      <a:pt x="239" y="0"/>
                      <a:pt x="189" y="0"/>
                    </a:cubicBezTo>
                    <a:cubicBezTo>
                      <a:pt x="138" y="0"/>
                      <a:pt x="87" y="3"/>
                      <a:pt x="37" y="9"/>
                    </a:cubicBezTo>
                    <a:cubicBezTo>
                      <a:pt x="28" y="10"/>
                      <a:pt x="20" y="17"/>
                      <a:pt x="18" y="27"/>
                    </a:cubicBezTo>
                    <a:cubicBezTo>
                      <a:pt x="0" y="101"/>
                      <a:pt x="0" y="176"/>
                      <a:pt x="18" y="250"/>
                    </a:cubicBezTo>
                    <a:cubicBezTo>
                      <a:pt x="20" y="259"/>
                      <a:pt x="28" y="266"/>
                      <a:pt x="37" y="267"/>
                    </a:cubicBezTo>
                    <a:cubicBezTo>
                      <a:pt x="61" y="270"/>
                      <a:pt x="86" y="272"/>
                      <a:pt x="110" y="274"/>
                    </a:cubicBezTo>
                    <a:cubicBezTo>
                      <a:pt x="109" y="275"/>
                      <a:pt x="108" y="275"/>
                      <a:pt x="108" y="276"/>
                    </a:cubicBezTo>
                    <a:cubicBezTo>
                      <a:pt x="108" y="283"/>
                      <a:pt x="144" y="288"/>
                      <a:pt x="189" y="288"/>
                    </a:cubicBezTo>
                    <a:cubicBezTo>
                      <a:pt x="233" y="288"/>
                      <a:pt x="269" y="283"/>
                      <a:pt x="269" y="276"/>
                    </a:cubicBezTo>
                    <a:cubicBezTo>
                      <a:pt x="269" y="275"/>
                      <a:pt x="268" y="275"/>
                      <a:pt x="267" y="274"/>
                    </a:cubicBezTo>
                    <a:cubicBezTo>
                      <a:pt x="291" y="272"/>
                      <a:pt x="316" y="270"/>
                      <a:pt x="340" y="267"/>
                    </a:cubicBezTo>
                    <a:cubicBezTo>
                      <a:pt x="349" y="266"/>
                      <a:pt x="357" y="259"/>
                      <a:pt x="359" y="250"/>
                    </a:cubicBezTo>
                    <a:cubicBezTo>
                      <a:pt x="377" y="176"/>
                      <a:pt x="377" y="101"/>
                      <a:pt x="359" y="27"/>
                    </a:cubicBezTo>
                    <a:close/>
                    <a:moveTo>
                      <a:pt x="337" y="244"/>
                    </a:moveTo>
                    <a:cubicBezTo>
                      <a:pt x="238" y="256"/>
                      <a:pt x="139" y="256"/>
                      <a:pt x="40" y="244"/>
                    </a:cubicBezTo>
                    <a:cubicBezTo>
                      <a:pt x="23" y="174"/>
                      <a:pt x="23" y="103"/>
                      <a:pt x="40" y="32"/>
                    </a:cubicBezTo>
                    <a:cubicBezTo>
                      <a:pt x="139" y="20"/>
                      <a:pt x="238" y="20"/>
                      <a:pt x="337" y="32"/>
                    </a:cubicBezTo>
                    <a:cubicBezTo>
                      <a:pt x="354" y="103"/>
                      <a:pt x="354" y="174"/>
                      <a:pt x="337" y="2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id-ID" sz="1600"/>
              </a:p>
            </p:txBody>
          </p:sp>
          <p:sp>
            <p:nvSpPr>
              <p:cNvPr id="15" name="Freeform 15"/>
              <p:cNvSpPr>
                <a:spLocks noEditPoints="1"/>
              </p:cNvSpPr>
              <p:nvPr/>
            </p:nvSpPr>
            <p:spPr bwMode="auto">
              <a:xfrm>
                <a:off x="6611938" y="301625"/>
                <a:ext cx="131763" cy="128587"/>
              </a:xfrm>
              <a:custGeom>
                <a:avLst/>
                <a:gdLst>
                  <a:gd name="T0" fmla="*/ 17 w 35"/>
                  <a:gd name="T1" fmla="*/ 34 h 34"/>
                  <a:gd name="T2" fmla="*/ 35 w 35"/>
                  <a:gd name="T3" fmla="*/ 17 h 34"/>
                  <a:gd name="T4" fmla="*/ 17 w 35"/>
                  <a:gd name="T5" fmla="*/ 0 h 34"/>
                  <a:gd name="T6" fmla="*/ 0 w 35"/>
                  <a:gd name="T7" fmla="*/ 17 h 34"/>
                  <a:gd name="T8" fmla="*/ 17 w 35"/>
                  <a:gd name="T9" fmla="*/ 34 h 34"/>
                  <a:gd name="T10" fmla="*/ 17 w 35"/>
                  <a:gd name="T11" fmla="*/ 11 h 34"/>
                  <a:gd name="T12" fmla="*/ 23 w 35"/>
                  <a:gd name="T13" fmla="*/ 17 h 34"/>
                  <a:gd name="T14" fmla="*/ 17 w 35"/>
                  <a:gd name="T15" fmla="*/ 23 h 34"/>
                  <a:gd name="T16" fmla="*/ 12 w 35"/>
                  <a:gd name="T17" fmla="*/ 17 h 34"/>
                  <a:gd name="T18" fmla="*/ 17 w 35"/>
                  <a:gd name="T1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5" h="34">
                    <a:moveTo>
                      <a:pt x="17" y="34"/>
                    </a:moveTo>
                    <a:cubicBezTo>
                      <a:pt x="27" y="34"/>
                      <a:pt x="35" y="26"/>
                      <a:pt x="35" y="17"/>
                    </a:cubicBezTo>
                    <a:cubicBezTo>
                      <a:pt x="35" y="7"/>
                      <a:pt x="27" y="0"/>
                      <a:pt x="17" y="0"/>
                    </a:cubicBezTo>
                    <a:cubicBezTo>
                      <a:pt x="8" y="0"/>
                      <a:pt x="0" y="7"/>
                      <a:pt x="0" y="17"/>
                    </a:cubicBezTo>
                    <a:cubicBezTo>
                      <a:pt x="0" y="26"/>
                      <a:pt x="8" y="34"/>
                      <a:pt x="17" y="34"/>
                    </a:cubicBezTo>
                    <a:close/>
                    <a:moveTo>
                      <a:pt x="17" y="11"/>
                    </a:moveTo>
                    <a:cubicBezTo>
                      <a:pt x="21" y="11"/>
                      <a:pt x="23" y="14"/>
                      <a:pt x="23" y="17"/>
                    </a:cubicBezTo>
                    <a:cubicBezTo>
                      <a:pt x="23" y="20"/>
                      <a:pt x="21" y="23"/>
                      <a:pt x="17" y="23"/>
                    </a:cubicBezTo>
                    <a:cubicBezTo>
                      <a:pt x="14" y="23"/>
                      <a:pt x="12" y="20"/>
                      <a:pt x="12" y="17"/>
                    </a:cubicBezTo>
                    <a:cubicBezTo>
                      <a:pt x="12" y="14"/>
                      <a:pt x="14" y="11"/>
                      <a:pt x="17" y="1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id-ID" sz="1600"/>
              </a:p>
            </p:txBody>
          </p:sp>
          <p:sp>
            <p:nvSpPr>
              <p:cNvPr id="16" name="Freeform 16"/>
              <p:cNvSpPr/>
              <p:nvPr/>
            </p:nvSpPr>
            <p:spPr bwMode="auto">
              <a:xfrm>
                <a:off x="6570663" y="860425"/>
                <a:ext cx="173038" cy="46037"/>
              </a:xfrm>
              <a:custGeom>
                <a:avLst/>
                <a:gdLst>
                  <a:gd name="T0" fmla="*/ 40 w 46"/>
                  <a:gd name="T1" fmla="*/ 0 h 12"/>
                  <a:gd name="T2" fmla="*/ 5 w 46"/>
                  <a:gd name="T3" fmla="*/ 0 h 12"/>
                  <a:gd name="T4" fmla="*/ 0 w 46"/>
                  <a:gd name="T5" fmla="*/ 6 h 12"/>
                  <a:gd name="T6" fmla="*/ 5 w 46"/>
                  <a:gd name="T7" fmla="*/ 12 h 12"/>
                  <a:gd name="T8" fmla="*/ 40 w 46"/>
                  <a:gd name="T9" fmla="*/ 12 h 12"/>
                  <a:gd name="T10" fmla="*/ 46 w 46"/>
                  <a:gd name="T11" fmla="*/ 6 h 12"/>
                  <a:gd name="T12" fmla="*/ 40 w 4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" h="12">
                    <a:moveTo>
                      <a:pt x="40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9"/>
                      <a:pt x="2" y="12"/>
                      <a:pt x="5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3" y="12"/>
                      <a:pt x="46" y="9"/>
                      <a:pt x="46" y="6"/>
                    </a:cubicBezTo>
                    <a:cubicBezTo>
                      <a:pt x="46" y="3"/>
                      <a:pt x="43" y="0"/>
                      <a:pt x="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id-ID" sz="1600"/>
              </a:p>
            </p:txBody>
          </p:sp>
          <p:sp>
            <p:nvSpPr>
              <p:cNvPr id="17" name="Freeform 17"/>
              <p:cNvSpPr/>
              <p:nvPr/>
            </p:nvSpPr>
            <p:spPr bwMode="auto">
              <a:xfrm>
                <a:off x="6611938" y="733425"/>
                <a:ext cx="173038" cy="41275"/>
              </a:xfrm>
              <a:custGeom>
                <a:avLst/>
                <a:gdLst>
                  <a:gd name="T0" fmla="*/ 40 w 46"/>
                  <a:gd name="T1" fmla="*/ 0 h 11"/>
                  <a:gd name="T2" fmla="*/ 6 w 46"/>
                  <a:gd name="T3" fmla="*/ 0 h 11"/>
                  <a:gd name="T4" fmla="*/ 0 w 46"/>
                  <a:gd name="T5" fmla="*/ 5 h 11"/>
                  <a:gd name="T6" fmla="*/ 6 w 46"/>
                  <a:gd name="T7" fmla="*/ 11 h 11"/>
                  <a:gd name="T8" fmla="*/ 40 w 46"/>
                  <a:gd name="T9" fmla="*/ 11 h 11"/>
                  <a:gd name="T10" fmla="*/ 46 w 46"/>
                  <a:gd name="T11" fmla="*/ 5 h 11"/>
                  <a:gd name="T12" fmla="*/ 40 w 46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" h="11">
                    <a:moveTo>
                      <a:pt x="40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9"/>
                      <a:pt x="3" y="11"/>
                      <a:pt x="6" y="11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4" y="11"/>
                      <a:pt x="46" y="9"/>
                      <a:pt x="46" y="5"/>
                    </a:cubicBezTo>
                    <a:cubicBezTo>
                      <a:pt x="46" y="2"/>
                      <a:pt x="44" y="0"/>
                      <a:pt x="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id-ID" sz="1600"/>
              </a:p>
            </p:txBody>
          </p:sp>
          <p:sp>
            <p:nvSpPr>
              <p:cNvPr id="18" name="Freeform 18"/>
              <p:cNvSpPr/>
              <p:nvPr/>
            </p:nvSpPr>
            <p:spPr bwMode="auto">
              <a:xfrm>
                <a:off x="6611938" y="601663"/>
                <a:ext cx="173038" cy="46037"/>
              </a:xfrm>
              <a:custGeom>
                <a:avLst/>
                <a:gdLst>
                  <a:gd name="T0" fmla="*/ 40 w 46"/>
                  <a:gd name="T1" fmla="*/ 0 h 12"/>
                  <a:gd name="T2" fmla="*/ 6 w 46"/>
                  <a:gd name="T3" fmla="*/ 0 h 12"/>
                  <a:gd name="T4" fmla="*/ 0 w 46"/>
                  <a:gd name="T5" fmla="*/ 6 h 12"/>
                  <a:gd name="T6" fmla="*/ 6 w 46"/>
                  <a:gd name="T7" fmla="*/ 12 h 12"/>
                  <a:gd name="T8" fmla="*/ 40 w 46"/>
                  <a:gd name="T9" fmla="*/ 12 h 12"/>
                  <a:gd name="T10" fmla="*/ 46 w 46"/>
                  <a:gd name="T11" fmla="*/ 6 h 12"/>
                  <a:gd name="T12" fmla="*/ 40 w 4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" h="12">
                    <a:moveTo>
                      <a:pt x="40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4" y="12"/>
                      <a:pt x="46" y="9"/>
                      <a:pt x="46" y="6"/>
                    </a:cubicBezTo>
                    <a:cubicBezTo>
                      <a:pt x="46" y="3"/>
                      <a:pt x="44" y="0"/>
                      <a:pt x="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id-ID" sz="1600"/>
              </a:p>
            </p:txBody>
          </p:sp>
          <p:sp>
            <p:nvSpPr>
              <p:cNvPr id="19" name="Freeform 19"/>
              <p:cNvSpPr/>
              <p:nvPr/>
            </p:nvSpPr>
            <p:spPr bwMode="auto">
              <a:xfrm>
                <a:off x="5880100" y="422275"/>
                <a:ext cx="258763" cy="179387"/>
              </a:xfrm>
              <a:custGeom>
                <a:avLst/>
                <a:gdLst>
                  <a:gd name="T0" fmla="*/ 63 w 69"/>
                  <a:gd name="T1" fmla="*/ 0 h 48"/>
                  <a:gd name="T2" fmla="*/ 10 w 69"/>
                  <a:gd name="T3" fmla="*/ 4 h 48"/>
                  <a:gd name="T4" fmla="*/ 3 w 69"/>
                  <a:gd name="T5" fmla="*/ 10 h 48"/>
                  <a:gd name="T6" fmla="*/ 0 w 69"/>
                  <a:gd name="T7" fmla="*/ 42 h 48"/>
                  <a:gd name="T8" fmla="*/ 5 w 69"/>
                  <a:gd name="T9" fmla="*/ 48 h 48"/>
                  <a:gd name="T10" fmla="*/ 11 w 69"/>
                  <a:gd name="T11" fmla="*/ 42 h 48"/>
                  <a:gd name="T12" fmla="*/ 13 w 69"/>
                  <a:gd name="T13" fmla="*/ 21 h 48"/>
                  <a:gd name="T14" fmla="*/ 20 w 69"/>
                  <a:gd name="T15" fmla="*/ 14 h 48"/>
                  <a:gd name="T16" fmla="*/ 63 w 69"/>
                  <a:gd name="T17" fmla="*/ 11 h 48"/>
                  <a:gd name="T18" fmla="*/ 69 w 69"/>
                  <a:gd name="T19" fmla="*/ 5 h 48"/>
                  <a:gd name="T20" fmla="*/ 63 w 69"/>
                  <a:gd name="T21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9" h="48">
                    <a:moveTo>
                      <a:pt x="63" y="0"/>
                    </a:moveTo>
                    <a:cubicBezTo>
                      <a:pt x="10" y="4"/>
                      <a:pt x="10" y="4"/>
                      <a:pt x="10" y="4"/>
                    </a:cubicBezTo>
                    <a:cubicBezTo>
                      <a:pt x="7" y="4"/>
                      <a:pt x="4" y="7"/>
                      <a:pt x="3" y="10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6"/>
                      <a:pt x="2" y="48"/>
                      <a:pt x="5" y="48"/>
                    </a:cubicBezTo>
                    <a:cubicBezTo>
                      <a:pt x="8" y="48"/>
                      <a:pt x="11" y="46"/>
                      <a:pt x="11" y="4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17"/>
                      <a:pt x="16" y="15"/>
                      <a:pt x="20" y="14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66" y="11"/>
                      <a:pt x="69" y="9"/>
                      <a:pt x="69" y="5"/>
                    </a:cubicBezTo>
                    <a:cubicBezTo>
                      <a:pt x="69" y="2"/>
                      <a:pt x="66" y="0"/>
                      <a:pt x="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id-ID" sz="1600"/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3541438" y="3832422"/>
            <a:ext cx="2790103" cy="788783"/>
            <a:chOff x="3960019" y="2880124"/>
            <a:chExt cx="2093122" cy="591741"/>
          </a:xfrm>
        </p:grpSpPr>
        <p:cxnSp>
          <p:nvCxnSpPr>
            <p:cNvPr id="21" name="Straight Connector 64"/>
            <p:cNvCxnSpPr/>
            <p:nvPr/>
          </p:nvCxnSpPr>
          <p:spPr>
            <a:xfrm>
              <a:off x="3960019" y="3177778"/>
              <a:ext cx="1619250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34"/>
            <p:cNvSpPr/>
            <p:nvPr/>
          </p:nvSpPr>
          <p:spPr bwMode="auto">
            <a:xfrm>
              <a:off x="5461401" y="2880124"/>
              <a:ext cx="591740" cy="591741"/>
            </a:xfrm>
            <a:prstGeom prst="ellipse">
              <a:avLst/>
            </a:prstGeom>
            <a:solidFill>
              <a:srgbClr val="5B9BD5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d-ID" sz="1600"/>
            </a:p>
          </p:txBody>
        </p:sp>
        <p:grpSp>
          <p:nvGrpSpPr>
            <p:cNvPr id="23" name="Group 50"/>
            <p:cNvGrpSpPr/>
            <p:nvPr/>
          </p:nvGrpSpPr>
          <p:grpSpPr>
            <a:xfrm>
              <a:off x="5582489" y="3029057"/>
              <a:ext cx="335556" cy="288970"/>
              <a:chOff x="2727325" y="-39687"/>
              <a:chExt cx="1463675" cy="1260475"/>
            </a:xfrm>
            <a:solidFill>
              <a:schemeClr val="bg1"/>
            </a:solidFill>
          </p:grpSpPr>
          <p:sp>
            <p:nvSpPr>
              <p:cNvPr id="24" name="Freeform 20"/>
              <p:cNvSpPr>
                <a:spLocks noEditPoints="1"/>
              </p:cNvSpPr>
              <p:nvPr/>
            </p:nvSpPr>
            <p:spPr bwMode="auto">
              <a:xfrm>
                <a:off x="2727325" y="-39687"/>
                <a:ext cx="1463675" cy="1260475"/>
              </a:xfrm>
              <a:custGeom>
                <a:avLst/>
                <a:gdLst>
                  <a:gd name="T0" fmla="*/ 347 w 390"/>
                  <a:gd name="T1" fmla="*/ 42 h 336"/>
                  <a:gd name="T2" fmla="*/ 195 w 390"/>
                  <a:gd name="T3" fmla="*/ 38 h 336"/>
                  <a:gd name="T4" fmla="*/ 43 w 390"/>
                  <a:gd name="T5" fmla="*/ 42 h 336"/>
                  <a:gd name="T6" fmla="*/ 43 w 390"/>
                  <a:gd name="T7" fmla="*/ 196 h 336"/>
                  <a:gd name="T8" fmla="*/ 170 w 390"/>
                  <a:gd name="T9" fmla="*/ 322 h 336"/>
                  <a:gd name="T10" fmla="*/ 220 w 390"/>
                  <a:gd name="T11" fmla="*/ 322 h 336"/>
                  <a:gd name="T12" fmla="*/ 347 w 390"/>
                  <a:gd name="T13" fmla="*/ 196 h 336"/>
                  <a:gd name="T14" fmla="*/ 347 w 390"/>
                  <a:gd name="T15" fmla="*/ 42 h 336"/>
                  <a:gd name="T16" fmla="*/ 330 w 390"/>
                  <a:gd name="T17" fmla="*/ 180 h 336"/>
                  <a:gd name="T18" fmla="*/ 203 w 390"/>
                  <a:gd name="T19" fmla="*/ 306 h 336"/>
                  <a:gd name="T20" fmla="*/ 187 w 390"/>
                  <a:gd name="T21" fmla="*/ 306 h 336"/>
                  <a:gd name="T22" fmla="*/ 59 w 390"/>
                  <a:gd name="T23" fmla="*/ 180 h 336"/>
                  <a:gd name="T24" fmla="*/ 59 w 390"/>
                  <a:gd name="T25" fmla="*/ 58 h 336"/>
                  <a:gd name="T26" fmla="*/ 179 w 390"/>
                  <a:gd name="T27" fmla="*/ 55 h 336"/>
                  <a:gd name="T28" fmla="*/ 195 w 390"/>
                  <a:gd name="T29" fmla="*/ 70 h 336"/>
                  <a:gd name="T30" fmla="*/ 210 w 390"/>
                  <a:gd name="T31" fmla="*/ 55 h 336"/>
                  <a:gd name="T32" fmla="*/ 330 w 390"/>
                  <a:gd name="T33" fmla="*/ 58 h 336"/>
                  <a:gd name="T34" fmla="*/ 330 w 390"/>
                  <a:gd name="T35" fmla="*/ 180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90" h="336">
                    <a:moveTo>
                      <a:pt x="347" y="42"/>
                    </a:moveTo>
                    <a:cubicBezTo>
                      <a:pt x="305" y="0"/>
                      <a:pt x="238" y="0"/>
                      <a:pt x="195" y="38"/>
                    </a:cubicBezTo>
                    <a:cubicBezTo>
                      <a:pt x="152" y="0"/>
                      <a:pt x="85" y="0"/>
                      <a:pt x="43" y="42"/>
                    </a:cubicBezTo>
                    <a:cubicBezTo>
                      <a:pt x="0" y="84"/>
                      <a:pt x="0" y="154"/>
                      <a:pt x="43" y="196"/>
                    </a:cubicBezTo>
                    <a:cubicBezTo>
                      <a:pt x="55" y="208"/>
                      <a:pt x="170" y="322"/>
                      <a:pt x="170" y="322"/>
                    </a:cubicBezTo>
                    <a:cubicBezTo>
                      <a:pt x="184" y="336"/>
                      <a:pt x="206" y="336"/>
                      <a:pt x="220" y="322"/>
                    </a:cubicBezTo>
                    <a:cubicBezTo>
                      <a:pt x="220" y="322"/>
                      <a:pt x="345" y="198"/>
                      <a:pt x="347" y="196"/>
                    </a:cubicBezTo>
                    <a:cubicBezTo>
                      <a:pt x="390" y="154"/>
                      <a:pt x="390" y="84"/>
                      <a:pt x="347" y="42"/>
                    </a:cubicBezTo>
                    <a:close/>
                    <a:moveTo>
                      <a:pt x="330" y="180"/>
                    </a:moveTo>
                    <a:cubicBezTo>
                      <a:pt x="203" y="306"/>
                      <a:pt x="203" y="306"/>
                      <a:pt x="203" y="306"/>
                    </a:cubicBezTo>
                    <a:cubicBezTo>
                      <a:pt x="199" y="310"/>
                      <a:pt x="191" y="310"/>
                      <a:pt x="187" y="306"/>
                    </a:cubicBezTo>
                    <a:cubicBezTo>
                      <a:pt x="59" y="180"/>
                      <a:pt x="59" y="180"/>
                      <a:pt x="59" y="180"/>
                    </a:cubicBezTo>
                    <a:cubicBezTo>
                      <a:pt x="25" y="146"/>
                      <a:pt x="25" y="92"/>
                      <a:pt x="59" y="58"/>
                    </a:cubicBezTo>
                    <a:cubicBezTo>
                      <a:pt x="92" y="26"/>
                      <a:pt x="145" y="25"/>
                      <a:pt x="179" y="55"/>
                    </a:cubicBezTo>
                    <a:cubicBezTo>
                      <a:pt x="195" y="70"/>
                      <a:pt x="195" y="70"/>
                      <a:pt x="195" y="70"/>
                    </a:cubicBezTo>
                    <a:cubicBezTo>
                      <a:pt x="210" y="55"/>
                      <a:pt x="210" y="55"/>
                      <a:pt x="210" y="55"/>
                    </a:cubicBezTo>
                    <a:cubicBezTo>
                      <a:pt x="245" y="25"/>
                      <a:pt x="298" y="26"/>
                      <a:pt x="330" y="58"/>
                    </a:cubicBezTo>
                    <a:cubicBezTo>
                      <a:pt x="364" y="92"/>
                      <a:pt x="364" y="146"/>
                      <a:pt x="330" y="18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id-ID" sz="1600"/>
              </a:p>
            </p:txBody>
          </p:sp>
          <p:sp>
            <p:nvSpPr>
              <p:cNvPr id="25" name="Freeform 21"/>
              <p:cNvSpPr/>
              <p:nvPr/>
            </p:nvSpPr>
            <p:spPr bwMode="auto">
              <a:xfrm>
                <a:off x="2982913" y="215900"/>
                <a:ext cx="206375" cy="201612"/>
              </a:xfrm>
              <a:custGeom>
                <a:avLst/>
                <a:gdLst>
                  <a:gd name="T0" fmla="*/ 49 w 55"/>
                  <a:gd name="T1" fmla="*/ 0 h 54"/>
                  <a:gd name="T2" fmla="*/ 49 w 55"/>
                  <a:gd name="T3" fmla="*/ 0 h 54"/>
                  <a:gd name="T4" fmla="*/ 0 w 55"/>
                  <a:gd name="T5" fmla="*/ 48 h 54"/>
                  <a:gd name="T6" fmla="*/ 0 w 55"/>
                  <a:gd name="T7" fmla="*/ 48 h 54"/>
                  <a:gd name="T8" fmla="*/ 6 w 55"/>
                  <a:gd name="T9" fmla="*/ 54 h 54"/>
                  <a:gd name="T10" fmla="*/ 12 w 55"/>
                  <a:gd name="T11" fmla="*/ 48 h 54"/>
                  <a:gd name="T12" fmla="*/ 12 w 55"/>
                  <a:gd name="T13" fmla="*/ 48 h 54"/>
                  <a:gd name="T14" fmla="*/ 49 w 55"/>
                  <a:gd name="T15" fmla="*/ 11 h 54"/>
                  <a:gd name="T16" fmla="*/ 49 w 55"/>
                  <a:gd name="T17" fmla="*/ 11 h 54"/>
                  <a:gd name="T18" fmla="*/ 55 w 55"/>
                  <a:gd name="T19" fmla="*/ 5 h 54"/>
                  <a:gd name="T20" fmla="*/ 49 w 55"/>
                  <a:gd name="T21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5" h="54">
                    <a:moveTo>
                      <a:pt x="49" y="0"/>
                    </a:moveTo>
                    <a:cubicBezTo>
                      <a:pt x="49" y="0"/>
                      <a:pt x="49" y="0"/>
                      <a:pt x="49" y="0"/>
                    </a:cubicBezTo>
                    <a:cubicBezTo>
                      <a:pt x="22" y="0"/>
                      <a:pt x="0" y="21"/>
                      <a:pt x="0" y="4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2"/>
                      <a:pt x="3" y="54"/>
                      <a:pt x="6" y="54"/>
                    </a:cubicBezTo>
                    <a:cubicBezTo>
                      <a:pt x="9" y="54"/>
                      <a:pt x="12" y="52"/>
                      <a:pt x="12" y="48"/>
                    </a:cubicBezTo>
                    <a:cubicBezTo>
                      <a:pt x="12" y="48"/>
                      <a:pt x="12" y="48"/>
                      <a:pt x="12" y="48"/>
                    </a:cubicBezTo>
                    <a:cubicBezTo>
                      <a:pt x="12" y="28"/>
                      <a:pt x="29" y="11"/>
                      <a:pt x="49" y="11"/>
                    </a:cubicBezTo>
                    <a:cubicBezTo>
                      <a:pt x="49" y="11"/>
                      <a:pt x="49" y="11"/>
                      <a:pt x="49" y="11"/>
                    </a:cubicBezTo>
                    <a:cubicBezTo>
                      <a:pt x="52" y="11"/>
                      <a:pt x="55" y="8"/>
                      <a:pt x="55" y="5"/>
                    </a:cubicBezTo>
                    <a:cubicBezTo>
                      <a:pt x="55" y="2"/>
                      <a:pt x="5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id-ID" sz="1600"/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3260528" y="2669083"/>
            <a:ext cx="2237790" cy="788783"/>
            <a:chOff x="2858371" y="2007393"/>
            <a:chExt cx="1678780" cy="591741"/>
          </a:xfrm>
        </p:grpSpPr>
        <p:cxnSp>
          <p:nvCxnSpPr>
            <p:cNvPr id="27" name="Straight Connector 63"/>
            <p:cNvCxnSpPr/>
            <p:nvPr/>
          </p:nvCxnSpPr>
          <p:spPr>
            <a:xfrm>
              <a:off x="2858371" y="2355056"/>
              <a:ext cx="1350169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组合 27"/>
            <p:cNvGrpSpPr/>
            <p:nvPr/>
          </p:nvGrpSpPr>
          <p:grpSpPr>
            <a:xfrm>
              <a:off x="3945410" y="2007393"/>
              <a:ext cx="591741" cy="591741"/>
              <a:chOff x="4648200" y="2007393"/>
              <a:chExt cx="591741" cy="591741"/>
            </a:xfrm>
          </p:grpSpPr>
          <p:sp>
            <p:nvSpPr>
              <p:cNvPr id="29" name="Oval 37"/>
              <p:cNvSpPr/>
              <p:nvPr/>
            </p:nvSpPr>
            <p:spPr bwMode="auto">
              <a:xfrm>
                <a:off x="4648200" y="2007393"/>
                <a:ext cx="591741" cy="591741"/>
              </a:xfrm>
              <a:prstGeom prst="ellipse">
                <a:avLst/>
              </a:prstGeom>
              <a:solidFill>
                <a:srgbClr val="92B6DA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id-ID" sz="1600"/>
              </a:p>
            </p:txBody>
          </p:sp>
          <p:sp>
            <p:nvSpPr>
              <p:cNvPr id="30" name="Freeform 13"/>
              <p:cNvSpPr>
                <a:spLocks noChangeAspect="1" noEditPoints="1"/>
              </p:cNvSpPr>
              <p:nvPr/>
            </p:nvSpPr>
            <p:spPr bwMode="auto">
              <a:xfrm>
                <a:off x="4797030" y="2134792"/>
                <a:ext cx="316706" cy="309563"/>
              </a:xfrm>
              <a:custGeom>
                <a:avLst/>
                <a:gdLst>
                  <a:gd name="T0" fmla="*/ 301610 w 226"/>
                  <a:gd name="T1" fmla="*/ 0 h 220"/>
                  <a:gd name="T2" fmla="*/ 179842 w 226"/>
                  <a:gd name="T3" fmla="*/ 88082 h 220"/>
                  <a:gd name="T4" fmla="*/ 177969 w 226"/>
                  <a:gd name="T5" fmla="*/ 88082 h 220"/>
                  <a:gd name="T6" fmla="*/ 44960 w 226"/>
                  <a:gd name="T7" fmla="*/ 223016 h 220"/>
                  <a:gd name="T8" fmla="*/ 1873 w 226"/>
                  <a:gd name="T9" fmla="*/ 354202 h 220"/>
                  <a:gd name="T10" fmla="*/ 44960 w 226"/>
                  <a:gd name="T11" fmla="*/ 412299 h 220"/>
                  <a:gd name="T12" fmla="*/ 168602 w 226"/>
                  <a:gd name="T13" fmla="*/ 380440 h 220"/>
                  <a:gd name="T14" fmla="*/ 387784 w 226"/>
                  <a:gd name="T15" fmla="*/ 170542 h 220"/>
                  <a:gd name="T16" fmla="*/ 206069 w 226"/>
                  <a:gd name="T17" fmla="*/ 307350 h 220"/>
                  <a:gd name="T18" fmla="*/ 318470 w 226"/>
                  <a:gd name="T19" fmla="*/ 151801 h 220"/>
                  <a:gd name="T20" fmla="*/ 305357 w 226"/>
                  <a:gd name="T21" fmla="*/ 215520 h 220"/>
                  <a:gd name="T22" fmla="*/ 206069 w 226"/>
                  <a:gd name="T23" fmla="*/ 316721 h 220"/>
                  <a:gd name="T24" fmla="*/ 191082 w 226"/>
                  <a:gd name="T25" fmla="*/ 260498 h 220"/>
                  <a:gd name="T26" fmla="*/ 147995 w 226"/>
                  <a:gd name="T27" fmla="*/ 219268 h 220"/>
                  <a:gd name="T28" fmla="*/ 297863 w 226"/>
                  <a:gd name="T29" fmla="*/ 114319 h 220"/>
                  <a:gd name="T30" fmla="*/ 191082 w 226"/>
                  <a:gd name="T31" fmla="*/ 260498 h 220"/>
                  <a:gd name="T32" fmla="*/ 97414 w 226"/>
                  <a:gd name="T33" fmla="*/ 206150 h 220"/>
                  <a:gd name="T34" fmla="*/ 256650 w 226"/>
                  <a:gd name="T35" fmla="*/ 91830 h 220"/>
                  <a:gd name="T36" fmla="*/ 54327 w 226"/>
                  <a:gd name="T37" fmla="*/ 384188 h 220"/>
                  <a:gd name="T38" fmla="*/ 26227 w 226"/>
                  <a:gd name="T39" fmla="*/ 367321 h 220"/>
                  <a:gd name="T40" fmla="*/ 41214 w 226"/>
                  <a:gd name="T41" fmla="*/ 311098 h 220"/>
                  <a:gd name="T42" fmla="*/ 101161 w 226"/>
                  <a:gd name="T43" fmla="*/ 372943 h 220"/>
                  <a:gd name="T44" fmla="*/ 114275 w 226"/>
                  <a:gd name="T45" fmla="*/ 369195 h 220"/>
                  <a:gd name="T46" fmla="*/ 44960 w 226"/>
                  <a:gd name="T47" fmla="*/ 297980 h 220"/>
                  <a:gd name="T48" fmla="*/ 61821 w 226"/>
                  <a:gd name="T49" fmla="*/ 241757 h 220"/>
                  <a:gd name="T50" fmla="*/ 166729 w 226"/>
                  <a:gd name="T51" fmla="*/ 354202 h 220"/>
                  <a:gd name="T52" fmla="*/ 114275 w 226"/>
                  <a:gd name="T53" fmla="*/ 369195 h 220"/>
                  <a:gd name="T54" fmla="*/ 348444 w 226"/>
                  <a:gd name="T55" fmla="*/ 174290 h 220"/>
                  <a:gd name="T56" fmla="*/ 314723 w 226"/>
                  <a:gd name="T57" fmla="*/ 97452 h 220"/>
                  <a:gd name="T58" fmla="*/ 260396 w 226"/>
                  <a:gd name="T59" fmla="*/ 43104 h 220"/>
                  <a:gd name="T60" fmla="*/ 359684 w 226"/>
                  <a:gd name="T61" fmla="*/ 50600 h 220"/>
                  <a:gd name="T62" fmla="*/ 369051 w 226"/>
                  <a:gd name="T63" fmla="*/ 151801 h 220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26"/>
                  <a:gd name="T97" fmla="*/ 0 h 220"/>
                  <a:gd name="T98" fmla="*/ 226 w 226"/>
                  <a:gd name="T99" fmla="*/ 220 h 220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26" h="220">
                    <a:moveTo>
                      <a:pt x="202" y="18"/>
                    </a:moveTo>
                    <a:cubicBezTo>
                      <a:pt x="191" y="6"/>
                      <a:pt x="176" y="0"/>
                      <a:pt x="161" y="0"/>
                    </a:cubicBezTo>
                    <a:cubicBezTo>
                      <a:pt x="149" y="0"/>
                      <a:pt x="137" y="5"/>
                      <a:pt x="129" y="13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6" y="47"/>
                      <a:pt x="95" y="47"/>
                      <a:pt x="95" y="47"/>
                    </a:cubicBezTo>
                    <a:cubicBezTo>
                      <a:pt x="95" y="47"/>
                      <a:pt x="95" y="47"/>
                      <a:pt x="95" y="47"/>
                    </a:cubicBezTo>
                    <a:cubicBezTo>
                      <a:pt x="95" y="47"/>
                      <a:pt x="95" y="47"/>
                      <a:pt x="95" y="47"/>
                    </a:cubicBezTo>
                    <a:cubicBezTo>
                      <a:pt x="24" y="119"/>
                      <a:pt x="24" y="119"/>
                      <a:pt x="24" y="119"/>
                    </a:cubicBezTo>
                    <a:cubicBezTo>
                      <a:pt x="21" y="122"/>
                      <a:pt x="19" y="126"/>
                      <a:pt x="17" y="130"/>
                    </a:cubicBezTo>
                    <a:cubicBezTo>
                      <a:pt x="1" y="189"/>
                      <a:pt x="1" y="189"/>
                      <a:pt x="1" y="189"/>
                    </a:cubicBezTo>
                    <a:cubicBezTo>
                      <a:pt x="1" y="189"/>
                      <a:pt x="0" y="194"/>
                      <a:pt x="0" y="196"/>
                    </a:cubicBezTo>
                    <a:cubicBezTo>
                      <a:pt x="0" y="209"/>
                      <a:pt x="11" y="220"/>
                      <a:pt x="24" y="220"/>
                    </a:cubicBezTo>
                    <a:cubicBezTo>
                      <a:pt x="27" y="220"/>
                      <a:pt x="32" y="219"/>
                      <a:pt x="32" y="219"/>
                    </a:cubicBezTo>
                    <a:cubicBezTo>
                      <a:pt x="90" y="203"/>
                      <a:pt x="90" y="203"/>
                      <a:pt x="90" y="203"/>
                    </a:cubicBezTo>
                    <a:cubicBezTo>
                      <a:pt x="95" y="202"/>
                      <a:pt x="99" y="200"/>
                      <a:pt x="102" y="196"/>
                    </a:cubicBezTo>
                    <a:cubicBezTo>
                      <a:pt x="207" y="91"/>
                      <a:pt x="207" y="91"/>
                      <a:pt x="207" y="91"/>
                    </a:cubicBezTo>
                    <a:cubicBezTo>
                      <a:pt x="226" y="72"/>
                      <a:pt x="224" y="40"/>
                      <a:pt x="202" y="18"/>
                    </a:cubicBezTo>
                    <a:close/>
                    <a:moveTo>
                      <a:pt x="110" y="164"/>
                    </a:moveTo>
                    <a:cubicBezTo>
                      <a:pt x="110" y="157"/>
                      <a:pt x="108" y="151"/>
                      <a:pt x="105" y="146"/>
                    </a:cubicBezTo>
                    <a:cubicBezTo>
                      <a:pt x="170" y="81"/>
                      <a:pt x="170" y="81"/>
                      <a:pt x="170" y="81"/>
                    </a:cubicBezTo>
                    <a:cubicBezTo>
                      <a:pt x="174" y="93"/>
                      <a:pt x="172" y="106"/>
                      <a:pt x="163" y="115"/>
                    </a:cubicBezTo>
                    <a:cubicBezTo>
                      <a:pt x="163" y="115"/>
                      <a:pt x="163" y="115"/>
                      <a:pt x="163" y="115"/>
                    </a:cubicBezTo>
                    <a:cubicBezTo>
                      <a:pt x="163" y="115"/>
                      <a:pt x="163" y="115"/>
                      <a:pt x="163" y="115"/>
                    </a:cubicBezTo>
                    <a:cubicBezTo>
                      <a:pt x="110" y="169"/>
                      <a:pt x="110" y="169"/>
                      <a:pt x="110" y="169"/>
                    </a:cubicBezTo>
                    <a:cubicBezTo>
                      <a:pt x="110" y="167"/>
                      <a:pt x="110" y="165"/>
                      <a:pt x="110" y="164"/>
                    </a:cubicBezTo>
                    <a:close/>
                    <a:moveTo>
                      <a:pt x="102" y="139"/>
                    </a:moveTo>
                    <a:cubicBezTo>
                      <a:pt x="99" y="135"/>
                      <a:pt x="96" y="131"/>
                      <a:pt x="93" y="127"/>
                    </a:cubicBezTo>
                    <a:cubicBezTo>
                      <a:pt x="88" y="123"/>
                      <a:pt x="84" y="120"/>
                      <a:pt x="79" y="117"/>
                    </a:cubicBezTo>
                    <a:cubicBezTo>
                      <a:pt x="144" y="52"/>
                      <a:pt x="144" y="52"/>
                      <a:pt x="144" y="52"/>
                    </a:cubicBezTo>
                    <a:cubicBezTo>
                      <a:pt x="149" y="54"/>
                      <a:pt x="154" y="57"/>
                      <a:pt x="159" y="61"/>
                    </a:cubicBezTo>
                    <a:cubicBezTo>
                      <a:pt x="162" y="65"/>
                      <a:pt x="165" y="69"/>
                      <a:pt x="167" y="74"/>
                    </a:cubicBezTo>
                    <a:lnTo>
                      <a:pt x="102" y="139"/>
                    </a:lnTo>
                    <a:close/>
                    <a:moveTo>
                      <a:pt x="72" y="114"/>
                    </a:moveTo>
                    <a:cubicBezTo>
                      <a:pt x="66" y="111"/>
                      <a:pt x="59" y="110"/>
                      <a:pt x="52" y="110"/>
                    </a:cubicBezTo>
                    <a:cubicBezTo>
                      <a:pt x="105" y="56"/>
                      <a:pt x="105" y="56"/>
                      <a:pt x="105" y="56"/>
                    </a:cubicBezTo>
                    <a:cubicBezTo>
                      <a:pt x="113" y="48"/>
                      <a:pt x="125" y="46"/>
                      <a:pt x="137" y="49"/>
                    </a:cubicBezTo>
                    <a:lnTo>
                      <a:pt x="72" y="114"/>
                    </a:lnTo>
                    <a:close/>
                    <a:moveTo>
                      <a:pt x="29" y="205"/>
                    </a:moveTo>
                    <a:cubicBezTo>
                      <a:pt x="28" y="206"/>
                      <a:pt x="26" y="206"/>
                      <a:pt x="24" y="206"/>
                    </a:cubicBezTo>
                    <a:cubicBezTo>
                      <a:pt x="18" y="206"/>
                      <a:pt x="14" y="202"/>
                      <a:pt x="14" y="196"/>
                    </a:cubicBezTo>
                    <a:cubicBezTo>
                      <a:pt x="14" y="195"/>
                      <a:pt x="14" y="193"/>
                      <a:pt x="14" y="192"/>
                    </a:cubicBezTo>
                    <a:cubicBezTo>
                      <a:pt x="22" y="166"/>
                      <a:pt x="22" y="166"/>
                      <a:pt x="22" y="166"/>
                    </a:cubicBezTo>
                    <a:cubicBezTo>
                      <a:pt x="30" y="166"/>
                      <a:pt x="38" y="169"/>
                      <a:pt x="45" y="175"/>
                    </a:cubicBezTo>
                    <a:cubicBezTo>
                      <a:pt x="51" y="182"/>
                      <a:pt x="55" y="191"/>
                      <a:pt x="54" y="199"/>
                    </a:cubicBezTo>
                    <a:lnTo>
                      <a:pt x="29" y="205"/>
                    </a:lnTo>
                    <a:close/>
                    <a:moveTo>
                      <a:pt x="61" y="197"/>
                    </a:moveTo>
                    <a:cubicBezTo>
                      <a:pt x="61" y="188"/>
                      <a:pt x="57" y="178"/>
                      <a:pt x="50" y="170"/>
                    </a:cubicBezTo>
                    <a:cubicBezTo>
                      <a:pt x="42" y="163"/>
                      <a:pt x="33" y="159"/>
                      <a:pt x="24" y="159"/>
                    </a:cubicBezTo>
                    <a:cubicBezTo>
                      <a:pt x="30" y="134"/>
                      <a:pt x="30" y="134"/>
                      <a:pt x="30" y="134"/>
                    </a:cubicBezTo>
                    <a:cubicBezTo>
                      <a:pt x="31" y="132"/>
                      <a:pt x="32" y="131"/>
                      <a:pt x="33" y="129"/>
                    </a:cubicBezTo>
                    <a:cubicBezTo>
                      <a:pt x="47" y="119"/>
                      <a:pt x="68" y="122"/>
                      <a:pt x="83" y="137"/>
                    </a:cubicBezTo>
                    <a:cubicBezTo>
                      <a:pt x="98" y="153"/>
                      <a:pt x="101" y="175"/>
                      <a:pt x="89" y="189"/>
                    </a:cubicBezTo>
                    <a:cubicBezTo>
                      <a:pt x="88" y="190"/>
                      <a:pt x="87" y="190"/>
                      <a:pt x="86" y="190"/>
                    </a:cubicBezTo>
                    <a:lnTo>
                      <a:pt x="61" y="197"/>
                    </a:lnTo>
                    <a:close/>
                    <a:moveTo>
                      <a:pt x="197" y="81"/>
                    </a:moveTo>
                    <a:cubicBezTo>
                      <a:pt x="186" y="93"/>
                      <a:pt x="186" y="93"/>
                      <a:pt x="186" y="93"/>
                    </a:cubicBezTo>
                    <a:cubicBezTo>
                      <a:pt x="186" y="91"/>
                      <a:pt x="186" y="90"/>
                      <a:pt x="186" y="88"/>
                    </a:cubicBezTo>
                    <a:cubicBezTo>
                      <a:pt x="185" y="75"/>
                      <a:pt x="178" y="62"/>
                      <a:pt x="168" y="52"/>
                    </a:cubicBezTo>
                    <a:cubicBezTo>
                      <a:pt x="157" y="41"/>
                      <a:pt x="142" y="34"/>
                      <a:pt x="127" y="34"/>
                    </a:cubicBezTo>
                    <a:cubicBezTo>
                      <a:pt x="139" y="23"/>
                      <a:pt x="139" y="23"/>
                      <a:pt x="139" y="23"/>
                    </a:cubicBezTo>
                    <a:cubicBezTo>
                      <a:pt x="145" y="17"/>
                      <a:pt x="153" y="14"/>
                      <a:pt x="161" y="14"/>
                    </a:cubicBezTo>
                    <a:cubicBezTo>
                      <a:pt x="172" y="14"/>
                      <a:pt x="184" y="19"/>
                      <a:pt x="192" y="27"/>
                    </a:cubicBezTo>
                    <a:cubicBezTo>
                      <a:pt x="201" y="36"/>
                      <a:pt x="205" y="46"/>
                      <a:pt x="206" y="56"/>
                    </a:cubicBezTo>
                    <a:cubicBezTo>
                      <a:pt x="207" y="66"/>
                      <a:pt x="204" y="75"/>
                      <a:pt x="197" y="8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91416" tIns="45708" rIns="91416" bIns="45708"/>
              <a:lstStyle/>
              <a:p>
                <a:endParaRPr lang="zh-CN" altLang="en-US" sz="3200"/>
              </a:p>
            </p:txBody>
          </p:sp>
        </p:grpSp>
      </p:grpSp>
      <p:grpSp>
        <p:nvGrpSpPr>
          <p:cNvPr id="31" name="Group 4"/>
          <p:cNvGrpSpPr/>
          <p:nvPr/>
        </p:nvGrpSpPr>
        <p:grpSpPr bwMode="auto">
          <a:xfrm>
            <a:off x="2807248" y="4875134"/>
            <a:ext cx="1193488" cy="1136355"/>
            <a:chOff x="6139503" y="4859013"/>
            <a:chExt cx="1192668" cy="1135509"/>
          </a:xfrm>
        </p:grpSpPr>
        <p:sp>
          <p:nvSpPr>
            <p:cNvPr id="32" name="Rounded Rectangle 5"/>
            <p:cNvSpPr>
              <a:spLocks noChangeArrowheads="1"/>
            </p:cNvSpPr>
            <p:nvPr/>
          </p:nvSpPr>
          <p:spPr bwMode="auto">
            <a:xfrm>
              <a:off x="6139503" y="4871700"/>
              <a:ext cx="1192668" cy="1122822"/>
            </a:xfrm>
            <a:prstGeom prst="roundRect">
              <a:avLst>
                <a:gd name="adj" fmla="val 9375"/>
              </a:avLst>
            </a:prstGeom>
            <a:solidFill>
              <a:srgbClr val="92B6DA"/>
            </a:solidFill>
            <a:ln w="9525">
              <a:noFill/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/>
              <a:endParaRPr lang="id-ID" altLang="id-ID" sz="3200">
                <a:solidFill>
                  <a:schemeClr val="bg1"/>
                </a:solidFill>
                <a:latin typeface="Calibri" panose="020F0502020204030204" charset="0"/>
                <a:ea typeface="MS PGothic" panose="020B0600070205080204" pitchFamily="34" charset="-128"/>
              </a:endParaRPr>
            </a:p>
          </p:txBody>
        </p:sp>
        <p:sp>
          <p:nvSpPr>
            <p:cNvPr id="33" name="TextBox 21"/>
            <p:cNvSpPr txBox="1">
              <a:spLocks noChangeArrowheads="1"/>
            </p:cNvSpPr>
            <p:nvPr/>
          </p:nvSpPr>
          <p:spPr bwMode="auto">
            <a:xfrm>
              <a:off x="6420130" y="4859013"/>
              <a:ext cx="771728" cy="1116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nb-NO" sz="6665" dirty="0">
                  <a:solidFill>
                    <a:schemeClr val="bg1"/>
                  </a:solidFill>
                  <a:ea typeface="MS PGothic" panose="020B0600070205080204" pitchFamily="34" charset="-128"/>
                </a:rPr>
                <a:t>4</a:t>
              </a:r>
            </a:p>
          </p:txBody>
        </p:sp>
      </p:grpSp>
      <p:grpSp>
        <p:nvGrpSpPr>
          <p:cNvPr id="34" name="Group 7"/>
          <p:cNvGrpSpPr/>
          <p:nvPr/>
        </p:nvGrpSpPr>
        <p:grpSpPr bwMode="auto">
          <a:xfrm>
            <a:off x="3088164" y="3732434"/>
            <a:ext cx="1191900" cy="1156987"/>
            <a:chOff x="6420131" y="3715897"/>
            <a:chExt cx="1192668" cy="1156073"/>
          </a:xfrm>
        </p:grpSpPr>
        <p:sp>
          <p:nvSpPr>
            <p:cNvPr id="35" name="Rounded Rectangle 8"/>
            <p:cNvSpPr>
              <a:spLocks noChangeArrowheads="1"/>
            </p:cNvSpPr>
            <p:nvPr/>
          </p:nvSpPr>
          <p:spPr bwMode="auto">
            <a:xfrm>
              <a:off x="6420131" y="3749200"/>
              <a:ext cx="1192668" cy="1122770"/>
            </a:xfrm>
            <a:prstGeom prst="roundRect">
              <a:avLst>
                <a:gd name="adj" fmla="val 9375"/>
              </a:avLst>
            </a:prstGeom>
            <a:solidFill>
              <a:srgbClr val="5B9BD5"/>
            </a:solidFill>
            <a:ln w="9525">
              <a:noFill/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/>
              <a:endParaRPr lang="id-ID" altLang="id-ID" sz="3200">
                <a:solidFill>
                  <a:schemeClr val="bg1"/>
                </a:solidFill>
                <a:latin typeface="Calibri" panose="020F0502020204030204" charset="0"/>
                <a:ea typeface="MS PGothic" panose="020B0600070205080204" pitchFamily="34" charset="-128"/>
              </a:endParaRPr>
            </a:p>
          </p:txBody>
        </p:sp>
        <p:sp>
          <p:nvSpPr>
            <p:cNvPr id="36" name="TextBox 22"/>
            <p:cNvSpPr txBox="1">
              <a:spLocks noChangeArrowheads="1"/>
            </p:cNvSpPr>
            <p:nvPr/>
          </p:nvSpPr>
          <p:spPr bwMode="auto">
            <a:xfrm>
              <a:off x="6700153" y="3715897"/>
              <a:ext cx="771728" cy="1116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nb-NO" sz="6665" dirty="0">
                  <a:solidFill>
                    <a:schemeClr val="bg1"/>
                  </a:solidFill>
                  <a:ea typeface="MS PGothic" panose="020B0600070205080204" pitchFamily="34" charset="-128"/>
                </a:rPr>
                <a:t>3</a:t>
              </a:r>
            </a:p>
          </p:txBody>
        </p:sp>
      </p:grpSp>
      <p:grpSp>
        <p:nvGrpSpPr>
          <p:cNvPr id="37" name="Group 10"/>
          <p:cNvGrpSpPr/>
          <p:nvPr/>
        </p:nvGrpSpPr>
        <p:grpSpPr bwMode="auto">
          <a:xfrm>
            <a:off x="2667583" y="2643688"/>
            <a:ext cx="1191903" cy="1131403"/>
            <a:chOff x="5999190" y="2626865"/>
            <a:chExt cx="1192668" cy="1131891"/>
          </a:xfrm>
        </p:grpSpPr>
        <p:sp>
          <p:nvSpPr>
            <p:cNvPr id="38" name="Rounded Rectangle 11"/>
            <p:cNvSpPr>
              <a:spLocks noChangeArrowheads="1"/>
            </p:cNvSpPr>
            <p:nvPr/>
          </p:nvSpPr>
          <p:spPr bwMode="auto">
            <a:xfrm>
              <a:off x="5999190" y="2626865"/>
              <a:ext cx="1192668" cy="1122553"/>
            </a:xfrm>
            <a:prstGeom prst="roundRect">
              <a:avLst>
                <a:gd name="adj" fmla="val 9375"/>
              </a:avLst>
            </a:prstGeom>
            <a:solidFill>
              <a:srgbClr val="92B6DA"/>
            </a:solidFill>
            <a:ln w="9525">
              <a:noFill/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/>
              <a:endParaRPr lang="id-ID" altLang="id-ID" sz="3200">
                <a:solidFill>
                  <a:schemeClr val="bg1"/>
                </a:solidFill>
                <a:latin typeface="Calibri" panose="020F0502020204030204" charset="0"/>
                <a:ea typeface="MS PGothic" panose="020B0600070205080204" pitchFamily="34" charset="-128"/>
              </a:endParaRPr>
            </a:p>
          </p:txBody>
        </p:sp>
        <p:sp>
          <p:nvSpPr>
            <p:cNvPr id="39" name="TextBox 23"/>
            <p:cNvSpPr txBox="1">
              <a:spLocks noChangeArrowheads="1"/>
            </p:cNvSpPr>
            <p:nvPr/>
          </p:nvSpPr>
          <p:spPr bwMode="auto">
            <a:xfrm>
              <a:off x="6319132" y="2641309"/>
              <a:ext cx="771729" cy="1117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nb-NO" sz="6665" dirty="0">
                  <a:solidFill>
                    <a:schemeClr val="bg1"/>
                  </a:solidFill>
                  <a:ea typeface="MS PGothic" panose="020B0600070205080204" pitchFamily="34" charset="-128"/>
                </a:rPr>
                <a:t>2</a:t>
              </a:r>
            </a:p>
          </p:txBody>
        </p:sp>
      </p:grpSp>
      <p:grpSp>
        <p:nvGrpSpPr>
          <p:cNvPr id="40" name="Group 13"/>
          <p:cNvGrpSpPr/>
          <p:nvPr/>
        </p:nvGrpSpPr>
        <p:grpSpPr bwMode="auto">
          <a:xfrm>
            <a:off x="2070838" y="1524653"/>
            <a:ext cx="1193488" cy="1182518"/>
            <a:chOff x="5402860" y="1507003"/>
            <a:chExt cx="1192668" cy="1182419"/>
          </a:xfrm>
        </p:grpSpPr>
        <p:sp>
          <p:nvSpPr>
            <p:cNvPr id="41" name="Rounded Rectangle 14"/>
            <p:cNvSpPr>
              <a:spLocks noChangeArrowheads="1"/>
            </p:cNvSpPr>
            <p:nvPr/>
          </p:nvSpPr>
          <p:spPr bwMode="auto">
            <a:xfrm rot="20684149">
              <a:off x="5402860" y="1567446"/>
              <a:ext cx="1192668" cy="1121976"/>
            </a:xfrm>
            <a:prstGeom prst="roundRect">
              <a:avLst>
                <a:gd name="adj" fmla="val 9375"/>
              </a:avLst>
            </a:prstGeom>
            <a:solidFill>
              <a:schemeClr val="accent1"/>
            </a:solidFill>
            <a:ln w="9525">
              <a:noFill/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/>
              <a:endParaRPr lang="id-ID" altLang="id-ID" sz="3200">
                <a:solidFill>
                  <a:schemeClr val="bg1"/>
                </a:solidFill>
                <a:latin typeface="Calibri" panose="020F0502020204030204" charset="0"/>
                <a:ea typeface="MS PGothic" panose="020B0600070205080204" pitchFamily="34" charset="-128"/>
              </a:endParaRPr>
            </a:p>
          </p:txBody>
        </p:sp>
        <p:sp>
          <p:nvSpPr>
            <p:cNvPr id="42" name="TextBox 24"/>
            <p:cNvSpPr txBox="1">
              <a:spLocks noChangeArrowheads="1"/>
            </p:cNvSpPr>
            <p:nvPr/>
          </p:nvSpPr>
          <p:spPr bwMode="auto">
            <a:xfrm rot="20681241">
              <a:off x="5692174" y="1507003"/>
              <a:ext cx="771728" cy="1116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nb-NO" sz="6665" dirty="0">
                  <a:solidFill>
                    <a:schemeClr val="bg1"/>
                  </a:solidFill>
                  <a:ea typeface="MS PGothic" panose="020B0600070205080204" pitchFamily="34" charset="-128"/>
                </a:rPr>
                <a:t>1</a:t>
              </a:r>
            </a:p>
          </p:txBody>
        </p:sp>
      </p:grpSp>
      <p:grpSp>
        <p:nvGrpSpPr>
          <p:cNvPr id="43" name="Group 16"/>
          <p:cNvGrpSpPr/>
          <p:nvPr/>
        </p:nvGrpSpPr>
        <p:grpSpPr bwMode="auto">
          <a:xfrm>
            <a:off x="48206" y="2248508"/>
            <a:ext cx="2529816" cy="4197844"/>
            <a:chOff x="3560664" y="2230705"/>
            <a:chExt cx="2529883" cy="4198799"/>
          </a:xfrm>
        </p:grpSpPr>
        <p:sp>
          <p:nvSpPr>
            <p:cNvPr id="44" name="Ellipse 98"/>
            <p:cNvSpPr/>
            <p:nvPr/>
          </p:nvSpPr>
          <p:spPr bwMode="auto">
            <a:xfrm>
              <a:off x="3560664" y="6107180"/>
              <a:ext cx="1713938" cy="322324"/>
            </a:xfrm>
            <a:prstGeom prst="ellipse">
              <a:avLst/>
            </a:prstGeom>
            <a:gradFill flip="none" rotWithShape="1">
              <a:gsLst>
                <a:gs pos="100000">
                  <a:srgbClr val="FFFFFF">
                    <a:alpha val="0"/>
                  </a:srgbClr>
                </a:gs>
                <a:gs pos="0">
                  <a:srgbClr val="E6E6E6">
                    <a:lumMod val="10000"/>
                    <a:alpha val="76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en-US" altLang="id-ID" sz="3200" dirty="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grpSp>
          <p:nvGrpSpPr>
            <p:cNvPr id="45" name="Group 18"/>
            <p:cNvGrpSpPr/>
            <p:nvPr/>
          </p:nvGrpSpPr>
          <p:grpSpPr>
            <a:xfrm>
              <a:off x="4158559" y="2230705"/>
              <a:ext cx="1931988" cy="3981365"/>
              <a:chOff x="1879600" y="2427657"/>
              <a:chExt cx="1931988" cy="3981365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46" name="Rounded Rectangle 19"/>
              <p:cNvSpPr/>
              <p:nvPr/>
            </p:nvSpPr>
            <p:spPr bwMode="auto">
              <a:xfrm rot="3296091" flipH="1">
                <a:off x="2526506" y="2275966"/>
                <a:ext cx="333375" cy="1627188"/>
              </a:xfrm>
              <a:prstGeom prst="roundRect">
                <a:avLst>
                  <a:gd name="adj" fmla="val 50000"/>
                </a:avLst>
              </a:prstGeom>
              <a:solidFill>
                <a:schemeClr val="tx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5pPr>
                <a:lvl6pPr marL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6pPr>
                <a:lvl7pPr marL="9144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7pPr>
                <a:lvl8pPr marL="1371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8pPr>
                <a:lvl9pPr marL="18288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defRPr/>
                </a:pPr>
                <a:endParaRPr lang="id-ID" altLang="id-ID" sz="3200">
                  <a:solidFill>
                    <a:srgbClr val="FFFFFF"/>
                  </a:solidFill>
                </a:endParaRPr>
              </a:p>
            </p:txBody>
          </p:sp>
          <p:sp>
            <p:nvSpPr>
              <p:cNvPr id="47" name="Oval 20"/>
              <p:cNvSpPr>
                <a:spLocks noChangeArrowheads="1"/>
              </p:cNvSpPr>
              <p:nvPr/>
            </p:nvSpPr>
            <p:spPr bwMode="auto">
              <a:xfrm>
                <a:off x="1879938" y="2427657"/>
                <a:ext cx="823038" cy="823069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5pPr>
                <a:lvl6pPr marL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6pPr>
                <a:lvl7pPr marL="9144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7pPr>
                <a:lvl8pPr marL="1371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8pPr>
                <a:lvl9pPr marL="18288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defRPr/>
                </a:pPr>
                <a:endParaRPr lang="id-ID" altLang="id-ID" sz="32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Rounded Rectangle 21"/>
              <p:cNvSpPr/>
              <p:nvPr/>
            </p:nvSpPr>
            <p:spPr bwMode="auto">
              <a:xfrm>
                <a:off x="1954213" y="3305460"/>
                <a:ext cx="674687" cy="1408112"/>
              </a:xfrm>
              <a:prstGeom prst="roundRect">
                <a:avLst>
                  <a:gd name="adj" fmla="val 29870"/>
                </a:avLst>
              </a:prstGeom>
              <a:solidFill>
                <a:schemeClr val="tx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5pPr>
                <a:lvl6pPr marL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6pPr>
                <a:lvl7pPr marL="9144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7pPr>
                <a:lvl8pPr marL="1371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8pPr>
                <a:lvl9pPr marL="18288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defRPr/>
                </a:pPr>
                <a:endParaRPr lang="id-ID" altLang="id-ID" sz="32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" name="Rounded Rectangle 22"/>
              <p:cNvSpPr/>
              <p:nvPr/>
            </p:nvSpPr>
            <p:spPr bwMode="auto">
              <a:xfrm>
                <a:off x="1954213" y="4408772"/>
                <a:ext cx="373062" cy="2000250"/>
              </a:xfrm>
              <a:prstGeom prst="roundRect">
                <a:avLst>
                  <a:gd name="adj" fmla="val 50000"/>
                </a:avLst>
              </a:prstGeom>
              <a:solidFill>
                <a:schemeClr val="tx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5pPr>
                <a:lvl6pPr marL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6pPr>
                <a:lvl7pPr marL="9144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7pPr>
                <a:lvl8pPr marL="1371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8pPr>
                <a:lvl9pPr marL="18288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defRPr/>
                </a:pPr>
                <a:endParaRPr lang="id-ID" altLang="id-ID" sz="32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" name="Rounded Rectangle 23"/>
              <p:cNvSpPr/>
              <p:nvPr/>
            </p:nvSpPr>
            <p:spPr bwMode="auto">
              <a:xfrm rot="20452300">
                <a:off x="2325688" y="4429410"/>
                <a:ext cx="371475" cy="774700"/>
              </a:xfrm>
              <a:prstGeom prst="roundRect">
                <a:avLst>
                  <a:gd name="adj" fmla="val 40463"/>
                </a:avLst>
              </a:prstGeom>
              <a:solidFill>
                <a:schemeClr val="tx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5pPr>
                <a:lvl6pPr marL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6pPr>
                <a:lvl7pPr marL="9144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7pPr>
                <a:lvl8pPr marL="1371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8pPr>
                <a:lvl9pPr marL="18288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defRPr/>
                </a:pPr>
                <a:endParaRPr lang="id-ID" altLang="id-ID" sz="32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" name="Rounded Rectangle 24"/>
              <p:cNvSpPr/>
              <p:nvPr/>
            </p:nvSpPr>
            <p:spPr bwMode="auto">
              <a:xfrm rot="14513746">
                <a:off x="2885282" y="2583941"/>
                <a:ext cx="350837" cy="1501775"/>
              </a:xfrm>
              <a:prstGeom prst="roundRect">
                <a:avLst>
                  <a:gd name="adj" fmla="val 50000"/>
                </a:avLst>
              </a:prstGeom>
              <a:solidFill>
                <a:schemeClr val="tx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5pPr>
                <a:lvl6pPr marL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6pPr>
                <a:lvl7pPr marL="9144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7pPr>
                <a:lvl8pPr marL="1371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8pPr>
                <a:lvl9pPr marL="18288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defRPr/>
                </a:pPr>
                <a:endParaRPr lang="id-ID" altLang="id-ID" sz="3200">
                  <a:solidFill>
                    <a:srgbClr val="FFFFFF"/>
                  </a:solidFill>
                </a:endParaRPr>
              </a:p>
            </p:txBody>
          </p:sp>
          <p:sp>
            <p:nvSpPr>
              <p:cNvPr id="52" name="Rounded Rectangle 25"/>
              <p:cNvSpPr/>
              <p:nvPr/>
            </p:nvSpPr>
            <p:spPr bwMode="auto">
              <a:xfrm>
                <a:off x="2413000" y="4916772"/>
                <a:ext cx="373063" cy="1423988"/>
              </a:xfrm>
              <a:prstGeom prst="roundRect">
                <a:avLst>
                  <a:gd name="adj" fmla="val 42456"/>
                </a:avLst>
              </a:prstGeom>
              <a:solidFill>
                <a:schemeClr val="tx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5pPr>
                <a:lvl6pPr marL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6pPr>
                <a:lvl7pPr marL="9144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7pPr>
                <a:lvl8pPr marL="1371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8pPr>
                <a:lvl9pPr marL="18288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defRPr/>
                </a:pPr>
                <a:endParaRPr lang="id-ID" altLang="id-ID" sz="32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53" name="TextBox 52"/>
          <p:cNvSpPr txBox="1"/>
          <p:nvPr/>
        </p:nvSpPr>
        <p:spPr>
          <a:xfrm>
            <a:off x="5016330" y="1770813"/>
            <a:ext cx="3425086" cy="400085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/>
          <a:p>
            <a:r>
              <a:rPr lang="zh-CN" altLang="en-US" sz="2000" b="1" dirty="0"/>
              <a:t>训练集与验证集趋势一致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9412" y="5143282"/>
            <a:ext cx="3236858" cy="400085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/>
          <a:p>
            <a:r>
              <a:rPr lang="en-US" altLang="zh-CN" sz="2000" b="1" dirty="0"/>
              <a:t>LSTM </a:t>
            </a:r>
            <a:r>
              <a:rPr lang="zh-CN" altLang="en-US" sz="2000" b="1" dirty="0"/>
              <a:t>效果优于基础 </a:t>
            </a:r>
            <a:r>
              <a:rPr lang="en-US" altLang="zh-CN" sz="2000" b="1" dirty="0"/>
              <a:t>RNN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46984" y="4029129"/>
            <a:ext cx="4450103" cy="400085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/>
          <a:p>
            <a:r>
              <a:rPr lang="zh-CN" altLang="en-US" sz="2000" b="1" dirty="0"/>
              <a:t>成功实现 </a:t>
            </a:r>
            <a:r>
              <a:rPr lang="en-US" altLang="zh-CN" sz="2000" b="1" dirty="0"/>
              <a:t>RNN </a:t>
            </a:r>
            <a:r>
              <a:rPr lang="zh-CN" altLang="en-US" sz="2000" b="1" dirty="0"/>
              <a:t>与 </a:t>
            </a:r>
            <a:r>
              <a:rPr lang="en-US" altLang="zh-CN" sz="2000" b="1" dirty="0"/>
              <a:t>LSTM </a:t>
            </a:r>
            <a:r>
              <a:rPr lang="zh-CN" altLang="en-US" sz="2000" b="1" dirty="0"/>
              <a:t>假新闻分类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82274" y="2863431"/>
            <a:ext cx="2296276" cy="400085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/>
          <a:p>
            <a:r>
              <a:rPr lang="zh-CN" altLang="en-US" sz="2000" b="1" dirty="0"/>
              <a:t>无明显过拟合现象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-1170172" y="355496"/>
            <a:ext cx="5500802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/>
              <a:t>总结</a:t>
            </a: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BCA575D0-37F6-FEDD-566B-3B96E9C6EDD1}"/>
              </a:ext>
            </a:extLst>
          </p:cNvPr>
          <p:cNvGrpSpPr/>
          <p:nvPr/>
        </p:nvGrpSpPr>
        <p:grpSpPr>
          <a:xfrm>
            <a:off x="-483871" y="-795874"/>
            <a:ext cx="7130855" cy="2294433"/>
            <a:chOff x="-483871" y="-795874"/>
            <a:chExt cx="7130855" cy="2294433"/>
          </a:xfrm>
        </p:grpSpPr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6B6FF350-AC39-9C6A-5F73-BC010E29E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6" t="79044" r="53519"/>
            <a:stretch>
              <a:fillRect/>
            </a:stretch>
          </p:blipFill>
          <p:spPr>
            <a:xfrm rot="20147618">
              <a:off x="-483871" y="-795874"/>
              <a:ext cx="4884403" cy="2080299"/>
            </a:xfrm>
            <a:custGeom>
              <a:avLst/>
              <a:gdLst>
                <a:gd name="connsiteX0" fmla="*/ 957211 w 6228785"/>
                <a:gd name="connsiteY0" fmla="*/ 0 h 2652880"/>
                <a:gd name="connsiteX1" fmla="*/ 5857672 w 6228785"/>
                <a:gd name="connsiteY1" fmla="*/ 2203009 h 2652880"/>
                <a:gd name="connsiteX2" fmla="*/ 6228785 w 6228785"/>
                <a:gd name="connsiteY2" fmla="*/ 2652880 h 2652880"/>
                <a:gd name="connsiteX3" fmla="*/ 1164771 w 6228785"/>
                <a:gd name="connsiteY3" fmla="*/ 2652880 h 2652880"/>
                <a:gd name="connsiteX4" fmla="*/ 0 w 6228785"/>
                <a:gd name="connsiteY4" fmla="*/ 2129256 h 2652880"/>
                <a:gd name="connsiteX5" fmla="*/ 957211 w 6228785"/>
                <a:gd name="connsiteY5" fmla="*/ 0 h 265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28785" h="2652880">
                  <a:moveTo>
                    <a:pt x="957211" y="0"/>
                  </a:moveTo>
                  <a:lnTo>
                    <a:pt x="5857672" y="2203009"/>
                  </a:lnTo>
                  <a:lnTo>
                    <a:pt x="6228785" y="2652880"/>
                  </a:lnTo>
                  <a:lnTo>
                    <a:pt x="1164771" y="2652880"/>
                  </a:lnTo>
                  <a:lnTo>
                    <a:pt x="0" y="2129256"/>
                  </a:lnTo>
                  <a:lnTo>
                    <a:pt x="957211" y="0"/>
                  </a:lnTo>
                  <a:close/>
                </a:path>
              </a:pathLst>
            </a:custGeom>
            <a:ln>
              <a:noFill/>
            </a:ln>
          </p:spPr>
        </p:pic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D93581A0-900D-ED5A-9D95-13F537E7FCF9}"/>
                </a:ext>
              </a:extLst>
            </p:cNvPr>
            <p:cNvSpPr txBox="1"/>
            <p:nvPr/>
          </p:nvSpPr>
          <p:spPr>
            <a:xfrm>
              <a:off x="395785" y="436730"/>
              <a:ext cx="6251199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zh-CN" altLang="en-US" sz="2800" b="1" spc="59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总结</a:t>
              </a:r>
              <a:endParaRPr lang="en-US" altLang="zh-CN" sz="2800" b="1" spc="59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  <a:p>
              <a:endPara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5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6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2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3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4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35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500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42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4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3" grpId="0"/>
          <p:bldP spid="54" grpId="0"/>
          <p:bldP spid="55" grpId="0"/>
          <p:bldP spid="5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35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500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42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4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3" grpId="0"/>
          <p:bldP spid="54" grpId="0"/>
          <p:bldP spid="55" grpId="0"/>
          <p:bldP spid="56" grpId="0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66651" y="953589"/>
            <a:ext cx="10293532" cy="5107577"/>
          </a:xfrm>
          <a:prstGeom prst="rect">
            <a:avLst/>
          </a:prstGeom>
          <a:noFill/>
          <a:ln w="66675" cmpd="thickThin">
            <a:solidFill>
              <a:srgbClr val="92B6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444137"/>
            <a:ext cx="7748067" cy="7903028"/>
          </a:xfrm>
          <a:prstGeom prst="rect">
            <a:avLst/>
          </a:prstGeom>
        </p:spPr>
      </p:pic>
      <p:sp>
        <p:nvSpPr>
          <p:cNvPr id="3" name="PA_矩形 17"/>
          <p:cNvSpPr/>
          <p:nvPr>
            <p:custDataLst>
              <p:tags r:id="rId1"/>
            </p:custDataLst>
          </p:nvPr>
        </p:nvSpPr>
        <p:spPr>
          <a:xfrm>
            <a:off x="5769062" y="2370196"/>
            <a:ext cx="53142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4000" b="1" i="0" dirty="0">
                <a:solidFill>
                  <a:srgbClr val="92B6D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非常感谢您的耐心聆听</a:t>
            </a:r>
          </a:p>
        </p:txBody>
      </p:sp>
      <p:sp>
        <p:nvSpPr>
          <p:cNvPr id="4" name="PA_矩形 18"/>
          <p:cNvSpPr/>
          <p:nvPr>
            <p:custDataLst>
              <p:tags r:id="rId2"/>
            </p:custDataLst>
          </p:nvPr>
        </p:nvSpPr>
        <p:spPr>
          <a:xfrm>
            <a:off x="9300350" y="3126903"/>
            <a:ext cx="1800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请老师批评指正</a:t>
            </a:r>
            <a:endParaRPr lang="zh-CN" altLang="en-US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361329" y="3078082"/>
            <a:ext cx="5648843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GQ3MTgwNmQzMDJkMjU4NWIzY2I5MmVlOWQwMDQwOD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712</Words>
  <Application>Microsoft Office PowerPoint</Application>
  <PresentationFormat>宽屏</PresentationFormat>
  <Paragraphs>119</Paragraphs>
  <Slides>18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-apple-system</vt:lpstr>
      <vt:lpstr>Arimo</vt:lpstr>
      <vt:lpstr>Arimo Bold</vt:lpstr>
      <vt:lpstr>Helvetica Neue</vt:lpstr>
      <vt:lpstr>MS PGothic</vt:lpstr>
      <vt:lpstr>等线</vt:lpstr>
      <vt:lpstr>方正兰亭粗黑简体</vt:lpstr>
      <vt:lpstr>华文细黑</vt:lpstr>
      <vt:lpstr>微软雅黑</vt:lpstr>
      <vt:lpstr>微软雅黑 Light</vt:lpstr>
      <vt:lpstr>造字工房力黑（非商用）常规体</vt:lpstr>
      <vt:lpstr>造字工房悦黑体验版纤细体</vt:lpstr>
      <vt:lpstr>Arial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info@designbakery.cn</dc:creator>
  <cp:lastModifiedBy>Ayubass</cp:lastModifiedBy>
  <cp:revision>2041</cp:revision>
  <dcterms:created xsi:type="dcterms:W3CDTF">2018-11-21T06:26:00Z</dcterms:created>
  <dcterms:modified xsi:type="dcterms:W3CDTF">2026-01-28T03:17:07Z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A7E26621651943CCB00A55EA0AC799E5_13</vt:lpwstr>
  </property>
  <property fmtid="{D5CDD505-2E9C-101B-9397-08002B2CF9AE}" pid="3" name="KSOProductBuildVer">
    <vt:lpwstr>2052-12.1.0.17133</vt:lpwstr>
  </property>
</Properties>
</file>