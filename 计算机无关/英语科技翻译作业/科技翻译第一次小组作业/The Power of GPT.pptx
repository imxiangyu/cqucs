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tags/tag20.xml" ContentType="application/vnd.openxmlformats-officedocument.presentationml.tags+xml"/>
  <Override PartName="/ppt/tags/tag21.xml" ContentType="application/vnd.openxmlformats-officedocument.presentationml.tags+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9"/>
  </p:notesMasterIdLst>
  <p:sldIdLst>
    <p:sldId id="259" r:id="rId2"/>
    <p:sldId id="261" r:id="rId3"/>
    <p:sldId id="283" r:id="rId4"/>
    <p:sldId id="268" r:id="rId5"/>
    <p:sldId id="269" r:id="rId6"/>
    <p:sldId id="284" r:id="rId7"/>
    <p:sldId id="277" r:id="rId8"/>
    <p:sldId id="273" r:id="rId9"/>
    <p:sldId id="262" r:id="rId10"/>
    <p:sldId id="272" r:id="rId11"/>
    <p:sldId id="285" r:id="rId12"/>
    <p:sldId id="281" r:id="rId13"/>
    <p:sldId id="286" r:id="rId14"/>
    <p:sldId id="280" r:id="rId15"/>
    <p:sldId id="287" r:id="rId16"/>
    <p:sldId id="279" r:id="rId17"/>
    <p:sldId id="282" r:id="rId18"/>
  </p:sldIdLst>
  <p:sldSz cx="12192000" cy="6858000"/>
  <p:notesSz cx="6858000" cy="9144000"/>
  <p:custDataLst>
    <p:tags r:id="rId20"/>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04" d="100"/>
          <a:sy n="104" d="100"/>
        </p:scale>
        <p:origin x="834" y="11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ags" Target="tags/tag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E9C2FA3-2C6D-40C4-9085-AE35763E64FD}" type="datetimeFigureOut">
              <a:rPr lang="zh-CN" altLang="en-US" smtClean="0"/>
              <a:t>2024/4/16</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539F700-EE23-48D8-B83D-0B61EDA93B17}" type="slidenum">
              <a:rPr lang="zh-CN" altLang="en-US" smtClean="0"/>
              <a:t>‹#›</a:t>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l">
              <a:buFont typeface="+mj-lt"/>
              <a:buAutoNum type="arabicPeriod"/>
            </a:pPr>
            <a:r>
              <a:rPr lang="en-US" altLang="zh-CN" b="1" i="0" dirty="0">
                <a:solidFill>
                  <a:srgbClr val="404040"/>
                </a:solidFill>
                <a:effectLst/>
                <a:latin typeface="ui-sans-serif"/>
              </a:rPr>
              <a:t>Natural Sciences</a:t>
            </a:r>
            <a:r>
              <a:rPr lang="en-US" altLang="zh-CN" b="0" i="0" dirty="0">
                <a:solidFill>
                  <a:srgbClr val="404040"/>
                </a:solidFill>
                <a:effectLst/>
                <a:latin typeface="ui-sans-serif"/>
              </a:rPr>
              <a:t>: GPT can assist in natural sciences by providing information, answering questions, and even generating hypotheses. It can help scientists sift through large amounts of data, identify patterns, and generate insights. However, it's important to verify its outputs, as it doesn't truly understand the scientific method or principles.</a:t>
            </a:r>
          </a:p>
          <a:p>
            <a:pPr algn="l">
              <a:buFont typeface="+mj-lt"/>
              <a:buAutoNum type="arabicPeriod"/>
            </a:pPr>
            <a:r>
              <a:rPr lang="en-US" altLang="zh-CN" b="1" i="0" dirty="0">
                <a:solidFill>
                  <a:srgbClr val="404040"/>
                </a:solidFill>
                <a:effectLst/>
                <a:latin typeface="ui-sans-serif"/>
              </a:rPr>
              <a:t>Intelligent Economy</a:t>
            </a:r>
            <a:r>
              <a:rPr lang="en-US" altLang="zh-CN" b="0" i="0" dirty="0">
                <a:solidFill>
                  <a:srgbClr val="404040"/>
                </a:solidFill>
                <a:effectLst/>
                <a:latin typeface="ui-sans-serif"/>
              </a:rPr>
              <a:t>: In an intelligent economy, GPT can automate tasks that require language understanding and generation. This includes drafting emails, writing reports, customer service, and more. It can also provide insights from large amounts of text data, aiding in decision-making processes.</a:t>
            </a:r>
          </a:p>
          <a:p>
            <a:pPr algn="l">
              <a:buFont typeface="+mj-lt"/>
              <a:buAutoNum type="arabicPeriod"/>
            </a:pPr>
            <a:r>
              <a:rPr lang="en-US" altLang="zh-CN" b="1" i="0" dirty="0">
                <a:solidFill>
                  <a:srgbClr val="404040"/>
                </a:solidFill>
                <a:effectLst/>
                <a:latin typeface="ui-sans-serif"/>
              </a:rPr>
              <a:t>Intelligent Society</a:t>
            </a:r>
            <a:r>
              <a:rPr lang="en-US" altLang="zh-CN" b="0" i="0" dirty="0">
                <a:solidFill>
                  <a:srgbClr val="404040"/>
                </a:solidFill>
                <a:effectLst/>
                <a:latin typeface="ui-sans-serif"/>
              </a:rPr>
              <a:t>: In an intelligent society, GPT can be used in various applications to improve efficiency and productivity. This includes education (e.g., tutoring, content creation), communication (e.g., translation, summarization), and entertainment (e.g., game development, storytelling). However, it also raises ethical and societal issues, such as job displacement and misinformation, that need to be addressed.</a:t>
            </a:r>
          </a:p>
          <a:p>
            <a:endParaRPr lang="zh-CN" altLang="en-US" dirty="0"/>
          </a:p>
        </p:txBody>
      </p:sp>
      <p:sp>
        <p:nvSpPr>
          <p:cNvPr id="4" name="灯片编号占位符 3"/>
          <p:cNvSpPr>
            <a:spLocks noGrp="1"/>
          </p:cNvSpPr>
          <p:nvPr>
            <p:ph type="sldNum" sz="quarter" idx="5"/>
          </p:nvPr>
        </p:nvSpPr>
        <p:spPr/>
        <p:txBody>
          <a:bodyPr/>
          <a:lstStyle/>
          <a:p>
            <a:fld id="{9539F700-EE23-48D8-B83D-0B61EDA93B17}" type="slidenum">
              <a:rPr lang="zh-CN" altLang="en-US" smtClean="0"/>
              <a:t>10</a:t>
            </a:fld>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p:cNvSpPr>
            <a:spLocks noGrp="1"/>
          </p:cNvSpPr>
          <p:nvPr>
            <p:ph type="dt" sz="half" idx="10"/>
          </p:nvPr>
        </p:nvSpPr>
        <p:spPr/>
        <p:txBody>
          <a:bodyPr/>
          <a:lstStyle/>
          <a:p>
            <a:fld id="{97FAEEFC-AE9B-40DD-8086-A52CB67A9885}" type="datetimeFigureOut">
              <a:rPr lang="zh-CN" altLang="en-US" smtClean="0"/>
              <a:t>2024/4/16</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6D6538B3-FCA3-4F2F-94DE-A9262D1E5A31}" type="slidenum">
              <a:rPr lang="zh-CN" altLang="en-US" smtClean="0"/>
              <a:t>‹#›</a:t>
            </a:fld>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p:cNvSpPr>
            <a:spLocks noGrp="1"/>
          </p:cNvSpPr>
          <p:nvPr>
            <p:ph type="dt" sz="half" idx="10"/>
          </p:nvPr>
        </p:nvSpPr>
        <p:spPr/>
        <p:txBody>
          <a:bodyPr/>
          <a:lstStyle/>
          <a:p>
            <a:fld id="{97FAEEFC-AE9B-40DD-8086-A52CB67A9885}" type="datetimeFigureOut">
              <a:rPr lang="zh-CN" altLang="en-US" smtClean="0"/>
              <a:t>2024/4/16</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6D6538B3-FCA3-4F2F-94DE-A9262D1E5A31}" type="slidenum">
              <a:rPr lang="zh-CN" altLang="en-US" smtClean="0"/>
              <a:t>‹#›</a:t>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日期占位符 3"/>
          <p:cNvSpPr>
            <a:spLocks noGrp="1"/>
          </p:cNvSpPr>
          <p:nvPr>
            <p:ph type="dt" sz="half" idx="10"/>
          </p:nvPr>
        </p:nvSpPr>
        <p:spPr/>
        <p:txBody>
          <a:bodyPr/>
          <a:lstStyle/>
          <a:p>
            <a:fld id="{97FAEEFC-AE9B-40DD-8086-A52CB67A9885}" type="datetimeFigureOut">
              <a:rPr lang="zh-CN" altLang="en-US" smtClean="0"/>
              <a:t>2024/4/16</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6D6538B3-FCA3-4F2F-94DE-A9262D1E5A31}" type="slidenum">
              <a:rPr lang="zh-CN" altLang="en-US" smtClean="0"/>
              <a:t>‹#›</a:t>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838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内容占位符 3"/>
          <p:cNvSpPr>
            <a:spLocks noGrp="1"/>
          </p:cNvSpPr>
          <p:nvPr>
            <p:ph sz="half" idx="2"/>
          </p:nvPr>
        </p:nvSpPr>
        <p:spPr>
          <a:xfrm>
            <a:off x="6172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日期占位符 4"/>
          <p:cNvSpPr>
            <a:spLocks noGrp="1"/>
          </p:cNvSpPr>
          <p:nvPr>
            <p:ph type="dt" sz="half" idx="10"/>
          </p:nvPr>
        </p:nvSpPr>
        <p:spPr/>
        <p:txBody>
          <a:bodyPr/>
          <a:lstStyle/>
          <a:p>
            <a:fld id="{97FAEEFC-AE9B-40DD-8086-A52CB67A9885}" type="datetimeFigureOut">
              <a:rPr lang="zh-CN" altLang="en-US" smtClean="0"/>
              <a:t>2024/4/16</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6D6538B3-FCA3-4F2F-94DE-A9262D1E5A31}" type="slidenum">
              <a:rPr lang="zh-CN" altLang="en-US" smtClean="0"/>
              <a:t>‹#›</a:t>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839788" y="2505075"/>
            <a:ext cx="5157787"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文本占位符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6172200" y="2505075"/>
            <a:ext cx="5183188"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7" name="日期占位符 6"/>
          <p:cNvSpPr>
            <a:spLocks noGrp="1"/>
          </p:cNvSpPr>
          <p:nvPr>
            <p:ph type="dt" sz="half" idx="10"/>
          </p:nvPr>
        </p:nvSpPr>
        <p:spPr/>
        <p:txBody>
          <a:bodyPr/>
          <a:lstStyle/>
          <a:p>
            <a:fld id="{97FAEEFC-AE9B-40DD-8086-A52CB67A9885}" type="datetimeFigureOut">
              <a:rPr lang="zh-CN" altLang="en-US" smtClean="0"/>
              <a:t>2024/4/16</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6D6538B3-FCA3-4F2F-94DE-A9262D1E5A31}" type="slidenum">
              <a:rPr lang="zh-CN" altLang="en-US" smtClean="0"/>
              <a:t>‹#›</a:t>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97FAEEFC-AE9B-40DD-8086-A52CB67A9885}" type="datetimeFigureOut">
              <a:rPr lang="zh-CN" altLang="en-US" smtClean="0"/>
              <a:t>2024/4/16</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6D6538B3-FCA3-4F2F-94DE-A9262D1E5A31}" type="slidenum">
              <a:rPr lang="zh-CN" altLang="en-US" smtClean="0"/>
              <a:t>‹#›</a:t>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97FAEEFC-AE9B-40DD-8086-A52CB67A9885}" type="datetimeFigureOut">
              <a:rPr lang="zh-CN" altLang="en-US" smtClean="0"/>
              <a:t>2024/4/16</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6D6538B3-FCA3-4F2F-94DE-A9262D1E5A31}" type="slidenum">
              <a:rPr lang="zh-CN" altLang="en-US" smtClean="0"/>
              <a:t>‹#›</a:t>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97FAEEFC-AE9B-40DD-8086-A52CB67A9885}" type="datetimeFigureOut">
              <a:rPr lang="zh-CN" altLang="en-US" smtClean="0"/>
              <a:t>2024/4/16</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6D6538B3-FCA3-4F2F-94DE-A9262D1E5A31}" type="slidenum">
              <a:rPr lang="zh-CN" altLang="en-US" smtClean="0"/>
              <a:t>‹#›</a:t>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97FAEEFC-AE9B-40DD-8086-A52CB67A9885}" type="datetimeFigureOut">
              <a:rPr lang="zh-CN" altLang="en-US" smtClean="0"/>
              <a:t>2024/4/16</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6D6538B3-FCA3-4F2F-94DE-A9262D1E5A31}" type="slidenum">
              <a:rPr lang="zh-CN" altLang="en-US" smtClean="0"/>
              <a:t>‹#›</a:t>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p:cNvSpPr>
            <a:spLocks noGrp="1"/>
          </p:cNvSpPr>
          <p:nvPr>
            <p:ph type="dt" sz="half" idx="10"/>
          </p:nvPr>
        </p:nvSpPr>
        <p:spPr/>
        <p:txBody>
          <a:bodyPr/>
          <a:lstStyle/>
          <a:p>
            <a:fld id="{97FAEEFC-AE9B-40DD-8086-A52CB67A9885}" type="datetimeFigureOut">
              <a:rPr lang="zh-CN" altLang="en-US" smtClean="0"/>
              <a:t>2024/4/16</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6D6538B3-FCA3-4F2F-94DE-A9262D1E5A31}" type="slidenum">
              <a:rPr lang="zh-CN" altLang="en-US" smtClean="0"/>
              <a:t>‹#›</a:t>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838200" y="365125"/>
            <a:ext cx="7734300" cy="5811838"/>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p:cNvSpPr>
            <a:spLocks noGrp="1"/>
          </p:cNvSpPr>
          <p:nvPr>
            <p:ph type="dt" sz="half" idx="10"/>
          </p:nvPr>
        </p:nvSpPr>
        <p:spPr/>
        <p:txBody>
          <a:bodyPr/>
          <a:lstStyle/>
          <a:p>
            <a:fld id="{97FAEEFC-AE9B-40DD-8086-A52CB67A9885}" type="datetimeFigureOut">
              <a:rPr lang="zh-CN" altLang="en-US" smtClean="0"/>
              <a:t>2024/4/16</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6D6538B3-FCA3-4F2F-94DE-A9262D1E5A31}" type="slidenum">
              <a:rPr lang="zh-CN" altLang="en-US" smtClean="0"/>
              <a:t>‹#›</a:t>
            </a:fld>
            <a:endParaRPr lang="zh-CN" alt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type="title">
  <p:cSld name="1_标题幻灯片">
    <p:bg>
      <p:bgRef idx="1001">
        <a:schemeClr val="bg1"/>
      </p:bgRef>
    </p:bg>
    <p:spTree>
      <p:nvGrpSpPr>
        <p:cNvPr id="1" name=""/>
        <p:cNvGrpSpPr/>
        <p:nvPr/>
      </p:nvGrpSpPr>
      <p:grpSpPr>
        <a:xfrm>
          <a:off x="0" y="0"/>
          <a:ext cx="0" cy="0"/>
          <a:chOff x="0" y="0"/>
          <a:chExt cx="0" cy="0"/>
        </a:xfrm>
      </p:grpSpPr>
      <p:pic>
        <p:nvPicPr>
          <p:cNvPr id="5" name="图片 4"/>
          <p:cNvPicPr>
            <a:picLocks noChangeAspect="1"/>
          </p:cNvPicPr>
          <p:nvPr userDrawn="1"/>
        </p:nvPicPr>
        <p:blipFill>
          <a:blip r:embed="rId2" cstate="screen"/>
          <a:stretch>
            <a:fillRect/>
          </a:stretch>
        </p:blipFill>
        <p:spPr>
          <a:xfrm>
            <a:off x="0" y="0"/>
            <a:ext cx="12191677" cy="6858000"/>
          </a:xfrm>
          <a:prstGeom prst="rect">
            <a:avLst/>
          </a:prstGeom>
        </p:spPr>
      </p:pic>
    </p:spTree>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slow" p14:dur="1500" advTm="0">
        <p:random/>
      </p:transition>
    </mc:Choice>
    <mc:Fallback xmlns="">
      <p:transition spd="slow" advTm="0">
        <p:random/>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7FAEEFC-AE9B-40DD-8086-A52CB67A9885}" type="datetimeFigureOut">
              <a:rPr lang="zh-CN" altLang="en-US" smtClean="0"/>
              <a:t>2024/4/16</a:t>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D6538B3-FCA3-4F2F-94DE-A9262D1E5A31}" type="slidenum">
              <a:rPr lang="zh-CN" altLang="en-US" smtClean="0"/>
              <a:t>‹#›</a:t>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8" Type="http://schemas.openxmlformats.org/officeDocument/2006/relationships/tags" Target="../tags/tag9.xml"/><Relationship Id="rId13" Type="http://schemas.openxmlformats.org/officeDocument/2006/relationships/tags" Target="../tags/tag14.xml"/><Relationship Id="rId18" Type="http://schemas.openxmlformats.org/officeDocument/2006/relationships/tags" Target="../tags/tag19.xml"/><Relationship Id="rId3" Type="http://schemas.openxmlformats.org/officeDocument/2006/relationships/tags" Target="../tags/tag4.xml"/><Relationship Id="rId7" Type="http://schemas.openxmlformats.org/officeDocument/2006/relationships/tags" Target="../tags/tag8.xml"/><Relationship Id="rId12" Type="http://schemas.openxmlformats.org/officeDocument/2006/relationships/tags" Target="../tags/tag13.xml"/><Relationship Id="rId17" Type="http://schemas.openxmlformats.org/officeDocument/2006/relationships/tags" Target="../tags/tag18.xml"/><Relationship Id="rId2" Type="http://schemas.openxmlformats.org/officeDocument/2006/relationships/tags" Target="../tags/tag3.xml"/><Relationship Id="rId16" Type="http://schemas.openxmlformats.org/officeDocument/2006/relationships/tags" Target="../tags/tag17.xml"/><Relationship Id="rId20" Type="http://schemas.openxmlformats.org/officeDocument/2006/relationships/notesSlide" Target="../notesSlides/notesSlide1.xml"/><Relationship Id="rId1" Type="http://schemas.openxmlformats.org/officeDocument/2006/relationships/tags" Target="../tags/tag2.xml"/><Relationship Id="rId6" Type="http://schemas.openxmlformats.org/officeDocument/2006/relationships/tags" Target="../tags/tag7.xml"/><Relationship Id="rId11" Type="http://schemas.openxmlformats.org/officeDocument/2006/relationships/tags" Target="../tags/tag12.xml"/><Relationship Id="rId5" Type="http://schemas.openxmlformats.org/officeDocument/2006/relationships/tags" Target="../tags/tag6.xml"/><Relationship Id="rId15" Type="http://schemas.openxmlformats.org/officeDocument/2006/relationships/tags" Target="../tags/tag16.xml"/><Relationship Id="rId10" Type="http://schemas.openxmlformats.org/officeDocument/2006/relationships/tags" Target="../tags/tag11.xml"/><Relationship Id="rId19" Type="http://schemas.openxmlformats.org/officeDocument/2006/relationships/slideLayout" Target="../slideLayouts/slideLayout12.xml"/><Relationship Id="rId4" Type="http://schemas.openxmlformats.org/officeDocument/2006/relationships/tags" Target="../tags/tag5.xml"/><Relationship Id="rId9" Type="http://schemas.openxmlformats.org/officeDocument/2006/relationships/tags" Target="../tags/tag10.xml"/><Relationship Id="rId14" Type="http://schemas.openxmlformats.org/officeDocument/2006/relationships/tags" Target="../tags/tag15.xml"/></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5.png"/><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3.xml"/><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3" Type="http://schemas.openxmlformats.org/officeDocument/2006/relationships/slideLayout" Target="../slideLayouts/slideLayout12.xml"/><Relationship Id="rId2" Type="http://schemas.openxmlformats.org/officeDocument/2006/relationships/tags" Target="../tags/tag21.xml"/><Relationship Id="rId1" Type="http://schemas.openxmlformats.org/officeDocument/2006/relationships/tags" Target="../tags/tag20.xml"/><Relationship Id="rId4" Type="http://schemas.openxmlformats.org/officeDocument/2006/relationships/image" Target="../media/image3.png"/></Relationships>
</file>

<file path=ppt/slides/_rels/slide14.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2.xml"/></Relationships>
</file>

<file path=ppt/slides/_rels/slide1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2.xml"/></Relationships>
</file>

<file path=ppt/slides/_rels/slide1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4.xml"/><Relationship Id="rId1" Type="http://schemas.openxmlformats.org/officeDocument/2006/relationships/slideLayout" Target="../slideLayouts/slideLayout12.xml"/></Relationships>
</file>

<file path=ppt/slides/_rels/slide1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p:cNvPicPr>
            <a:picLocks noChangeAspect="1"/>
          </p:cNvPicPr>
          <p:nvPr/>
        </p:nvPicPr>
        <p:blipFill>
          <a:blip r:embed="rId2"/>
          <a:stretch>
            <a:fillRect/>
          </a:stretch>
        </p:blipFill>
        <p:spPr>
          <a:xfrm>
            <a:off x="6181498" y="987552"/>
            <a:ext cx="6122136" cy="5870448"/>
          </a:xfrm>
          <a:prstGeom prst="rect">
            <a:avLst/>
          </a:prstGeom>
        </p:spPr>
      </p:pic>
      <p:sp>
        <p:nvSpPr>
          <p:cNvPr id="4" name="文本框 3"/>
          <p:cNvSpPr txBox="1"/>
          <p:nvPr/>
        </p:nvSpPr>
        <p:spPr>
          <a:xfrm>
            <a:off x="-315687" y="1655688"/>
            <a:ext cx="8479971" cy="1015663"/>
          </a:xfrm>
          <a:prstGeom prst="rect">
            <a:avLst/>
          </a:prstGeom>
          <a:noFill/>
        </p:spPr>
        <p:txBody>
          <a:bodyPr wrap="square" rtlCol="0">
            <a:spAutoFit/>
          </a:bodyPr>
          <a:lstStyle/>
          <a:p>
            <a:pPr algn="ctr"/>
            <a:r>
              <a:rPr kumimoji="1" lang="en-US" altLang="zh-CN" sz="6000" b="1" dirty="0">
                <a:solidFill>
                  <a:srgbClr val="4C4C4C"/>
                </a:solidFill>
                <a:latin typeface="微软雅黑" panose="020B0503020204020204" charset="-122"/>
                <a:ea typeface="微软雅黑" panose="020B0503020204020204" charset="-122"/>
                <a:cs typeface="微软雅黑" panose="020B0503020204020204" charset="-122"/>
              </a:rPr>
              <a:t>The Power of GPT</a:t>
            </a:r>
            <a:endParaRPr kumimoji="1" lang="zh-CN" altLang="en-US" sz="6000" b="1" dirty="0">
              <a:solidFill>
                <a:srgbClr val="4C4C4C"/>
              </a:solidFill>
              <a:latin typeface="微软雅黑" panose="020B0503020204020204" charset="-122"/>
              <a:ea typeface="微软雅黑" panose="020B0503020204020204" charset="-122"/>
              <a:cs typeface="微软雅黑" panose="020B0503020204020204" charset="-122"/>
            </a:endParaRPr>
          </a:p>
        </p:txBody>
      </p:sp>
      <p:sp>
        <p:nvSpPr>
          <p:cNvPr id="7" name="文本框 6"/>
          <p:cNvSpPr txBox="1"/>
          <p:nvPr/>
        </p:nvSpPr>
        <p:spPr>
          <a:xfrm>
            <a:off x="1712925" y="987552"/>
            <a:ext cx="3878808" cy="584775"/>
          </a:xfrm>
          <a:prstGeom prst="rect">
            <a:avLst/>
          </a:prstGeom>
          <a:noFill/>
        </p:spPr>
        <p:txBody>
          <a:bodyPr wrap="square" rtlCol="0">
            <a:spAutoFit/>
          </a:bodyPr>
          <a:lstStyle/>
          <a:p>
            <a:pPr algn="dist"/>
            <a:r>
              <a:rPr lang="en-US" altLang="zh-CN" sz="3200" b="1" dirty="0"/>
              <a:t>Leading the Future</a:t>
            </a:r>
            <a:endParaRPr kumimoji="1" lang="zh-CN" altLang="en-US" sz="3200" b="1" dirty="0">
              <a:solidFill>
                <a:srgbClr val="4C4C4C"/>
              </a:solidFill>
              <a:latin typeface="微软雅黑" panose="020B0503020204020204" charset="-122"/>
              <a:ea typeface="微软雅黑" panose="020B0503020204020204" charset="-122"/>
              <a:cs typeface="微软雅黑" panose="020B0503020204020204" charset="-122"/>
            </a:endParaRPr>
          </a:p>
        </p:txBody>
      </p:sp>
      <p:sp>
        <p:nvSpPr>
          <p:cNvPr id="8" name="文本框 7"/>
          <p:cNvSpPr txBox="1"/>
          <p:nvPr/>
        </p:nvSpPr>
        <p:spPr>
          <a:xfrm>
            <a:off x="1297331" y="2892810"/>
            <a:ext cx="4884167" cy="646331"/>
          </a:xfrm>
          <a:prstGeom prst="rect">
            <a:avLst/>
          </a:prstGeom>
          <a:noFill/>
        </p:spPr>
        <p:txBody>
          <a:bodyPr wrap="square" rtlCol="0">
            <a:spAutoFit/>
          </a:bodyPr>
          <a:lstStyle/>
          <a:p>
            <a:pPr algn="ctr"/>
            <a:r>
              <a:rPr kumimoji="1" lang="en-US" altLang="zh-CN" sz="3600" dirty="0">
                <a:solidFill>
                  <a:srgbClr val="4C4C4C"/>
                </a:solidFill>
                <a:latin typeface="微软雅黑" panose="020B0503020204020204" charset="-122"/>
                <a:ea typeface="微软雅黑" panose="020B0503020204020204" charset="-122"/>
                <a:cs typeface="微软雅黑" panose="020B0503020204020204" charset="-122"/>
              </a:rPr>
              <a:t>Artificial intelligence</a:t>
            </a:r>
            <a:endParaRPr kumimoji="1" lang="zh-CN" altLang="en-US" sz="3600" dirty="0">
              <a:solidFill>
                <a:srgbClr val="4C4C4C"/>
              </a:solidFill>
              <a:latin typeface="微软雅黑" panose="020B0503020204020204" charset="-122"/>
              <a:ea typeface="微软雅黑" panose="020B0503020204020204" charset="-122"/>
              <a:cs typeface="微软雅黑" panose="020B0503020204020204" charset="-122"/>
            </a:endParaRPr>
          </a:p>
        </p:txBody>
      </p:sp>
      <p:sp>
        <p:nvSpPr>
          <p:cNvPr id="9" name="文本框 8"/>
          <p:cNvSpPr txBox="1"/>
          <p:nvPr/>
        </p:nvSpPr>
        <p:spPr>
          <a:xfrm>
            <a:off x="2276343" y="4116122"/>
            <a:ext cx="4575504" cy="1754326"/>
          </a:xfrm>
          <a:prstGeom prst="rect">
            <a:avLst/>
          </a:prstGeom>
          <a:noFill/>
        </p:spPr>
        <p:txBody>
          <a:bodyPr wrap="square" rtlCol="0">
            <a:spAutoFit/>
          </a:bodyPr>
          <a:lstStyle/>
          <a:p>
            <a:pPr algn="ctr"/>
            <a:r>
              <a:rPr kumimoji="1" lang="en-US" altLang="zh-CN" dirty="0">
                <a:solidFill>
                  <a:srgbClr val="4C4C4C"/>
                </a:solidFill>
                <a:latin typeface="微软雅黑 Light" panose="020B0502040204020203" charset="-122"/>
                <a:ea typeface="微软雅黑 Light" panose="020B0502040204020203" charset="-122"/>
                <a:cs typeface="微软雅黑 Light" panose="020B0502040204020203" charset="-122"/>
              </a:rPr>
              <a:t>Team Member Responsibilities</a:t>
            </a:r>
            <a:r>
              <a:rPr kumimoji="1" lang="zh-CN" altLang="en-US" dirty="0">
                <a:solidFill>
                  <a:srgbClr val="4C4C4C"/>
                </a:solidFill>
                <a:latin typeface="微软雅黑 Light" panose="020B0502040204020203" charset="-122"/>
                <a:ea typeface="微软雅黑 Light" panose="020B0502040204020203" charset="-122"/>
                <a:cs typeface="微软雅黑 Light" panose="020B0502040204020203" charset="-122"/>
              </a:rPr>
              <a:t>：</a:t>
            </a:r>
            <a:endParaRPr kumimoji="1" lang="en-US" altLang="zh-CN" dirty="0">
              <a:solidFill>
                <a:srgbClr val="4C4C4C"/>
              </a:solidFill>
              <a:latin typeface="微软雅黑 Light" panose="020B0502040204020203" charset="-122"/>
              <a:ea typeface="微软雅黑 Light" panose="020B0502040204020203" charset="-122"/>
              <a:cs typeface="微软雅黑 Light" panose="020B0502040204020203" charset="-122"/>
            </a:endParaRPr>
          </a:p>
          <a:p>
            <a:pPr algn="ctr"/>
            <a:endParaRPr kumimoji="1" lang="en-US" altLang="zh-CN" dirty="0">
              <a:solidFill>
                <a:srgbClr val="4C4C4C"/>
              </a:solidFill>
              <a:latin typeface="微软雅黑 Light" panose="020B0502040204020203" charset="-122"/>
              <a:ea typeface="微软雅黑 Light" panose="020B0502040204020203" charset="-122"/>
              <a:cs typeface="微软雅黑 Light" panose="020B0502040204020203" charset="-122"/>
            </a:endParaRPr>
          </a:p>
          <a:p>
            <a:r>
              <a:rPr kumimoji="1" lang="zh-CN" altLang="en-US" dirty="0">
                <a:solidFill>
                  <a:srgbClr val="4C4C4C"/>
                </a:solidFill>
                <a:latin typeface="微软雅黑 Light" panose="020B0502040204020203" charset="-122"/>
                <a:ea typeface="微软雅黑 Light" panose="020B0502040204020203" charset="-122"/>
                <a:cs typeface="微软雅黑 Light" panose="020B0502040204020203" charset="-122"/>
              </a:rPr>
              <a:t>温家振：</a:t>
            </a:r>
            <a:r>
              <a:rPr kumimoji="1" lang="en-US" altLang="zh-CN" dirty="0">
                <a:solidFill>
                  <a:srgbClr val="4C4C4C"/>
                </a:solidFill>
                <a:latin typeface="微软雅黑 Light" panose="020B0502040204020203" charset="-122"/>
                <a:ea typeface="微软雅黑 Light" panose="020B0502040204020203" charset="-122"/>
                <a:cs typeface="微软雅黑 Light" panose="020B0502040204020203" charset="-122"/>
              </a:rPr>
              <a:t>PPT making</a:t>
            </a:r>
          </a:p>
          <a:p>
            <a:r>
              <a:rPr kumimoji="1" lang="zh-CN" altLang="en-US" dirty="0">
                <a:solidFill>
                  <a:srgbClr val="4C4C4C"/>
                </a:solidFill>
                <a:latin typeface="微软雅黑 Light" panose="020B0502040204020203" charset="-122"/>
                <a:ea typeface="微软雅黑 Light" panose="020B0502040204020203" charset="-122"/>
                <a:cs typeface="微软雅黑 Light" panose="020B0502040204020203" charset="-122"/>
              </a:rPr>
              <a:t>周同阳：Speech writing</a:t>
            </a:r>
          </a:p>
          <a:p>
            <a:r>
              <a:rPr kumimoji="1" lang="zh-CN" altLang="en-US" dirty="0">
                <a:solidFill>
                  <a:srgbClr val="4C4C4C"/>
                </a:solidFill>
                <a:latin typeface="微软雅黑 Light" panose="020B0502040204020203" charset="-122"/>
                <a:ea typeface="微软雅黑 Light" panose="020B0502040204020203" charset="-122"/>
                <a:cs typeface="微软雅黑 Light" panose="020B0502040204020203" charset="-122"/>
              </a:rPr>
              <a:t>章鹏程：</a:t>
            </a:r>
            <a:r>
              <a:rPr kumimoji="1" lang="en-US" altLang="zh-CN" dirty="0">
                <a:solidFill>
                  <a:srgbClr val="4C4C4C"/>
                </a:solidFill>
                <a:latin typeface="微软雅黑 Light" panose="020B0502040204020203" charset="-122"/>
                <a:ea typeface="微软雅黑 Light" panose="020B0502040204020203" charset="-122"/>
                <a:cs typeface="微软雅黑 Light" panose="020B0502040204020203" charset="-122"/>
              </a:rPr>
              <a:t>Presenter</a:t>
            </a:r>
          </a:p>
          <a:p>
            <a:r>
              <a:rPr kumimoji="1" lang="zh-CN" altLang="en-US" dirty="0">
                <a:solidFill>
                  <a:srgbClr val="4C4C4C"/>
                </a:solidFill>
                <a:latin typeface="微软雅黑 Light" panose="020B0502040204020203" charset="-122"/>
                <a:ea typeface="微软雅黑 Light" panose="020B0502040204020203" charset="-122"/>
                <a:cs typeface="微软雅黑 Light" panose="020B0502040204020203" charset="-122"/>
              </a:rPr>
              <a:t>王昱硕：</a:t>
            </a:r>
            <a:r>
              <a:rPr kumimoji="1" lang="en-US" altLang="zh-CN" dirty="0">
                <a:solidFill>
                  <a:srgbClr val="4C4C4C"/>
                </a:solidFill>
                <a:latin typeface="微软雅黑 Light" panose="020B0502040204020203" charset="-122"/>
                <a:ea typeface="微软雅黑 Light" panose="020B0502040204020203" charset="-122"/>
                <a:cs typeface="微软雅黑 Light" panose="020B0502040204020203" charset="-122"/>
              </a:rPr>
              <a:t>Video clip</a:t>
            </a:r>
            <a:endParaRPr kumimoji="1" lang="zh-CN" altLang="en-US" dirty="0">
              <a:solidFill>
                <a:srgbClr val="4C4C4C"/>
              </a:solidFill>
              <a:latin typeface="微软雅黑 Light" panose="020B0502040204020203" charset="-122"/>
              <a:ea typeface="微软雅黑 Light" panose="020B0502040204020203" charset="-122"/>
              <a:cs typeface="微软雅黑 Light" panose="020B0502040204020203" charset="-122"/>
            </a:endParaRPr>
          </a:p>
        </p:txBody>
      </p:sp>
    </p:spTree>
  </p:cSld>
  <p:clrMapOvr>
    <a:masterClrMapping/>
  </p:clrMapOvr>
  <mc:AlternateContent xmlns:mc="http://schemas.openxmlformats.org/markup-compatibility/2006" xmlns:p14="http://schemas.microsoft.com/office/powerpoint/2010/main">
    <mc:Choice Requires="p14">
      <p:transition spd="slow" p14:dur="1500" advTm="0">
        <p:random/>
      </p:transition>
    </mc:Choice>
    <mc:Fallback xmlns="">
      <p:transition spd="slow" advTm="0">
        <p:random/>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barn(inVertical)">
                                      <p:cBhvr>
                                        <p:cTn id="7" dur="500"/>
                                        <p:tgtEl>
                                          <p:spTgt spid="7"/>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grpId="0" nodeType="clickEffect">
                                  <p:stCondLst>
                                    <p:cond delay="0"/>
                                  </p:stCondLst>
                                  <p:childTnLst>
                                    <p:set>
                                      <p:cBhvr>
                                        <p:cTn id="11" dur="1" fill="hold">
                                          <p:stCondLst>
                                            <p:cond delay="0"/>
                                          </p:stCondLst>
                                        </p:cTn>
                                        <p:tgtEl>
                                          <p:spTgt spid="4"/>
                                        </p:tgtEl>
                                        <p:attrNameLst>
                                          <p:attrName>style.visibility</p:attrName>
                                        </p:attrNameLst>
                                      </p:cBhvr>
                                      <p:to>
                                        <p:strVal val="visible"/>
                                      </p:to>
                                    </p:set>
                                    <p:anim calcmode="lin" valueType="num">
                                      <p:cBhvr additive="base">
                                        <p:cTn id="12" dur="500" fill="hold"/>
                                        <p:tgtEl>
                                          <p:spTgt spid="4"/>
                                        </p:tgtEl>
                                        <p:attrNameLst>
                                          <p:attrName>ppt_x</p:attrName>
                                        </p:attrNameLst>
                                      </p:cBhvr>
                                      <p:tavLst>
                                        <p:tav tm="0">
                                          <p:val>
                                            <p:strVal val="#ppt_x"/>
                                          </p:val>
                                        </p:tav>
                                        <p:tav tm="100000">
                                          <p:val>
                                            <p:strVal val="#ppt_x"/>
                                          </p:val>
                                        </p:tav>
                                      </p:tavLst>
                                    </p:anim>
                                    <p:anim calcmode="lin" valueType="num">
                                      <p:cBhvr additive="base">
                                        <p:cTn id="13" dur="500" fill="hold"/>
                                        <p:tgtEl>
                                          <p:spTgt spid="4"/>
                                        </p:tgtEl>
                                        <p:attrNameLst>
                                          <p:attrName>ppt_y</p:attrName>
                                        </p:attrNameLst>
                                      </p:cBhvr>
                                      <p:tavLst>
                                        <p:tav tm="0">
                                          <p:val>
                                            <p:strVal val="1+#ppt_h/2"/>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42" presetClass="entr" presetSubtype="0" fill="hold" grpId="0" nodeType="clickEffect">
                                  <p:stCondLst>
                                    <p:cond delay="0"/>
                                  </p:stCondLst>
                                  <p:childTnLst>
                                    <p:set>
                                      <p:cBhvr>
                                        <p:cTn id="17" dur="1" fill="hold">
                                          <p:stCondLst>
                                            <p:cond delay="0"/>
                                          </p:stCondLst>
                                        </p:cTn>
                                        <p:tgtEl>
                                          <p:spTgt spid="8"/>
                                        </p:tgtEl>
                                        <p:attrNameLst>
                                          <p:attrName>style.visibility</p:attrName>
                                        </p:attrNameLst>
                                      </p:cBhvr>
                                      <p:to>
                                        <p:strVal val="visible"/>
                                      </p:to>
                                    </p:set>
                                    <p:animEffect transition="in" filter="fade">
                                      <p:cBhvr>
                                        <p:cTn id="18" dur="1000"/>
                                        <p:tgtEl>
                                          <p:spTgt spid="8"/>
                                        </p:tgtEl>
                                      </p:cBhvr>
                                    </p:animEffect>
                                    <p:anim calcmode="lin" valueType="num">
                                      <p:cBhvr>
                                        <p:cTn id="19" dur="1000" fill="hold"/>
                                        <p:tgtEl>
                                          <p:spTgt spid="8"/>
                                        </p:tgtEl>
                                        <p:attrNameLst>
                                          <p:attrName>ppt_x</p:attrName>
                                        </p:attrNameLst>
                                      </p:cBhvr>
                                      <p:tavLst>
                                        <p:tav tm="0">
                                          <p:val>
                                            <p:strVal val="#ppt_x"/>
                                          </p:val>
                                        </p:tav>
                                        <p:tav tm="100000">
                                          <p:val>
                                            <p:strVal val="#ppt_x"/>
                                          </p:val>
                                        </p:tav>
                                      </p:tavLst>
                                    </p:anim>
                                    <p:anim calcmode="lin" valueType="num">
                                      <p:cBhvr>
                                        <p:cTn id="20"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53" presetClass="entr" presetSubtype="16" fill="hold" grpId="0" nodeType="clickEffect">
                                  <p:stCondLst>
                                    <p:cond delay="0"/>
                                  </p:stCondLst>
                                  <p:childTnLst>
                                    <p:set>
                                      <p:cBhvr>
                                        <p:cTn id="24" dur="1" fill="hold">
                                          <p:stCondLst>
                                            <p:cond delay="0"/>
                                          </p:stCondLst>
                                        </p:cTn>
                                        <p:tgtEl>
                                          <p:spTgt spid="9"/>
                                        </p:tgtEl>
                                        <p:attrNameLst>
                                          <p:attrName>style.visibility</p:attrName>
                                        </p:attrNameLst>
                                      </p:cBhvr>
                                      <p:to>
                                        <p:strVal val="visible"/>
                                      </p:to>
                                    </p:set>
                                    <p:anim calcmode="lin" valueType="num">
                                      <p:cBhvr>
                                        <p:cTn id="25" dur="500" fill="hold"/>
                                        <p:tgtEl>
                                          <p:spTgt spid="9"/>
                                        </p:tgtEl>
                                        <p:attrNameLst>
                                          <p:attrName>ppt_w</p:attrName>
                                        </p:attrNameLst>
                                      </p:cBhvr>
                                      <p:tavLst>
                                        <p:tav tm="0">
                                          <p:val>
                                            <p:fltVal val="0"/>
                                          </p:val>
                                        </p:tav>
                                        <p:tav tm="100000">
                                          <p:val>
                                            <p:strVal val="#ppt_w"/>
                                          </p:val>
                                        </p:tav>
                                      </p:tavLst>
                                    </p:anim>
                                    <p:anim calcmode="lin" valueType="num">
                                      <p:cBhvr>
                                        <p:cTn id="26" dur="500" fill="hold"/>
                                        <p:tgtEl>
                                          <p:spTgt spid="9"/>
                                        </p:tgtEl>
                                        <p:attrNameLst>
                                          <p:attrName>ppt_h</p:attrName>
                                        </p:attrNameLst>
                                      </p:cBhvr>
                                      <p:tavLst>
                                        <p:tav tm="0">
                                          <p:val>
                                            <p:fltVal val="0"/>
                                          </p:val>
                                        </p:tav>
                                        <p:tav tm="100000">
                                          <p:val>
                                            <p:strVal val="#ppt_h"/>
                                          </p:val>
                                        </p:tav>
                                      </p:tavLst>
                                    </p:anim>
                                    <p:animEffect transition="in" filter="fade">
                                      <p:cBhvr>
                                        <p:cTn id="27" dur="500"/>
                                        <p:tgtEl>
                                          <p:spTgt spid="9"/>
                                        </p:tgtEl>
                                      </p:cBhvr>
                                    </p:animEffect>
                                  </p:childTnLst>
                                </p:cTn>
                              </p:par>
                            </p:childTnLst>
                          </p:cTn>
                        </p:par>
                      </p:childTnLst>
                    </p:cTn>
                  </p:par>
                  <p:par>
                    <p:cTn id="28" fill="hold">
                      <p:stCondLst>
                        <p:cond delay="indefinite"/>
                      </p:stCondLst>
                      <p:childTnLst>
                        <p:par>
                          <p:cTn id="29" fill="hold">
                            <p:stCondLst>
                              <p:cond delay="0"/>
                            </p:stCondLst>
                            <p:childTnLst>
                              <p:par>
                                <p:cTn id="30" presetID="53" presetClass="entr" presetSubtype="16" fill="hold" nodeType="clickEffect">
                                  <p:stCondLst>
                                    <p:cond delay="0"/>
                                  </p:stCondLst>
                                  <p:childTnLst>
                                    <p:set>
                                      <p:cBhvr>
                                        <p:cTn id="31" dur="1" fill="hold">
                                          <p:stCondLst>
                                            <p:cond delay="0"/>
                                          </p:stCondLst>
                                        </p:cTn>
                                        <p:tgtEl>
                                          <p:spTgt spid="3"/>
                                        </p:tgtEl>
                                        <p:attrNameLst>
                                          <p:attrName>style.visibility</p:attrName>
                                        </p:attrNameLst>
                                      </p:cBhvr>
                                      <p:to>
                                        <p:strVal val="visible"/>
                                      </p:to>
                                    </p:set>
                                    <p:anim calcmode="lin" valueType="num">
                                      <p:cBhvr>
                                        <p:cTn id="32" dur="500" fill="hold"/>
                                        <p:tgtEl>
                                          <p:spTgt spid="3"/>
                                        </p:tgtEl>
                                        <p:attrNameLst>
                                          <p:attrName>ppt_w</p:attrName>
                                        </p:attrNameLst>
                                      </p:cBhvr>
                                      <p:tavLst>
                                        <p:tav tm="0">
                                          <p:val>
                                            <p:fltVal val="0"/>
                                          </p:val>
                                        </p:tav>
                                        <p:tav tm="100000">
                                          <p:val>
                                            <p:strVal val="#ppt_w"/>
                                          </p:val>
                                        </p:tav>
                                      </p:tavLst>
                                    </p:anim>
                                    <p:anim calcmode="lin" valueType="num">
                                      <p:cBhvr>
                                        <p:cTn id="33" dur="500" fill="hold"/>
                                        <p:tgtEl>
                                          <p:spTgt spid="3"/>
                                        </p:tgtEl>
                                        <p:attrNameLst>
                                          <p:attrName>ppt_h</p:attrName>
                                        </p:attrNameLst>
                                      </p:cBhvr>
                                      <p:tavLst>
                                        <p:tav tm="0">
                                          <p:val>
                                            <p:fltVal val="0"/>
                                          </p:val>
                                        </p:tav>
                                        <p:tav tm="100000">
                                          <p:val>
                                            <p:strVal val="#ppt_h"/>
                                          </p:val>
                                        </p:tav>
                                      </p:tavLst>
                                    </p:anim>
                                    <p:animEffect transition="in" filter="fade">
                                      <p:cBhvr>
                                        <p:cTn id="34"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9"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370919" y="2662738"/>
            <a:ext cx="2395407" cy="561690"/>
          </a:xfrm>
          <a:prstGeom prst="rect">
            <a:avLst/>
          </a:prstGeom>
          <a:noFill/>
        </p:spPr>
        <p:txBody>
          <a:bodyPr wrap="none" lIns="68520" tIns="34289" rIns="68520" bIns="34289" rtlCol="0">
            <a:spAutoFit/>
            <a:scene3d>
              <a:camera prst="orthographicFront"/>
              <a:lightRig rig="threePt" dir="t"/>
            </a:scene3d>
            <a:sp3d contourW="12700"/>
          </a:bodyPr>
          <a:lstStyle/>
          <a:p>
            <a:pPr algn="ctr" defTabSz="684530"/>
            <a:r>
              <a:rPr lang="en-US" altLang="zh-CN" sz="3200" b="1" dirty="0">
                <a:solidFill>
                  <a:srgbClr val="4C4C4C"/>
                </a:solidFill>
                <a:latin typeface="Arial" panose="020B0604020202020204" pitchFamily="34" charset="0"/>
                <a:ea typeface="微软雅黑" panose="020B0503020204020204" charset="-122"/>
                <a:cs typeface="Arial" panose="020B0604020202020204" pitchFamily="34" charset="0"/>
              </a:rPr>
              <a:t>CONTENTS</a:t>
            </a:r>
            <a:endParaRPr lang="zh-CN" altLang="en-US" sz="3200" b="1" dirty="0">
              <a:solidFill>
                <a:srgbClr val="4C4C4C"/>
              </a:solidFill>
              <a:latin typeface="Arial" panose="020B0604020202020204" pitchFamily="34" charset="0"/>
              <a:ea typeface="微软雅黑" panose="020B0503020204020204" charset="-122"/>
              <a:cs typeface="Arial" panose="020B0604020202020204" pitchFamily="34" charset="0"/>
            </a:endParaRPr>
          </a:p>
        </p:txBody>
      </p:sp>
      <p:grpSp>
        <p:nvGrpSpPr>
          <p:cNvPr id="4" name="组合 24"/>
          <p:cNvGrpSpPr/>
          <p:nvPr>
            <p:custDataLst>
              <p:tags r:id="rId1"/>
            </p:custDataLst>
          </p:nvPr>
        </p:nvGrpSpPr>
        <p:grpSpPr>
          <a:xfrm>
            <a:off x="2952790" y="1352490"/>
            <a:ext cx="3515953" cy="644505"/>
            <a:chOff x="6629351" y="1760487"/>
            <a:chExt cx="4687937" cy="859340"/>
          </a:xfrm>
        </p:grpSpPr>
        <p:grpSp>
          <p:nvGrpSpPr>
            <p:cNvPr id="5" name="组合 40"/>
            <p:cNvGrpSpPr/>
            <p:nvPr/>
          </p:nvGrpSpPr>
          <p:grpSpPr>
            <a:xfrm>
              <a:off x="7481595" y="1866014"/>
              <a:ext cx="3835693" cy="753813"/>
              <a:chOff x="6875850" y="2229260"/>
              <a:chExt cx="3835693" cy="753813"/>
            </a:xfrm>
          </p:grpSpPr>
          <p:sp>
            <p:nvSpPr>
              <p:cNvPr id="7" name="矩形 6"/>
              <p:cNvSpPr/>
              <p:nvPr/>
            </p:nvSpPr>
            <p:spPr>
              <a:xfrm>
                <a:off x="6875851" y="2675297"/>
                <a:ext cx="3835692" cy="307776"/>
              </a:xfrm>
              <a:prstGeom prst="rect">
                <a:avLst/>
              </a:prstGeom>
            </p:spPr>
            <p:txBody>
              <a:bodyPr wrap="square">
                <a:spAutoFit/>
                <a:scene3d>
                  <a:camera prst="orthographicFront"/>
                  <a:lightRig rig="threePt" dir="t"/>
                </a:scene3d>
                <a:sp3d contourW="12700"/>
              </a:bodyPr>
              <a:lstStyle/>
              <a:p>
                <a:pPr lvl="0">
                  <a:defRPr/>
                </a:pPr>
                <a:endParaRPr lang="zh-CN" altLang="en-US" sz="900" dirty="0">
                  <a:solidFill>
                    <a:schemeClr val="bg1">
                      <a:lumMod val="65000"/>
                    </a:schemeClr>
                  </a:solidFill>
                  <a:latin typeface="微软雅黑" panose="020B0503020204020204" charset="-122"/>
                  <a:ea typeface="微软雅黑" panose="020B0503020204020204" charset="-122"/>
                  <a:cs typeface="微软雅黑" panose="020B0503020204020204" charset="-122"/>
                </a:endParaRPr>
              </a:p>
            </p:txBody>
          </p:sp>
          <p:sp>
            <p:nvSpPr>
              <p:cNvPr id="8" name="文本框 7"/>
              <p:cNvSpPr txBox="1"/>
              <p:nvPr>
                <p:custDataLst>
                  <p:tags r:id="rId18"/>
                </p:custDataLst>
              </p:nvPr>
            </p:nvSpPr>
            <p:spPr>
              <a:xfrm>
                <a:off x="6875850" y="2229260"/>
                <a:ext cx="2875430" cy="560316"/>
              </a:xfrm>
              <a:prstGeom prst="rect">
                <a:avLst/>
              </a:prstGeom>
              <a:noFill/>
            </p:spPr>
            <p:txBody>
              <a:bodyPr wrap="square" rtlCol="0">
                <a:spAutoFit/>
                <a:scene3d>
                  <a:camera prst="orthographicFront"/>
                  <a:lightRig rig="threePt" dir="t"/>
                </a:scene3d>
                <a:sp3d contourW="12700"/>
              </a:bodyPr>
              <a:lstStyle/>
              <a:p>
                <a:r>
                  <a:rPr lang="en-US" altLang="zh-CN" sz="2100" b="1" dirty="0">
                    <a:solidFill>
                      <a:srgbClr val="4C4C4C"/>
                    </a:solidFill>
                    <a:latin typeface="微软雅黑" panose="020B0503020204020204" charset="-122"/>
                    <a:ea typeface="微软雅黑" panose="020B0503020204020204" charset="-122"/>
                    <a:cs typeface="微软雅黑" panose="020B0503020204020204" charset="-122"/>
                  </a:rPr>
                  <a:t>What is GPT</a:t>
                </a:r>
                <a:endParaRPr lang="zh-CN" altLang="en-US" sz="2100" b="1" dirty="0">
                  <a:solidFill>
                    <a:srgbClr val="4C4C4C"/>
                  </a:solidFill>
                  <a:latin typeface="微软雅黑" panose="020B0503020204020204" charset="-122"/>
                  <a:ea typeface="微软雅黑" panose="020B0503020204020204" charset="-122"/>
                  <a:cs typeface="微软雅黑" panose="020B0503020204020204" charset="-122"/>
                </a:endParaRPr>
              </a:p>
            </p:txBody>
          </p:sp>
        </p:grpSp>
        <p:sp>
          <p:nvSpPr>
            <p:cNvPr id="6" name="文本框 5"/>
            <p:cNvSpPr txBox="1"/>
            <p:nvPr>
              <p:custDataLst>
                <p:tags r:id="rId17"/>
              </p:custDataLst>
            </p:nvPr>
          </p:nvSpPr>
          <p:spPr>
            <a:xfrm>
              <a:off x="6629351" y="1760487"/>
              <a:ext cx="1026351" cy="738667"/>
            </a:xfrm>
            <a:prstGeom prst="rect">
              <a:avLst/>
            </a:prstGeom>
            <a:noFill/>
          </p:spPr>
          <p:txBody>
            <a:bodyPr wrap="none" rtlCol="0">
              <a:spAutoFit/>
              <a:scene3d>
                <a:camera prst="orthographicFront"/>
                <a:lightRig rig="threePt" dir="t"/>
              </a:scene3d>
              <a:sp3d contourW="12700"/>
            </a:bodyPr>
            <a:lstStyle/>
            <a:p>
              <a:r>
                <a:rPr lang="en-US" altLang="zh-CN" sz="3000" b="1" dirty="0">
                  <a:solidFill>
                    <a:srgbClr val="4C4C4C"/>
                  </a:solidFill>
                  <a:latin typeface="微软雅黑" panose="020B0503020204020204" charset="-122"/>
                  <a:ea typeface="微软雅黑" panose="020B0503020204020204" charset="-122"/>
                  <a:cs typeface="微软雅黑" panose="020B0503020204020204" charset="-122"/>
                </a:rPr>
                <a:t>01.</a:t>
              </a:r>
              <a:endParaRPr lang="zh-CN" altLang="en-US" sz="3000" b="1" dirty="0">
                <a:solidFill>
                  <a:srgbClr val="4C4C4C"/>
                </a:solidFill>
                <a:latin typeface="微软雅黑" panose="020B0503020204020204" charset="-122"/>
                <a:ea typeface="微软雅黑" panose="020B0503020204020204" charset="-122"/>
                <a:cs typeface="微软雅黑" panose="020B0503020204020204" charset="-122"/>
              </a:endParaRPr>
            </a:p>
          </p:txBody>
        </p:sp>
      </p:grpSp>
      <p:grpSp>
        <p:nvGrpSpPr>
          <p:cNvPr id="9" name="组合 24"/>
          <p:cNvGrpSpPr/>
          <p:nvPr>
            <p:custDataLst>
              <p:tags r:id="rId2"/>
            </p:custDataLst>
          </p:nvPr>
        </p:nvGrpSpPr>
        <p:grpSpPr>
          <a:xfrm>
            <a:off x="2920477" y="2672811"/>
            <a:ext cx="3515953" cy="644505"/>
            <a:chOff x="6629351" y="1760487"/>
            <a:chExt cx="4687937" cy="859340"/>
          </a:xfrm>
        </p:grpSpPr>
        <p:grpSp>
          <p:nvGrpSpPr>
            <p:cNvPr id="10" name="组合 40"/>
            <p:cNvGrpSpPr/>
            <p:nvPr/>
          </p:nvGrpSpPr>
          <p:grpSpPr>
            <a:xfrm>
              <a:off x="7481596" y="1853806"/>
              <a:ext cx="3835692" cy="766021"/>
              <a:chOff x="6875851" y="2217052"/>
              <a:chExt cx="3835692" cy="766021"/>
            </a:xfrm>
          </p:grpSpPr>
          <p:sp>
            <p:nvSpPr>
              <p:cNvPr id="12" name="矩形 11"/>
              <p:cNvSpPr/>
              <p:nvPr/>
            </p:nvSpPr>
            <p:spPr>
              <a:xfrm>
                <a:off x="6875851" y="2675297"/>
                <a:ext cx="3835692" cy="307776"/>
              </a:xfrm>
              <a:prstGeom prst="rect">
                <a:avLst/>
              </a:prstGeom>
            </p:spPr>
            <p:txBody>
              <a:bodyPr wrap="square">
                <a:spAutoFit/>
                <a:scene3d>
                  <a:camera prst="orthographicFront"/>
                  <a:lightRig rig="threePt" dir="t"/>
                </a:scene3d>
                <a:sp3d contourW="12700"/>
              </a:bodyPr>
              <a:lstStyle/>
              <a:p>
                <a:pPr lvl="0">
                  <a:defRPr/>
                </a:pPr>
                <a:endParaRPr lang="zh-CN" altLang="en-US" sz="900" dirty="0">
                  <a:solidFill>
                    <a:schemeClr val="bg1">
                      <a:lumMod val="65000"/>
                    </a:schemeClr>
                  </a:solidFill>
                  <a:latin typeface="微软雅黑" panose="020B0503020204020204" charset="-122"/>
                  <a:ea typeface="微软雅黑" panose="020B0503020204020204" charset="-122"/>
                  <a:cs typeface="微软雅黑" panose="020B0503020204020204" charset="-122"/>
                </a:endParaRPr>
              </a:p>
            </p:txBody>
          </p:sp>
          <p:sp>
            <p:nvSpPr>
              <p:cNvPr id="13" name="文本框 12"/>
              <p:cNvSpPr txBox="1"/>
              <p:nvPr>
                <p:custDataLst>
                  <p:tags r:id="rId16"/>
                </p:custDataLst>
              </p:nvPr>
            </p:nvSpPr>
            <p:spPr>
              <a:xfrm>
                <a:off x="6875851" y="2217052"/>
                <a:ext cx="3787987" cy="552027"/>
              </a:xfrm>
              <a:prstGeom prst="rect">
                <a:avLst/>
              </a:prstGeom>
              <a:noFill/>
            </p:spPr>
            <p:txBody>
              <a:bodyPr wrap="none" rtlCol="0">
                <a:spAutoFit/>
                <a:scene3d>
                  <a:camera prst="orthographicFront"/>
                  <a:lightRig rig="threePt" dir="t"/>
                </a:scene3d>
                <a:sp3d contourW="12700"/>
              </a:bodyPr>
              <a:lstStyle/>
              <a:p>
                <a:pPr algn="l"/>
                <a:r>
                  <a:rPr lang="en-US" altLang="zh-CN" sz="2100" b="1" dirty="0">
                    <a:solidFill>
                      <a:srgbClr val="4C4C4C"/>
                    </a:solidFill>
                    <a:latin typeface="微软雅黑" panose="020B0503020204020204" charset="-122"/>
                    <a:ea typeface="微软雅黑" panose="020B0503020204020204" charset="-122"/>
                    <a:cs typeface="微软雅黑" panose="020B0503020204020204" charset="-122"/>
                    <a:sym typeface="+mn-ea"/>
                  </a:rPr>
                  <a:t>Applications of GPT</a:t>
                </a:r>
                <a:endParaRPr lang="zh-CN" altLang="en-US" sz="2100" b="1" dirty="0">
                  <a:solidFill>
                    <a:srgbClr val="4C4C4C"/>
                  </a:solidFill>
                  <a:latin typeface="微软雅黑" panose="020B0503020204020204" charset="-122"/>
                  <a:ea typeface="微软雅黑" panose="020B0503020204020204" charset="-122"/>
                  <a:cs typeface="微软雅黑" panose="020B0503020204020204" charset="-122"/>
                </a:endParaRPr>
              </a:p>
            </p:txBody>
          </p:sp>
        </p:grpSp>
        <p:sp>
          <p:nvSpPr>
            <p:cNvPr id="11" name="文本框 10"/>
            <p:cNvSpPr txBox="1"/>
            <p:nvPr>
              <p:custDataLst>
                <p:tags r:id="rId15"/>
              </p:custDataLst>
            </p:nvPr>
          </p:nvSpPr>
          <p:spPr>
            <a:xfrm>
              <a:off x="6629351" y="1760487"/>
              <a:ext cx="1026351" cy="738665"/>
            </a:xfrm>
            <a:prstGeom prst="rect">
              <a:avLst/>
            </a:prstGeom>
            <a:noFill/>
          </p:spPr>
          <p:txBody>
            <a:bodyPr wrap="none" rtlCol="0">
              <a:spAutoFit/>
              <a:scene3d>
                <a:camera prst="orthographicFront"/>
                <a:lightRig rig="threePt" dir="t"/>
              </a:scene3d>
              <a:sp3d contourW="12700"/>
            </a:bodyPr>
            <a:lstStyle/>
            <a:p>
              <a:r>
                <a:rPr lang="en-US" altLang="zh-CN" sz="3000" b="1" dirty="0">
                  <a:solidFill>
                    <a:srgbClr val="4C4C4C"/>
                  </a:solidFill>
                  <a:latin typeface="微软雅黑" panose="020B0503020204020204" charset="-122"/>
                  <a:ea typeface="微软雅黑" panose="020B0503020204020204" charset="-122"/>
                  <a:cs typeface="微软雅黑" panose="020B0503020204020204" charset="-122"/>
                </a:rPr>
                <a:t>02.</a:t>
              </a:r>
              <a:endParaRPr lang="zh-CN" altLang="en-US" sz="3000" b="1" dirty="0">
                <a:solidFill>
                  <a:srgbClr val="4C4C4C"/>
                </a:solidFill>
                <a:latin typeface="微软雅黑" panose="020B0503020204020204" charset="-122"/>
                <a:ea typeface="微软雅黑" panose="020B0503020204020204" charset="-122"/>
                <a:cs typeface="微软雅黑" panose="020B0503020204020204" charset="-122"/>
              </a:endParaRPr>
            </a:p>
          </p:txBody>
        </p:sp>
      </p:grpSp>
      <p:grpSp>
        <p:nvGrpSpPr>
          <p:cNvPr id="15" name="组合 24"/>
          <p:cNvGrpSpPr/>
          <p:nvPr>
            <p:custDataLst>
              <p:tags r:id="rId3"/>
            </p:custDataLst>
          </p:nvPr>
        </p:nvGrpSpPr>
        <p:grpSpPr>
          <a:xfrm>
            <a:off x="2920478" y="3978407"/>
            <a:ext cx="3728458" cy="1129475"/>
            <a:chOff x="6629352" y="1760489"/>
            <a:chExt cx="4971277" cy="1505968"/>
          </a:xfrm>
        </p:grpSpPr>
        <p:grpSp>
          <p:nvGrpSpPr>
            <p:cNvPr id="16" name="组合 40"/>
            <p:cNvGrpSpPr/>
            <p:nvPr/>
          </p:nvGrpSpPr>
          <p:grpSpPr>
            <a:xfrm>
              <a:off x="7481596" y="1852523"/>
              <a:ext cx="4119033" cy="1413934"/>
              <a:chOff x="6875851" y="2215769"/>
              <a:chExt cx="4119033" cy="1413934"/>
            </a:xfrm>
          </p:grpSpPr>
          <p:sp>
            <p:nvSpPr>
              <p:cNvPr id="18" name="矩形 17"/>
              <p:cNvSpPr/>
              <p:nvPr/>
            </p:nvSpPr>
            <p:spPr>
              <a:xfrm>
                <a:off x="6875851" y="2675297"/>
                <a:ext cx="3835692" cy="307776"/>
              </a:xfrm>
              <a:prstGeom prst="rect">
                <a:avLst/>
              </a:prstGeom>
            </p:spPr>
            <p:txBody>
              <a:bodyPr wrap="square">
                <a:spAutoFit/>
                <a:scene3d>
                  <a:camera prst="orthographicFront"/>
                  <a:lightRig rig="threePt" dir="t"/>
                </a:scene3d>
                <a:sp3d contourW="12700"/>
              </a:bodyPr>
              <a:lstStyle/>
              <a:p>
                <a:pPr lvl="0">
                  <a:defRPr/>
                </a:pPr>
                <a:endParaRPr lang="zh-CN" altLang="en-US" sz="900" dirty="0">
                  <a:solidFill>
                    <a:schemeClr val="bg1">
                      <a:lumMod val="65000"/>
                    </a:schemeClr>
                  </a:solidFill>
                  <a:latin typeface="微软雅黑" panose="020B0503020204020204" charset="-122"/>
                  <a:ea typeface="微软雅黑" panose="020B0503020204020204" charset="-122"/>
                  <a:cs typeface="微软雅黑" panose="020B0503020204020204" charset="-122"/>
                </a:endParaRPr>
              </a:p>
            </p:txBody>
          </p:sp>
          <p:sp>
            <p:nvSpPr>
              <p:cNvPr id="19" name="文本框 18"/>
              <p:cNvSpPr txBox="1"/>
              <p:nvPr>
                <p:custDataLst>
                  <p:tags r:id="rId14"/>
                </p:custDataLst>
              </p:nvPr>
            </p:nvSpPr>
            <p:spPr>
              <a:xfrm>
                <a:off x="6875851" y="2215769"/>
                <a:ext cx="4119033" cy="1413934"/>
              </a:xfrm>
              <a:prstGeom prst="rect">
                <a:avLst/>
              </a:prstGeom>
              <a:noFill/>
            </p:spPr>
            <p:txBody>
              <a:bodyPr wrap="none" rtlCol="0">
                <a:spAutoFit/>
                <a:scene3d>
                  <a:camera prst="orthographicFront"/>
                  <a:lightRig rig="threePt" dir="t"/>
                </a:scene3d>
                <a:sp3d contourW="12700"/>
              </a:bodyPr>
              <a:lstStyle/>
              <a:p>
                <a:pPr algn="l"/>
                <a:r>
                  <a:rPr lang="en-US" altLang="zh-CN" sz="2100" b="1" dirty="0">
                    <a:solidFill>
                      <a:srgbClr val="4C4C4C"/>
                    </a:solidFill>
                    <a:latin typeface="微软雅黑" panose="020B0503020204020204" charset="-122"/>
                    <a:ea typeface="微软雅黑" panose="020B0503020204020204" charset="-122"/>
                    <a:cs typeface="微软雅黑" panose="020B0503020204020204" charset="-122"/>
                  </a:rPr>
                  <a:t>Impact of GPT on Life</a:t>
                </a:r>
              </a:p>
              <a:p>
                <a:pPr algn="l"/>
                <a:endParaRPr lang="en-US" altLang="zh-CN" sz="2100" b="1" dirty="0">
                  <a:solidFill>
                    <a:srgbClr val="4C4C4C"/>
                  </a:solidFill>
                  <a:latin typeface="微软雅黑" panose="020B0503020204020204" charset="-122"/>
                  <a:ea typeface="微软雅黑" panose="020B0503020204020204" charset="-122"/>
                  <a:cs typeface="微软雅黑" panose="020B0503020204020204" charset="-122"/>
                </a:endParaRPr>
              </a:p>
              <a:p>
                <a:pPr algn="l"/>
                <a:r>
                  <a:rPr lang="en-US" altLang="zh-CN" sz="2100" b="1" dirty="0">
                    <a:solidFill>
                      <a:srgbClr val="4C4C4C"/>
                    </a:solidFill>
                    <a:latin typeface="微软雅黑" panose="020B0503020204020204" charset="-122"/>
                    <a:ea typeface="微软雅黑" panose="020B0503020204020204" charset="-122"/>
                    <a:cs typeface="微软雅黑" panose="020B0503020204020204" charset="-122"/>
                  </a:rPr>
                  <a:t> </a:t>
                </a:r>
              </a:p>
            </p:txBody>
          </p:sp>
        </p:grpSp>
        <p:sp>
          <p:nvSpPr>
            <p:cNvPr id="17" name="文本框 16"/>
            <p:cNvSpPr txBox="1"/>
            <p:nvPr>
              <p:custDataLst>
                <p:tags r:id="rId13"/>
              </p:custDataLst>
            </p:nvPr>
          </p:nvSpPr>
          <p:spPr>
            <a:xfrm>
              <a:off x="6629352" y="1760489"/>
              <a:ext cx="1026351" cy="738665"/>
            </a:xfrm>
            <a:prstGeom prst="rect">
              <a:avLst/>
            </a:prstGeom>
            <a:noFill/>
          </p:spPr>
          <p:txBody>
            <a:bodyPr wrap="none" rtlCol="0">
              <a:spAutoFit/>
              <a:scene3d>
                <a:camera prst="orthographicFront"/>
                <a:lightRig rig="threePt" dir="t"/>
              </a:scene3d>
              <a:sp3d contourW="12700"/>
            </a:bodyPr>
            <a:lstStyle/>
            <a:p>
              <a:r>
                <a:rPr lang="en-US" altLang="zh-CN" sz="3000" b="1" dirty="0">
                  <a:solidFill>
                    <a:srgbClr val="4C4C4C"/>
                  </a:solidFill>
                  <a:latin typeface="微软雅黑" panose="020B0503020204020204" charset="-122"/>
                  <a:ea typeface="微软雅黑" panose="020B0503020204020204" charset="-122"/>
                  <a:cs typeface="微软雅黑" panose="020B0503020204020204" charset="-122"/>
                </a:rPr>
                <a:t>03.</a:t>
              </a:r>
              <a:endParaRPr lang="zh-CN" altLang="en-US" sz="3000" b="1" dirty="0">
                <a:solidFill>
                  <a:srgbClr val="4C4C4C"/>
                </a:solidFill>
                <a:latin typeface="微软雅黑" panose="020B0503020204020204" charset="-122"/>
                <a:ea typeface="微软雅黑" panose="020B0503020204020204" charset="-122"/>
                <a:cs typeface="微软雅黑" panose="020B0503020204020204" charset="-122"/>
              </a:endParaRPr>
            </a:p>
          </p:txBody>
        </p:sp>
      </p:grpSp>
      <p:grpSp>
        <p:nvGrpSpPr>
          <p:cNvPr id="25" name="组合 24"/>
          <p:cNvGrpSpPr/>
          <p:nvPr>
            <p:custDataLst>
              <p:tags r:id="rId4"/>
            </p:custDataLst>
          </p:nvPr>
        </p:nvGrpSpPr>
        <p:grpSpPr>
          <a:xfrm>
            <a:off x="6705237" y="1347728"/>
            <a:ext cx="3515951" cy="644504"/>
            <a:chOff x="6629353" y="1760488"/>
            <a:chExt cx="4687935" cy="859339"/>
          </a:xfrm>
        </p:grpSpPr>
        <p:grpSp>
          <p:nvGrpSpPr>
            <p:cNvPr id="26" name="组合 40"/>
            <p:cNvGrpSpPr/>
            <p:nvPr/>
          </p:nvGrpSpPr>
          <p:grpSpPr>
            <a:xfrm>
              <a:off x="7481596" y="1872364"/>
              <a:ext cx="3835692" cy="747463"/>
              <a:chOff x="6875851" y="2235610"/>
              <a:chExt cx="3835692" cy="747463"/>
            </a:xfrm>
          </p:grpSpPr>
          <p:sp>
            <p:nvSpPr>
              <p:cNvPr id="28" name="矩形 27"/>
              <p:cNvSpPr/>
              <p:nvPr/>
            </p:nvSpPr>
            <p:spPr>
              <a:xfrm>
                <a:off x="6875851" y="2675297"/>
                <a:ext cx="3835692" cy="307776"/>
              </a:xfrm>
              <a:prstGeom prst="rect">
                <a:avLst/>
              </a:prstGeom>
            </p:spPr>
            <p:txBody>
              <a:bodyPr wrap="square">
                <a:spAutoFit/>
                <a:scene3d>
                  <a:camera prst="orthographicFront"/>
                  <a:lightRig rig="threePt" dir="t"/>
                </a:scene3d>
                <a:sp3d contourW="12700"/>
              </a:bodyPr>
              <a:lstStyle/>
              <a:p>
                <a:pPr lvl="0">
                  <a:defRPr/>
                </a:pPr>
                <a:endParaRPr lang="zh-CN" altLang="en-US" sz="900" dirty="0">
                  <a:solidFill>
                    <a:schemeClr val="bg1">
                      <a:lumMod val="65000"/>
                    </a:schemeClr>
                  </a:solidFill>
                  <a:latin typeface="微软雅黑" panose="020B0503020204020204" charset="-122"/>
                  <a:ea typeface="微软雅黑" panose="020B0503020204020204" charset="-122"/>
                  <a:cs typeface="微软雅黑" panose="020B0503020204020204" charset="-122"/>
                </a:endParaRPr>
              </a:p>
            </p:txBody>
          </p:sp>
          <p:sp>
            <p:nvSpPr>
              <p:cNvPr id="29" name="文本框 28"/>
              <p:cNvSpPr txBox="1"/>
              <p:nvPr>
                <p:custDataLst>
                  <p:tags r:id="rId12"/>
                </p:custDataLst>
              </p:nvPr>
            </p:nvSpPr>
            <p:spPr>
              <a:xfrm>
                <a:off x="6875851" y="2235610"/>
                <a:ext cx="2560103" cy="553998"/>
              </a:xfrm>
              <a:prstGeom prst="rect">
                <a:avLst/>
              </a:prstGeom>
              <a:noFill/>
            </p:spPr>
            <p:txBody>
              <a:bodyPr wrap="none" rtlCol="0">
                <a:spAutoFit/>
                <a:scene3d>
                  <a:camera prst="orthographicFront"/>
                  <a:lightRig rig="threePt" dir="t"/>
                </a:scene3d>
                <a:sp3d contourW="12700"/>
              </a:bodyPr>
              <a:lstStyle/>
              <a:p>
                <a:r>
                  <a:rPr lang="en-US" altLang="zh-CN" sz="2100" b="1" dirty="0">
                    <a:solidFill>
                      <a:srgbClr val="4C4C4C"/>
                    </a:solidFill>
                    <a:latin typeface="微软雅黑" panose="020B0503020204020204" charset="-122"/>
                    <a:ea typeface="微软雅黑" panose="020B0503020204020204" charset="-122"/>
                    <a:cs typeface="微软雅黑" panose="020B0503020204020204" charset="-122"/>
                  </a:rPr>
                  <a:t>GPT’s value</a:t>
                </a:r>
                <a:endParaRPr lang="zh-CN" altLang="en-US" sz="2100" b="1" dirty="0">
                  <a:solidFill>
                    <a:srgbClr val="4C4C4C"/>
                  </a:solidFill>
                  <a:latin typeface="微软雅黑" panose="020B0503020204020204" charset="-122"/>
                  <a:ea typeface="微软雅黑" panose="020B0503020204020204" charset="-122"/>
                  <a:cs typeface="微软雅黑" panose="020B0503020204020204" charset="-122"/>
                </a:endParaRPr>
              </a:p>
            </p:txBody>
          </p:sp>
        </p:grpSp>
        <p:sp>
          <p:nvSpPr>
            <p:cNvPr id="27" name="文本框 26"/>
            <p:cNvSpPr txBox="1"/>
            <p:nvPr>
              <p:custDataLst>
                <p:tags r:id="rId11"/>
              </p:custDataLst>
            </p:nvPr>
          </p:nvSpPr>
          <p:spPr>
            <a:xfrm>
              <a:off x="6629353" y="1760488"/>
              <a:ext cx="1026351" cy="738666"/>
            </a:xfrm>
            <a:prstGeom prst="rect">
              <a:avLst/>
            </a:prstGeom>
            <a:noFill/>
          </p:spPr>
          <p:txBody>
            <a:bodyPr wrap="none" rtlCol="0">
              <a:spAutoFit/>
              <a:scene3d>
                <a:camera prst="orthographicFront"/>
                <a:lightRig rig="threePt" dir="t"/>
              </a:scene3d>
              <a:sp3d contourW="12700"/>
            </a:bodyPr>
            <a:lstStyle/>
            <a:p>
              <a:r>
                <a:rPr lang="en-US" altLang="zh-CN" sz="3000" b="1" dirty="0">
                  <a:solidFill>
                    <a:srgbClr val="4C4C4C"/>
                  </a:solidFill>
                  <a:latin typeface="微软雅黑" panose="020B0503020204020204" charset="-122"/>
                  <a:ea typeface="微软雅黑" panose="020B0503020204020204" charset="-122"/>
                  <a:cs typeface="微软雅黑" panose="020B0503020204020204" charset="-122"/>
                </a:rPr>
                <a:t>04.</a:t>
              </a:r>
              <a:endParaRPr lang="zh-CN" altLang="en-US" sz="3000" b="1" dirty="0">
                <a:solidFill>
                  <a:srgbClr val="4C4C4C"/>
                </a:solidFill>
                <a:latin typeface="微软雅黑" panose="020B0503020204020204" charset="-122"/>
                <a:ea typeface="微软雅黑" panose="020B0503020204020204" charset="-122"/>
                <a:cs typeface="微软雅黑" panose="020B0503020204020204" charset="-122"/>
              </a:endParaRPr>
            </a:p>
          </p:txBody>
        </p:sp>
      </p:grpSp>
      <p:grpSp>
        <p:nvGrpSpPr>
          <p:cNvPr id="30" name="组合 24"/>
          <p:cNvGrpSpPr/>
          <p:nvPr>
            <p:custDataLst>
              <p:tags r:id="rId5"/>
            </p:custDataLst>
          </p:nvPr>
        </p:nvGrpSpPr>
        <p:grpSpPr>
          <a:xfrm>
            <a:off x="6705237" y="2670430"/>
            <a:ext cx="3515952" cy="644503"/>
            <a:chOff x="6629352" y="1760489"/>
            <a:chExt cx="4687936" cy="859338"/>
          </a:xfrm>
        </p:grpSpPr>
        <p:grpSp>
          <p:nvGrpSpPr>
            <p:cNvPr id="31" name="组合 40"/>
            <p:cNvGrpSpPr/>
            <p:nvPr/>
          </p:nvGrpSpPr>
          <p:grpSpPr>
            <a:xfrm>
              <a:off x="7481595" y="1876769"/>
              <a:ext cx="3835693" cy="743058"/>
              <a:chOff x="6875850" y="2240015"/>
              <a:chExt cx="3835693" cy="743058"/>
            </a:xfrm>
          </p:grpSpPr>
          <p:sp>
            <p:nvSpPr>
              <p:cNvPr id="33" name="矩形 32"/>
              <p:cNvSpPr/>
              <p:nvPr/>
            </p:nvSpPr>
            <p:spPr>
              <a:xfrm>
                <a:off x="6875851" y="2675297"/>
                <a:ext cx="3835692" cy="307776"/>
              </a:xfrm>
              <a:prstGeom prst="rect">
                <a:avLst/>
              </a:prstGeom>
            </p:spPr>
            <p:txBody>
              <a:bodyPr wrap="square">
                <a:spAutoFit/>
                <a:scene3d>
                  <a:camera prst="orthographicFront"/>
                  <a:lightRig rig="threePt" dir="t"/>
                </a:scene3d>
                <a:sp3d contourW="12700"/>
              </a:bodyPr>
              <a:lstStyle/>
              <a:p>
                <a:pPr lvl="0">
                  <a:defRPr/>
                </a:pPr>
                <a:endParaRPr lang="zh-CN" altLang="en-US" sz="900" dirty="0">
                  <a:solidFill>
                    <a:schemeClr val="bg1">
                      <a:lumMod val="65000"/>
                    </a:schemeClr>
                  </a:solidFill>
                  <a:latin typeface="微软雅黑" panose="020B0503020204020204" charset="-122"/>
                  <a:ea typeface="微软雅黑" panose="020B0503020204020204" charset="-122"/>
                  <a:cs typeface="微软雅黑" panose="020B0503020204020204" charset="-122"/>
                </a:endParaRPr>
              </a:p>
            </p:txBody>
          </p:sp>
          <p:sp>
            <p:nvSpPr>
              <p:cNvPr id="34" name="文本框 33"/>
              <p:cNvSpPr txBox="1"/>
              <p:nvPr>
                <p:custDataLst>
                  <p:tags r:id="rId10"/>
                </p:custDataLst>
              </p:nvPr>
            </p:nvSpPr>
            <p:spPr>
              <a:xfrm>
                <a:off x="6875850" y="2240015"/>
                <a:ext cx="3721100" cy="552027"/>
              </a:xfrm>
              <a:prstGeom prst="rect">
                <a:avLst/>
              </a:prstGeom>
              <a:noFill/>
            </p:spPr>
            <p:txBody>
              <a:bodyPr wrap="none" rtlCol="0">
                <a:spAutoFit/>
                <a:scene3d>
                  <a:camera prst="orthographicFront"/>
                  <a:lightRig rig="threePt" dir="t"/>
                </a:scene3d>
                <a:sp3d contourW="12700"/>
              </a:bodyPr>
              <a:lstStyle/>
              <a:p>
                <a:r>
                  <a:rPr lang="en-US" altLang="zh-CN" sz="2100" b="1" dirty="0">
                    <a:solidFill>
                      <a:srgbClr val="4C4C4C"/>
                    </a:solidFill>
                    <a:latin typeface="微软雅黑" panose="020B0503020204020204" charset="-122"/>
                    <a:ea typeface="微软雅黑" panose="020B0503020204020204" charset="-122"/>
                    <a:cs typeface="微软雅黑" panose="020B0503020204020204" charset="-122"/>
                  </a:rPr>
                  <a:t>Weaknesses of GPT</a:t>
                </a:r>
                <a:endParaRPr lang="zh-CN" altLang="en-US" sz="2100" b="1" dirty="0">
                  <a:solidFill>
                    <a:srgbClr val="4C4C4C"/>
                  </a:solidFill>
                  <a:latin typeface="微软雅黑" panose="020B0503020204020204" charset="-122"/>
                  <a:ea typeface="微软雅黑" panose="020B0503020204020204" charset="-122"/>
                  <a:cs typeface="微软雅黑" panose="020B0503020204020204" charset="-122"/>
                </a:endParaRPr>
              </a:p>
            </p:txBody>
          </p:sp>
        </p:grpSp>
        <p:sp>
          <p:nvSpPr>
            <p:cNvPr id="32" name="文本框 31"/>
            <p:cNvSpPr txBox="1"/>
            <p:nvPr>
              <p:custDataLst>
                <p:tags r:id="rId9"/>
              </p:custDataLst>
            </p:nvPr>
          </p:nvSpPr>
          <p:spPr>
            <a:xfrm>
              <a:off x="6629352" y="1760489"/>
              <a:ext cx="1026351" cy="738665"/>
            </a:xfrm>
            <a:prstGeom prst="rect">
              <a:avLst/>
            </a:prstGeom>
            <a:noFill/>
          </p:spPr>
          <p:txBody>
            <a:bodyPr wrap="none" rtlCol="0">
              <a:spAutoFit/>
              <a:scene3d>
                <a:camera prst="orthographicFront"/>
                <a:lightRig rig="threePt" dir="t"/>
              </a:scene3d>
              <a:sp3d contourW="12700"/>
            </a:bodyPr>
            <a:lstStyle/>
            <a:p>
              <a:r>
                <a:rPr lang="en-US" altLang="zh-CN" sz="3000" b="1" dirty="0">
                  <a:solidFill>
                    <a:srgbClr val="4C4C4C"/>
                  </a:solidFill>
                  <a:latin typeface="微软雅黑" panose="020B0503020204020204" charset="-122"/>
                  <a:ea typeface="微软雅黑" panose="020B0503020204020204" charset="-122"/>
                  <a:cs typeface="微软雅黑" panose="020B0503020204020204" charset="-122"/>
                </a:rPr>
                <a:t>05.</a:t>
              </a:r>
              <a:endParaRPr lang="zh-CN" altLang="en-US" sz="3000" b="1" dirty="0">
                <a:solidFill>
                  <a:srgbClr val="4C4C4C"/>
                </a:solidFill>
                <a:latin typeface="微软雅黑" panose="020B0503020204020204" charset="-122"/>
                <a:ea typeface="微软雅黑" panose="020B0503020204020204" charset="-122"/>
                <a:cs typeface="微软雅黑" panose="020B0503020204020204" charset="-122"/>
              </a:endParaRPr>
            </a:p>
          </p:txBody>
        </p:sp>
      </p:grpSp>
      <p:grpSp>
        <p:nvGrpSpPr>
          <p:cNvPr id="35" name="组合 24"/>
          <p:cNvGrpSpPr/>
          <p:nvPr>
            <p:custDataLst>
              <p:tags r:id="rId6"/>
            </p:custDataLst>
          </p:nvPr>
        </p:nvGrpSpPr>
        <p:grpSpPr>
          <a:xfrm>
            <a:off x="6743785" y="3992797"/>
            <a:ext cx="3515952" cy="644503"/>
            <a:chOff x="6629352" y="1760489"/>
            <a:chExt cx="4687936" cy="859338"/>
          </a:xfrm>
        </p:grpSpPr>
        <p:grpSp>
          <p:nvGrpSpPr>
            <p:cNvPr id="36" name="组合 40"/>
            <p:cNvGrpSpPr/>
            <p:nvPr/>
          </p:nvGrpSpPr>
          <p:grpSpPr>
            <a:xfrm>
              <a:off x="7481596" y="1881162"/>
              <a:ext cx="3835692" cy="738665"/>
              <a:chOff x="6875851" y="2244408"/>
              <a:chExt cx="3835692" cy="738665"/>
            </a:xfrm>
          </p:grpSpPr>
          <p:sp>
            <p:nvSpPr>
              <p:cNvPr id="38" name="矩形 37"/>
              <p:cNvSpPr/>
              <p:nvPr/>
            </p:nvSpPr>
            <p:spPr>
              <a:xfrm>
                <a:off x="6875851" y="2675297"/>
                <a:ext cx="3835692" cy="307776"/>
              </a:xfrm>
              <a:prstGeom prst="rect">
                <a:avLst/>
              </a:prstGeom>
            </p:spPr>
            <p:txBody>
              <a:bodyPr wrap="square">
                <a:spAutoFit/>
                <a:scene3d>
                  <a:camera prst="orthographicFront"/>
                  <a:lightRig rig="threePt" dir="t"/>
                </a:scene3d>
                <a:sp3d contourW="12700"/>
              </a:bodyPr>
              <a:lstStyle/>
              <a:p>
                <a:pPr lvl="0">
                  <a:defRPr/>
                </a:pPr>
                <a:endParaRPr lang="zh-CN" altLang="en-US" sz="900" dirty="0">
                  <a:solidFill>
                    <a:schemeClr val="bg1">
                      <a:lumMod val="65000"/>
                    </a:schemeClr>
                  </a:solidFill>
                  <a:latin typeface="微软雅黑" panose="020B0503020204020204" charset="-122"/>
                  <a:ea typeface="微软雅黑" panose="020B0503020204020204" charset="-122"/>
                  <a:cs typeface="微软雅黑" panose="020B0503020204020204" charset="-122"/>
                </a:endParaRPr>
              </a:p>
            </p:txBody>
          </p:sp>
          <p:sp>
            <p:nvSpPr>
              <p:cNvPr id="39" name="文本框 38"/>
              <p:cNvSpPr txBox="1"/>
              <p:nvPr>
                <p:custDataLst>
                  <p:tags r:id="rId8"/>
                </p:custDataLst>
              </p:nvPr>
            </p:nvSpPr>
            <p:spPr>
              <a:xfrm>
                <a:off x="6875851" y="2244408"/>
                <a:ext cx="3461547" cy="553998"/>
              </a:xfrm>
              <a:prstGeom prst="rect">
                <a:avLst/>
              </a:prstGeom>
              <a:noFill/>
            </p:spPr>
            <p:txBody>
              <a:bodyPr wrap="none" rtlCol="0">
                <a:spAutoFit/>
                <a:scene3d>
                  <a:camera prst="orthographicFront"/>
                  <a:lightRig rig="threePt" dir="t"/>
                </a:scene3d>
                <a:sp3d contourW="12700"/>
              </a:bodyPr>
              <a:lstStyle/>
              <a:p>
                <a:r>
                  <a:rPr lang="en-US" altLang="zh-CN" sz="2100" b="1" dirty="0">
                    <a:solidFill>
                      <a:srgbClr val="4C4C4C"/>
                    </a:solidFill>
                    <a:latin typeface="微软雅黑" panose="020B0503020204020204" charset="-122"/>
                    <a:ea typeface="微软雅黑" panose="020B0503020204020204" charset="-122"/>
                    <a:cs typeface="微软雅黑" panose="020B0503020204020204" charset="-122"/>
                  </a:rPr>
                  <a:t>The future of GPT</a:t>
                </a:r>
                <a:endParaRPr lang="zh-CN" altLang="en-US" sz="2100" b="1" dirty="0">
                  <a:solidFill>
                    <a:srgbClr val="4C4C4C"/>
                  </a:solidFill>
                  <a:latin typeface="微软雅黑" panose="020B0503020204020204" charset="-122"/>
                  <a:ea typeface="微软雅黑" panose="020B0503020204020204" charset="-122"/>
                  <a:cs typeface="微软雅黑" panose="020B0503020204020204" charset="-122"/>
                </a:endParaRPr>
              </a:p>
            </p:txBody>
          </p:sp>
        </p:grpSp>
        <p:sp>
          <p:nvSpPr>
            <p:cNvPr id="37" name="文本框 36"/>
            <p:cNvSpPr txBox="1"/>
            <p:nvPr>
              <p:custDataLst>
                <p:tags r:id="rId7"/>
              </p:custDataLst>
            </p:nvPr>
          </p:nvSpPr>
          <p:spPr>
            <a:xfrm>
              <a:off x="6629352" y="1760489"/>
              <a:ext cx="1026351" cy="738665"/>
            </a:xfrm>
            <a:prstGeom prst="rect">
              <a:avLst/>
            </a:prstGeom>
            <a:noFill/>
          </p:spPr>
          <p:txBody>
            <a:bodyPr wrap="none" rtlCol="0">
              <a:spAutoFit/>
              <a:scene3d>
                <a:camera prst="orthographicFront"/>
                <a:lightRig rig="threePt" dir="t"/>
              </a:scene3d>
              <a:sp3d contourW="12700"/>
            </a:bodyPr>
            <a:lstStyle/>
            <a:p>
              <a:r>
                <a:rPr lang="en-US" altLang="zh-CN" sz="3000" b="1" dirty="0">
                  <a:solidFill>
                    <a:srgbClr val="4C4C4C"/>
                  </a:solidFill>
                  <a:latin typeface="微软雅黑" panose="020B0503020204020204" charset="-122"/>
                  <a:ea typeface="微软雅黑" panose="020B0503020204020204" charset="-122"/>
                  <a:cs typeface="微软雅黑" panose="020B0503020204020204" charset="-122"/>
                </a:rPr>
                <a:t>06.</a:t>
              </a:r>
              <a:endParaRPr lang="zh-CN" altLang="en-US" sz="3000" b="1" dirty="0">
                <a:solidFill>
                  <a:srgbClr val="4C4C4C"/>
                </a:solidFill>
                <a:latin typeface="微软雅黑" panose="020B0503020204020204" charset="-122"/>
                <a:ea typeface="微软雅黑" panose="020B0503020204020204" charset="-122"/>
                <a:cs typeface="微软雅黑" panose="020B0503020204020204" charset="-122"/>
              </a:endParaRPr>
            </a:p>
          </p:txBody>
        </p:sp>
      </p:grpSp>
    </p:spTree>
  </p:cSld>
  <p:clrMapOvr>
    <a:masterClrMapping/>
  </p:clrMapOvr>
  <mc:AlternateContent xmlns:mc="http://schemas.openxmlformats.org/markup-compatibility/2006" xmlns:p14="http://schemas.microsoft.com/office/powerpoint/2010/main">
    <mc:Choice Requires="p14">
      <p:transition spd="slow" p14:dur="1500" advTm="0">
        <p:random/>
      </p:transition>
    </mc:Choice>
    <mc:Fallback xmlns="">
      <p:transition spd="slow" advTm="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anim calcmode="lin" valueType="num">
                                      <p:cBhvr>
                                        <p:cTn id="8" dur="1000" fill="hold"/>
                                        <p:tgtEl>
                                          <p:spTgt spid="2"/>
                                        </p:tgtEl>
                                        <p:attrNameLst>
                                          <p:attrName>ppt_x</p:attrName>
                                        </p:attrNameLst>
                                      </p:cBhvr>
                                      <p:tavLst>
                                        <p:tav tm="0">
                                          <p:val>
                                            <p:strVal val="#ppt_x"/>
                                          </p:val>
                                        </p:tav>
                                        <p:tav tm="100000">
                                          <p:val>
                                            <p:strVal val="#ppt_x"/>
                                          </p:val>
                                        </p:tav>
                                      </p:tavLst>
                                    </p:anim>
                                    <p:anim calcmode="lin" valueType="num">
                                      <p:cBhvr>
                                        <p:cTn id="9" dur="1000" fill="hold"/>
                                        <p:tgtEl>
                                          <p:spTgt spid="2"/>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22" presetClass="entr" presetSubtype="8" fill="hold" nodeType="clickEffect">
                                  <p:stCondLst>
                                    <p:cond delay="0"/>
                                  </p:stCondLst>
                                  <p:childTnLst>
                                    <p:set>
                                      <p:cBhvr>
                                        <p:cTn id="13" dur="1" fill="hold">
                                          <p:stCondLst>
                                            <p:cond delay="0"/>
                                          </p:stCondLst>
                                        </p:cTn>
                                        <p:tgtEl>
                                          <p:spTgt spid="4"/>
                                        </p:tgtEl>
                                        <p:attrNameLst>
                                          <p:attrName>style.visibility</p:attrName>
                                        </p:attrNameLst>
                                      </p:cBhvr>
                                      <p:to>
                                        <p:strVal val="visible"/>
                                      </p:to>
                                    </p:set>
                                    <p:animEffect transition="in" filter="wipe(left)">
                                      <p:cBhvr>
                                        <p:cTn id="14" dur="500"/>
                                        <p:tgtEl>
                                          <p:spTgt spid="4"/>
                                        </p:tgtEl>
                                      </p:cBhvr>
                                    </p:animEffect>
                                  </p:childTnLst>
                                </p:cTn>
                              </p:par>
                            </p:childTnLst>
                          </p:cTn>
                        </p:par>
                      </p:childTnLst>
                    </p:cTn>
                  </p:par>
                  <p:par>
                    <p:cTn id="15" fill="hold">
                      <p:stCondLst>
                        <p:cond delay="indefinite"/>
                      </p:stCondLst>
                      <p:childTnLst>
                        <p:par>
                          <p:cTn id="16" fill="hold">
                            <p:stCondLst>
                              <p:cond delay="0"/>
                            </p:stCondLst>
                            <p:childTnLst>
                              <p:par>
                                <p:cTn id="17" presetID="22" presetClass="entr" presetSubtype="8" fill="hold" nodeType="clickEffect">
                                  <p:stCondLst>
                                    <p:cond delay="0"/>
                                  </p:stCondLst>
                                  <p:childTnLst>
                                    <p:set>
                                      <p:cBhvr>
                                        <p:cTn id="18" dur="1" fill="hold">
                                          <p:stCondLst>
                                            <p:cond delay="0"/>
                                          </p:stCondLst>
                                        </p:cTn>
                                        <p:tgtEl>
                                          <p:spTgt spid="9"/>
                                        </p:tgtEl>
                                        <p:attrNameLst>
                                          <p:attrName>style.visibility</p:attrName>
                                        </p:attrNameLst>
                                      </p:cBhvr>
                                      <p:to>
                                        <p:strVal val="visible"/>
                                      </p:to>
                                    </p:set>
                                    <p:animEffect transition="in" filter="wipe(left)">
                                      <p:cBhvr>
                                        <p:cTn id="19" dur="500"/>
                                        <p:tgtEl>
                                          <p:spTgt spid="9"/>
                                        </p:tgtEl>
                                      </p:cBhvr>
                                    </p:animEffect>
                                  </p:childTnLst>
                                </p:cTn>
                              </p:par>
                            </p:childTnLst>
                          </p:cTn>
                        </p:par>
                      </p:childTnLst>
                    </p:cTn>
                  </p:par>
                  <p:par>
                    <p:cTn id="20" fill="hold">
                      <p:stCondLst>
                        <p:cond delay="indefinite"/>
                      </p:stCondLst>
                      <p:childTnLst>
                        <p:par>
                          <p:cTn id="21" fill="hold">
                            <p:stCondLst>
                              <p:cond delay="0"/>
                            </p:stCondLst>
                            <p:childTnLst>
                              <p:par>
                                <p:cTn id="22" presetID="22" presetClass="entr" presetSubtype="8" fill="hold" nodeType="clickEffect">
                                  <p:stCondLst>
                                    <p:cond delay="0"/>
                                  </p:stCondLst>
                                  <p:childTnLst>
                                    <p:set>
                                      <p:cBhvr>
                                        <p:cTn id="23" dur="1" fill="hold">
                                          <p:stCondLst>
                                            <p:cond delay="0"/>
                                          </p:stCondLst>
                                        </p:cTn>
                                        <p:tgtEl>
                                          <p:spTgt spid="15"/>
                                        </p:tgtEl>
                                        <p:attrNameLst>
                                          <p:attrName>style.visibility</p:attrName>
                                        </p:attrNameLst>
                                      </p:cBhvr>
                                      <p:to>
                                        <p:strVal val="visible"/>
                                      </p:to>
                                    </p:set>
                                    <p:animEffect transition="in" filter="wipe(left)">
                                      <p:cBhvr>
                                        <p:cTn id="24" dur="500"/>
                                        <p:tgtEl>
                                          <p:spTgt spid="15"/>
                                        </p:tgtEl>
                                      </p:cBhvr>
                                    </p:animEffect>
                                  </p:childTnLst>
                                </p:cTn>
                              </p:par>
                            </p:childTnLst>
                          </p:cTn>
                        </p:par>
                      </p:childTnLst>
                    </p:cTn>
                  </p:par>
                  <p:par>
                    <p:cTn id="25" fill="hold">
                      <p:stCondLst>
                        <p:cond delay="indefinite"/>
                      </p:stCondLst>
                      <p:childTnLst>
                        <p:par>
                          <p:cTn id="26" fill="hold">
                            <p:stCondLst>
                              <p:cond delay="0"/>
                            </p:stCondLst>
                            <p:childTnLst>
                              <p:par>
                                <p:cTn id="27" presetID="22" presetClass="entr" presetSubtype="8" fill="hold" nodeType="clickEffect">
                                  <p:stCondLst>
                                    <p:cond delay="0"/>
                                  </p:stCondLst>
                                  <p:childTnLst>
                                    <p:set>
                                      <p:cBhvr>
                                        <p:cTn id="28" dur="1" fill="hold">
                                          <p:stCondLst>
                                            <p:cond delay="0"/>
                                          </p:stCondLst>
                                        </p:cTn>
                                        <p:tgtEl>
                                          <p:spTgt spid="25"/>
                                        </p:tgtEl>
                                        <p:attrNameLst>
                                          <p:attrName>style.visibility</p:attrName>
                                        </p:attrNameLst>
                                      </p:cBhvr>
                                      <p:to>
                                        <p:strVal val="visible"/>
                                      </p:to>
                                    </p:set>
                                    <p:animEffect transition="in" filter="wipe(left)">
                                      <p:cBhvr>
                                        <p:cTn id="29" dur="500"/>
                                        <p:tgtEl>
                                          <p:spTgt spid="25"/>
                                        </p:tgtEl>
                                      </p:cBhvr>
                                    </p:animEffect>
                                  </p:childTnLst>
                                </p:cTn>
                              </p:par>
                            </p:childTnLst>
                          </p:cTn>
                        </p:par>
                      </p:childTnLst>
                    </p:cTn>
                  </p:par>
                  <p:par>
                    <p:cTn id="30" fill="hold">
                      <p:stCondLst>
                        <p:cond delay="indefinite"/>
                      </p:stCondLst>
                      <p:childTnLst>
                        <p:par>
                          <p:cTn id="31" fill="hold">
                            <p:stCondLst>
                              <p:cond delay="0"/>
                            </p:stCondLst>
                            <p:childTnLst>
                              <p:par>
                                <p:cTn id="32" presetID="22" presetClass="entr" presetSubtype="8" fill="hold" nodeType="clickEffect">
                                  <p:stCondLst>
                                    <p:cond delay="0"/>
                                  </p:stCondLst>
                                  <p:childTnLst>
                                    <p:set>
                                      <p:cBhvr>
                                        <p:cTn id="33" dur="1" fill="hold">
                                          <p:stCondLst>
                                            <p:cond delay="0"/>
                                          </p:stCondLst>
                                        </p:cTn>
                                        <p:tgtEl>
                                          <p:spTgt spid="30"/>
                                        </p:tgtEl>
                                        <p:attrNameLst>
                                          <p:attrName>style.visibility</p:attrName>
                                        </p:attrNameLst>
                                      </p:cBhvr>
                                      <p:to>
                                        <p:strVal val="visible"/>
                                      </p:to>
                                    </p:set>
                                    <p:animEffect transition="in" filter="wipe(left)">
                                      <p:cBhvr>
                                        <p:cTn id="34" dur="500"/>
                                        <p:tgtEl>
                                          <p:spTgt spid="30"/>
                                        </p:tgtEl>
                                      </p:cBhvr>
                                    </p:animEffect>
                                  </p:childTnLst>
                                </p:cTn>
                              </p:par>
                            </p:childTnLst>
                          </p:cTn>
                        </p:par>
                      </p:childTnLst>
                    </p:cTn>
                  </p:par>
                  <p:par>
                    <p:cTn id="35" fill="hold">
                      <p:stCondLst>
                        <p:cond delay="indefinite"/>
                      </p:stCondLst>
                      <p:childTnLst>
                        <p:par>
                          <p:cTn id="36" fill="hold">
                            <p:stCondLst>
                              <p:cond delay="0"/>
                            </p:stCondLst>
                            <p:childTnLst>
                              <p:par>
                                <p:cTn id="37" presetID="22" presetClass="entr" presetSubtype="8" fill="hold" nodeType="clickEffect">
                                  <p:stCondLst>
                                    <p:cond delay="0"/>
                                  </p:stCondLst>
                                  <p:childTnLst>
                                    <p:set>
                                      <p:cBhvr>
                                        <p:cTn id="38" dur="1" fill="hold">
                                          <p:stCondLst>
                                            <p:cond delay="0"/>
                                          </p:stCondLst>
                                        </p:cTn>
                                        <p:tgtEl>
                                          <p:spTgt spid="35"/>
                                        </p:tgtEl>
                                        <p:attrNameLst>
                                          <p:attrName>style.visibility</p:attrName>
                                        </p:attrNameLst>
                                      </p:cBhvr>
                                      <p:to>
                                        <p:strVal val="visible"/>
                                      </p:to>
                                    </p:set>
                                    <p:animEffect transition="in" filter="wipe(left)">
                                      <p:cBhvr>
                                        <p:cTn id="39" dur="5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40"/>
          <p:cNvGrpSpPr/>
          <p:nvPr/>
        </p:nvGrpSpPr>
        <p:grpSpPr>
          <a:xfrm>
            <a:off x="3594523" y="2415363"/>
            <a:ext cx="3967753" cy="1169551"/>
            <a:chOff x="5616530" y="-1285285"/>
            <a:chExt cx="5290338" cy="1559404"/>
          </a:xfrm>
        </p:grpSpPr>
        <p:sp>
          <p:nvSpPr>
            <p:cNvPr id="6" name="矩形 5"/>
            <p:cNvSpPr/>
            <p:nvPr/>
          </p:nvSpPr>
          <p:spPr>
            <a:xfrm>
              <a:off x="5637293" y="-136251"/>
              <a:ext cx="3835692" cy="410370"/>
            </a:xfrm>
            <a:prstGeom prst="rect">
              <a:avLst/>
            </a:prstGeom>
          </p:spPr>
          <p:txBody>
            <a:bodyPr wrap="square">
              <a:spAutoFit/>
              <a:scene3d>
                <a:camera prst="orthographicFront"/>
                <a:lightRig rig="threePt" dir="t"/>
              </a:scene3d>
              <a:sp3d contourW="12700"/>
            </a:bodyPr>
            <a:lstStyle/>
            <a:p>
              <a:pPr lvl="0">
                <a:defRPr/>
              </a:pPr>
              <a:endParaRPr lang="zh-CN" altLang="en-US" sz="1400" dirty="0">
                <a:solidFill>
                  <a:schemeClr val="bg1">
                    <a:lumMod val="65000"/>
                  </a:schemeClr>
                </a:solidFill>
                <a:latin typeface="微软雅黑" panose="020B0503020204020204" charset="-122"/>
                <a:ea typeface="微软雅黑" panose="020B0503020204020204" charset="-122"/>
                <a:cs typeface="微软雅黑" panose="020B0503020204020204" charset="-122"/>
              </a:endParaRPr>
            </a:p>
          </p:txBody>
        </p:sp>
        <p:sp>
          <p:nvSpPr>
            <p:cNvPr id="7" name="文本框 6"/>
            <p:cNvSpPr txBox="1"/>
            <p:nvPr/>
          </p:nvSpPr>
          <p:spPr>
            <a:xfrm>
              <a:off x="5616530" y="-1285285"/>
              <a:ext cx="5290338" cy="1107998"/>
            </a:xfrm>
            <a:prstGeom prst="rect">
              <a:avLst/>
            </a:prstGeom>
            <a:noFill/>
          </p:spPr>
          <p:txBody>
            <a:bodyPr wrap="none" rtlCol="0">
              <a:spAutoFit/>
              <a:scene3d>
                <a:camera prst="orthographicFront"/>
                <a:lightRig rig="threePt" dir="t"/>
              </a:scene3d>
              <a:sp3d contourW="12700"/>
            </a:bodyPr>
            <a:lstStyle/>
            <a:p>
              <a:r>
                <a:rPr lang="en-US" altLang="zh-CN" sz="4800" b="1" dirty="0">
                  <a:solidFill>
                    <a:srgbClr val="4C4C4C"/>
                  </a:solidFill>
                  <a:latin typeface="微软雅黑" panose="020B0503020204020204" charset="-122"/>
                  <a:ea typeface="微软雅黑" panose="020B0503020204020204" charset="-122"/>
                  <a:cs typeface="微软雅黑" panose="020B0503020204020204" charset="-122"/>
                </a:rPr>
                <a:t>What is GPT</a:t>
              </a:r>
              <a:endParaRPr lang="zh-CN" altLang="en-US" sz="4800" b="1" dirty="0">
                <a:solidFill>
                  <a:srgbClr val="4C4C4C"/>
                </a:solidFill>
                <a:latin typeface="微软雅黑" panose="020B0503020204020204" charset="-122"/>
                <a:ea typeface="微软雅黑" panose="020B0503020204020204" charset="-122"/>
                <a:cs typeface="微软雅黑" panose="020B0503020204020204" charset="-122"/>
              </a:endParaRPr>
            </a:p>
          </p:txBody>
        </p:sp>
      </p:grpSp>
      <p:sp>
        <p:nvSpPr>
          <p:cNvPr id="8" name="文本框 7"/>
          <p:cNvSpPr txBox="1"/>
          <p:nvPr/>
        </p:nvSpPr>
        <p:spPr>
          <a:xfrm>
            <a:off x="784267" y="2015254"/>
            <a:ext cx="2825828" cy="2092881"/>
          </a:xfrm>
          <a:prstGeom prst="rect">
            <a:avLst/>
          </a:prstGeom>
          <a:noFill/>
        </p:spPr>
        <p:txBody>
          <a:bodyPr wrap="square" rtlCol="0">
            <a:spAutoFit/>
          </a:bodyPr>
          <a:lstStyle/>
          <a:p>
            <a:r>
              <a:rPr kumimoji="1" lang="en-US" altLang="zh-CN" sz="13000" b="1" i="1" dirty="0">
                <a:solidFill>
                  <a:schemeClr val="bg1">
                    <a:lumMod val="65000"/>
                  </a:schemeClr>
                </a:solidFill>
                <a:latin typeface="微软雅黑" panose="020B0503020204020204" charset="-122"/>
                <a:ea typeface="微软雅黑" panose="020B0503020204020204" charset="-122"/>
                <a:cs typeface="微软雅黑" panose="020B0503020204020204" charset="-122"/>
              </a:rPr>
              <a:t>01.</a:t>
            </a:r>
            <a:endParaRPr kumimoji="1" lang="zh-CN" altLang="en-US" sz="13000" b="1" i="1" dirty="0">
              <a:solidFill>
                <a:schemeClr val="bg1">
                  <a:lumMod val="65000"/>
                </a:schemeClr>
              </a:solidFill>
              <a:latin typeface="微软雅黑" panose="020B0503020204020204" charset="-122"/>
              <a:ea typeface="微软雅黑" panose="020B0503020204020204" charset="-122"/>
              <a:cs typeface="微软雅黑" panose="020B0503020204020204" charset="-122"/>
            </a:endParaRPr>
          </a:p>
        </p:txBody>
      </p:sp>
      <p:pic>
        <p:nvPicPr>
          <p:cNvPr id="10" name="图片 9"/>
          <p:cNvPicPr>
            <a:picLocks noChangeAspect="1"/>
          </p:cNvPicPr>
          <p:nvPr/>
        </p:nvPicPr>
        <p:blipFill>
          <a:blip r:embed="rId2" cstate="screen"/>
          <a:stretch>
            <a:fillRect/>
          </a:stretch>
        </p:blipFill>
        <p:spPr>
          <a:xfrm>
            <a:off x="7265049" y="2133600"/>
            <a:ext cx="4926953" cy="4724400"/>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1500" advTm="0">
        <p:random/>
      </p:transition>
    </mc:Choice>
    <mc:Fallback xmlns="">
      <p:transition spd="slow" advTm="0">
        <p:random/>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additive="base">
                                        <p:cTn id="7" dur="500" fill="hold"/>
                                        <p:tgtEl>
                                          <p:spTgt spid="8"/>
                                        </p:tgtEl>
                                        <p:attrNameLst>
                                          <p:attrName>ppt_x</p:attrName>
                                        </p:attrNameLst>
                                      </p:cBhvr>
                                      <p:tavLst>
                                        <p:tav tm="0">
                                          <p:val>
                                            <p:strVal val="#ppt_x"/>
                                          </p:val>
                                        </p:tav>
                                        <p:tav tm="100000">
                                          <p:val>
                                            <p:strVal val="#ppt_x"/>
                                          </p:val>
                                        </p:tav>
                                      </p:tavLst>
                                    </p:anim>
                                    <p:anim calcmode="lin" valueType="num">
                                      <p:cBhvr additive="base">
                                        <p:cTn id="8" dur="500" fill="hold"/>
                                        <p:tgtEl>
                                          <p:spTgt spid="8"/>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4"/>
                                        </p:tgtEl>
                                        <p:attrNameLst>
                                          <p:attrName>style.visibility</p:attrName>
                                        </p:attrNameLst>
                                      </p:cBhvr>
                                      <p:to>
                                        <p:strVal val="visible"/>
                                      </p:to>
                                    </p:set>
                                    <p:anim calcmode="lin" valueType="num">
                                      <p:cBhvr additive="base">
                                        <p:cTn id="13" dur="500" fill="hold"/>
                                        <p:tgtEl>
                                          <p:spTgt spid="4"/>
                                        </p:tgtEl>
                                        <p:attrNameLst>
                                          <p:attrName>ppt_x</p:attrName>
                                        </p:attrNameLst>
                                      </p:cBhvr>
                                      <p:tavLst>
                                        <p:tav tm="0">
                                          <p:val>
                                            <p:strVal val="#ppt_x"/>
                                          </p:val>
                                        </p:tav>
                                        <p:tav tm="100000">
                                          <p:val>
                                            <p:strVal val="#ppt_x"/>
                                          </p:val>
                                        </p:tav>
                                      </p:tavLst>
                                    </p:anim>
                                    <p:anim calcmode="lin" valueType="num">
                                      <p:cBhvr additive="base">
                                        <p:cTn id="14" dur="500" fill="hold"/>
                                        <p:tgtEl>
                                          <p:spTgt spid="4"/>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53" presetClass="entr" presetSubtype="16" fill="hold" nodeType="clickEffect">
                                  <p:stCondLst>
                                    <p:cond delay="0"/>
                                  </p:stCondLst>
                                  <p:childTnLst>
                                    <p:set>
                                      <p:cBhvr>
                                        <p:cTn id="18" dur="1" fill="hold">
                                          <p:stCondLst>
                                            <p:cond delay="0"/>
                                          </p:stCondLst>
                                        </p:cTn>
                                        <p:tgtEl>
                                          <p:spTgt spid="10"/>
                                        </p:tgtEl>
                                        <p:attrNameLst>
                                          <p:attrName>style.visibility</p:attrName>
                                        </p:attrNameLst>
                                      </p:cBhvr>
                                      <p:to>
                                        <p:strVal val="visible"/>
                                      </p:to>
                                    </p:set>
                                    <p:anim calcmode="lin" valueType="num">
                                      <p:cBhvr>
                                        <p:cTn id="19" dur="500" fill="hold"/>
                                        <p:tgtEl>
                                          <p:spTgt spid="10"/>
                                        </p:tgtEl>
                                        <p:attrNameLst>
                                          <p:attrName>ppt_w</p:attrName>
                                        </p:attrNameLst>
                                      </p:cBhvr>
                                      <p:tavLst>
                                        <p:tav tm="0">
                                          <p:val>
                                            <p:fltVal val="0"/>
                                          </p:val>
                                        </p:tav>
                                        <p:tav tm="100000">
                                          <p:val>
                                            <p:strVal val="#ppt_w"/>
                                          </p:val>
                                        </p:tav>
                                      </p:tavLst>
                                    </p:anim>
                                    <p:anim calcmode="lin" valueType="num">
                                      <p:cBhvr>
                                        <p:cTn id="20" dur="500" fill="hold"/>
                                        <p:tgtEl>
                                          <p:spTgt spid="10"/>
                                        </p:tgtEl>
                                        <p:attrNameLst>
                                          <p:attrName>ppt_h</p:attrName>
                                        </p:attrNameLst>
                                      </p:cBhvr>
                                      <p:tavLst>
                                        <p:tav tm="0">
                                          <p:val>
                                            <p:fltVal val="0"/>
                                          </p:val>
                                        </p:tav>
                                        <p:tav tm="100000">
                                          <p:val>
                                            <p:strVal val="#ppt_h"/>
                                          </p:val>
                                        </p:tav>
                                      </p:tavLst>
                                    </p:anim>
                                    <p:animEffect transition="in" filter="fade">
                                      <p:cBhvr>
                                        <p:cTn id="21"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组合 24"/>
          <p:cNvGrpSpPr/>
          <p:nvPr/>
        </p:nvGrpSpPr>
        <p:grpSpPr>
          <a:xfrm>
            <a:off x="585128" y="1170636"/>
            <a:ext cx="659155" cy="2454306"/>
            <a:chOff x="6629352" y="1760489"/>
            <a:chExt cx="878876" cy="3272409"/>
          </a:xfrm>
        </p:grpSpPr>
        <p:sp>
          <p:nvSpPr>
            <p:cNvPr id="7" name="文本框 6"/>
            <p:cNvSpPr txBox="1"/>
            <p:nvPr/>
          </p:nvSpPr>
          <p:spPr>
            <a:xfrm rot="10800000">
              <a:off x="6730234" y="2499153"/>
              <a:ext cx="677110" cy="2533745"/>
            </a:xfrm>
            <a:prstGeom prst="rect">
              <a:avLst/>
            </a:prstGeom>
            <a:noFill/>
          </p:spPr>
          <p:txBody>
            <a:bodyPr vert="eaVert" wrap="square" rtlCol="0">
              <a:spAutoFit/>
              <a:scene3d>
                <a:camera prst="orthographicFront"/>
                <a:lightRig rig="threePt" dir="t"/>
              </a:scene3d>
              <a:sp3d contourW="12700"/>
            </a:bodyPr>
            <a:lstStyle/>
            <a:p>
              <a:r>
                <a:rPr lang="en-US" altLang="zh-CN" sz="2100" b="1" dirty="0">
                  <a:solidFill>
                    <a:srgbClr val="4C4C4C"/>
                  </a:solidFill>
                  <a:latin typeface="微软雅黑" panose="020B0503020204020204" charset="-122"/>
                  <a:ea typeface="微软雅黑" panose="020B0503020204020204" charset="-122"/>
                  <a:cs typeface="微软雅黑" panose="020B0503020204020204" charset="-122"/>
                </a:rPr>
                <a:t>What is GPT</a:t>
              </a:r>
              <a:endParaRPr lang="zh-CN" altLang="en-US" sz="2100" b="1" dirty="0">
                <a:solidFill>
                  <a:srgbClr val="4C4C4C"/>
                </a:solidFill>
                <a:latin typeface="微软雅黑" panose="020B0503020204020204" charset="-122"/>
                <a:ea typeface="微软雅黑" panose="020B0503020204020204" charset="-122"/>
                <a:cs typeface="微软雅黑" panose="020B0503020204020204" charset="-122"/>
              </a:endParaRPr>
            </a:p>
          </p:txBody>
        </p:sp>
        <p:sp>
          <p:nvSpPr>
            <p:cNvPr id="5" name="文本框 4"/>
            <p:cNvSpPr txBox="1"/>
            <p:nvPr/>
          </p:nvSpPr>
          <p:spPr>
            <a:xfrm>
              <a:off x="6629352" y="1760489"/>
              <a:ext cx="878876" cy="738665"/>
            </a:xfrm>
            <a:prstGeom prst="rect">
              <a:avLst/>
            </a:prstGeom>
            <a:noFill/>
          </p:spPr>
          <p:txBody>
            <a:bodyPr wrap="none" rtlCol="0">
              <a:spAutoFit/>
              <a:scene3d>
                <a:camera prst="orthographicFront"/>
                <a:lightRig rig="threePt" dir="t"/>
              </a:scene3d>
              <a:sp3d contourW="12700"/>
            </a:bodyPr>
            <a:lstStyle/>
            <a:p>
              <a:r>
                <a:rPr lang="en-US" altLang="zh-CN" sz="3000" b="1" dirty="0">
                  <a:solidFill>
                    <a:srgbClr val="4C4C4C"/>
                  </a:solidFill>
                  <a:latin typeface="微软雅黑" panose="020B0503020204020204" charset="-122"/>
                  <a:ea typeface="微软雅黑" panose="020B0503020204020204" charset="-122"/>
                  <a:cs typeface="微软雅黑" panose="020B0503020204020204" charset="-122"/>
                </a:rPr>
                <a:t>01</a:t>
              </a:r>
              <a:endParaRPr lang="zh-CN" altLang="en-US" sz="3000" b="1" dirty="0">
                <a:solidFill>
                  <a:srgbClr val="4C4C4C"/>
                </a:solidFill>
                <a:latin typeface="微软雅黑" panose="020B0503020204020204" charset="-122"/>
                <a:ea typeface="微软雅黑" panose="020B0503020204020204" charset="-122"/>
                <a:cs typeface="微软雅黑" panose="020B0503020204020204" charset="-122"/>
              </a:endParaRPr>
            </a:p>
          </p:txBody>
        </p:sp>
      </p:grpSp>
      <p:sp>
        <p:nvSpPr>
          <p:cNvPr id="10" name="Text Placeholder 3"/>
          <p:cNvSpPr txBox="1"/>
          <p:nvPr/>
        </p:nvSpPr>
        <p:spPr>
          <a:xfrm>
            <a:off x="5579190" y="920320"/>
            <a:ext cx="4104456" cy="804314"/>
          </a:xfrm>
          <a:prstGeom prst="rect">
            <a:avLst/>
          </a:prstGeom>
        </p:spPr>
        <p:txBody>
          <a:bodyPr lIns="68580" tIns="34290" rIns="68580" bIns="34290" anchor="ct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buNone/>
            </a:pPr>
            <a:r>
              <a:rPr lang="en-US" altLang="zh-CN" sz="6000" b="1" dirty="0">
                <a:solidFill>
                  <a:schemeClr val="tx1">
                    <a:lumMod val="75000"/>
                    <a:lumOff val="25000"/>
                  </a:schemeClr>
                </a:solidFill>
                <a:latin typeface="微软雅黑" panose="020B0503020204020204" charset="-122"/>
                <a:ea typeface="微软雅黑" panose="020B0503020204020204" charset="-122"/>
              </a:rPr>
              <a:t>GPT</a:t>
            </a:r>
            <a:endParaRPr lang="zh-CN" altLang="en-US" sz="6000" b="1" dirty="0">
              <a:solidFill>
                <a:schemeClr val="tx1">
                  <a:lumMod val="75000"/>
                  <a:lumOff val="25000"/>
                </a:schemeClr>
              </a:solidFill>
              <a:latin typeface="微软雅黑" panose="020B0503020204020204" charset="-122"/>
              <a:ea typeface="微软雅黑" panose="020B0503020204020204" charset="-122"/>
            </a:endParaRPr>
          </a:p>
        </p:txBody>
      </p:sp>
      <p:sp>
        <p:nvSpPr>
          <p:cNvPr id="11" name="Text Placeholder 4"/>
          <p:cNvSpPr txBox="1"/>
          <p:nvPr/>
        </p:nvSpPr>
        <p:spPr>
          <a:xfrm>
            <a:off x="5678546" y="1818588"/>
            <a:ext cx="6152635" cy="2736281"/>
          </a:xfrm>
          <a:prstGeom prst="rect">
            <a:avLst/>
          </a:prstGeom>
        </p:spPr>
        <p:txBody>
          <a:bodyPr lIns="68580" tIns="34290" rIns="68580" bIns="34290"/>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algn="just">
              <a:lnSpc>
                <a:spcPct val="150000"/>
              </a:lnSpc>
              <a:buFont typeface="Wingdings" panose="05000000000000000000" pitchFamily="2" charset="2"/>
              <a:buChar char="l"/>
            </a:pPr>
            <a:r>
              <a:rPr lang="en-US" altLang="zh-CN" sz="1600" dirty="0">
                <a:solidFill>
                  <a:schemeClr val="bg1">
                    <a:lumMod val="50000"/>
                  </a:schemeClr>
                </a:solidFill>
                <a:latin typeface="微软雅黑" panose="020B0503020204020204" charset="-122"/>
                <a:ea typeface="微软雅黑" panose="020B0503020204020204" charset="-122"/>
              </a:rPr>
              <a:t>GPT, or Generative Pre-trained Transformer, is an AI model by OpenAI that generates human-like text using deep learning. It uses an "attention" mechanism for better understanding and response generation.</a:t>
            </a:r>
          </a:p>
          <a:p>
            <a:pPr algn="just">
              <a:lnSpc>
                <a:spcPct val="150000"/>
              </a:lnSpc>
              <a:buFont typeface="Wingdings" panose="05000000000000000000" pitchFamily="2" charset="2"/>
              <a:buChar char="l"/>
            </a:pPr>
            <a:endParaRPr lang="en-US" altLang="zh-CN" sz="1600" dirty="0">
              <a:solidFill>
                <a:schemeClr val="bg1">
                  <a:lumMod val="50000"/>
                </a:schemeClr>
              </a:solidFill>
              <a:latin typeface="微软雅黑" panose="020B0503020204020204" charset="-122"/>
              <a:ea typeface="微软雅黑" panose="020B0503020204020204" charset="-122"/>
            </a:endParaRPr>
          </a:p>
          <a:p>
            <a:pPr algn="just">
              <a:lnSpc>
                <a:spcPct val="150000"/>
              </a:lnSpc>
              <a:buFont typeface="Wingdings" panose="05000000000000000000" pitchFamily="2" charset="2"/>
              <a:buChar char="l"/>
            </a:pPr>
            <a:r>
              <a:rPr lang="en-US" altLang="zh-CN" sz="1600" dirty="0">
                <a:solidFill>
                  <a:schemeClr val="bg1">
                    <a:lumMod val="50000"/>
                  </a:schemeClr>
                </a:solidFill>
                <a:latin typeface="微软雅黑" panose="020B0503020204020204" charset="-122"/>
                <a:ea typeface="微软雅黑" panose="020B0503020204020204" charset="-122"/>
              </a:rPr>
              <a:t>GPT learns from diverse internet text (pre-training) and is fine-tuned for specific tasks, enhancing its performance.</a:t>
            </a:r>
          </a:p>
          <a:p>
            <a:pPr algn="just">
              <a:lnSpc>
                <a:spcPct val="150000"/>
              </a:lnSpc>
              <a:buFont typeface="Wingdings" panose="05000000000000000000" pitchFamily="2" charset="2"/>
              <a:buChar char="l"/>
            </a:pPr>
            <a:endParaRPr lang="en-US" altLang="zh-CN" sz="1600" dirty="0">
              <a:solidFill>
                <a:schemeClr val="bg1">
                  <a:lumMod val="50000"/>
                </a:schemeClr>
              </a:solidFill>
              <a:latin typeface="微软雅黑" panose="020B0503020204020204" charset="-122"/>
              <a:ea typeface="微软雅黑" panose="020B0503020204020204" charset="-122"/>
            </a:endParaRPr>
          </a:p>
          <a:p>
            <a:pPr algn="just">
              <a:lnSpc>
                <a:spcPct val="150000"/>
              </a:lnSpc>
              <a:buFont typeface="Wingdings" panose="05000000000000000000" pitchFamily="2" charset="2"/>
              <a:buChar char="l"/>
            </a:pPr>
            <a:r>
              <a:rPr lang="en-US" altLang="zh-CN" sz="1600" dirty="0">
                <a:solidFill>
                  <a:schemeClr val="bg1">
                    <a:lumMod val="50000"/>
                  </a:schemeClr>
                </a:solidFill>
                <a:latin typeface="微软雅黑" panose="020B0503020204020204" charset="-122"/>
                <a:ea typeface="微软雅黑" panose="020B0503020204020204" charset="-122"/>
              </a:rPr>
              <a:t>GPT is used in various applications, from drafting emails to writing code, showcasing its versatility in AI and natural language processing.</a:t>
            </a:r>
          </a:p>
        </p:txBody>
      </p:sp>
      <p:pic>
        <p:nvPicPr>
          <p:cNvPr id="9" name="图片 8"/>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525901" y="1010109"/>
            <a:ext cx="3728632" cy="5042349"/>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1500" advTm="0">
        <p:random/>
      </p:transition>
    </mc:Choice>
    <mc:Fallback xmlns="">
      <p:transition spd="slow" advTm="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8" presetClass="entr" presetSubtype="12" fill="hold" grpId="0" nodeType="afterEffect">
                                  <p:stCondLst>
                                    <p:cond delay="0"/>
                                  </p:stCondLst>
                                  <p:childTnLst>
                                    <p:set>
                                      <p:cBhvr>
                                        <p:cTn id="6" dur="1" fill="hold">
                                          <p:stCondLst>
                                            <p:cond delay="0"/>
                                          </p:stCondLst>
                                        </p:cTn>
                                        <p:tgtEl>
                                          <p:spTgt spid="10">
                                            <p:txEl>
                                              <p:pRg st="0" end="0"/>
                                            </p:txEl>
                                          </p:spTgt>
                                        </p:tgtEl>
                                        <p:attrNameLst>
                                          <p:attrName>style.visibility</p:attrName>
                                        </p:attrNameLst>
                                      </p:cBhvr>
                                      <p:to>
                                        <p:strVal val="visible"/>
                                      </p:to>
                                    </p:set>
                                    <p:animEffect transition="in" filter="strips(downLeft)">
                                      <p:cBhvr>
                                        <p:cTn id="7" dur="500"/>
                                        <p:tgtEl>
                                          <p:spTgt spid="10">
                                            <p:txEl>
                                              <p:pRg st="0" end="0"/>
                                            </p:txEl>
                                          </p:spTgt>
                                        </p:tgtEl>
                                      </p:cBhvr>
                                    </p:animEffect>
                                  </p:childTnLst>
                                </p:cTn>
                              </p:par>
                              <p:par>
                                <p:cTn id="8" presetID="18" presetClass="entr" presetSubtype="12" fill="hold" grpId="0" nodeType="withEffect">
                                  <p:stCondLst>
                                    <p:cond delay="0"/>
                                  </p:stCondLst>
                                  <p:childTnLst>
                                    <p:set>
                                      <p:cBhvr>
                                        <p:cTn id="9" dur="1" fill="hold">
                                          <p:stCondLst>
                                            <p:cond delay="0"/>
                                          </p:stCondLst>
                                        </p:cTn>
                                        <p:tgtEl>
                                          <p:spTgt spid="11">
                                            <p:txEl>
                                              <p:pRg st="0" end="0"/>
                                            </p:txEl>
                                          </p:spTgt>
                                        </p:tgtEl>
                                        <p:attrNameLst>
                                          <p:attrName>style.visibility</p:attrName>
                                        </p:attrNameLst>
                                      </p:cBhvr>
                                      <p:to>
                                        <p:strVal val="visible"/>
                                      </p:to>
                                    </p:set>
                                    <p:animEffect transition="in" filter="strips(downLeft)">
                                      <p:cBhvr>
                                        <p:cTn id="10" dur="500"/>
                                        <p:tgtEl>
                                          <p:spTgt spid="11">
                                            <p:txEl>
                                              <p:pRg st="0" end="0"/>
                                            </p:txEl>
                                          </p:spTgt>
                                        </p:tgtEl>
                                      </p:cBhvr>
                                    </p:animEffect>
                                  </p:childTnLst>
                                </p:cTn>
                              </p:par>
                              <p:par>
                                <p:cTn id="11" presetID="18" presetClass="entr" presetSubtype="12" fill="hold" grpId="0" nodeType="withEffect">
                                  <p:stCondLst>
                                    <p:cond delay="0"/>
                                  </p:stCondLst>
                                  <p:childTnLst>
                                    <p:set>
                                      <p:cBhvr>
                                        <p:cTn id="12" dur="1" fill="hold">
                                          <p:stCondLst>
                                            <p:cond delay="0"/>
                                          </p:stCondLst>
                                        </p:cTn>
                                        <p:tgtEl>
                                          <p:spTgt spid="11">
                                            <p:txEl>
                                              <p:pRg st="2" end="2"/>
                                            </p:txEl>
                                          </p:spTgt>
                                        </p:tgtEl>
                                        <p:attrNameLst>
                                          <p:attrName>style.visibility</p:attrName>
                                        </p:attrNameLst>
                                      </p:cBhvr>
                                      <p:to>
                                        <p:strVal val="visible"/>
                                      </p:to>
                                    </p:set>
                                    <p:animEffect transition="in" filter="strips(downLeft)">
                                      <p:cBhvr>
                                        <p:cTn id="13" dur="500"/>
                                        <p:tgtEl>
                                          <p:spTgt spid="11">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build="p"/>
      <p:bldP spid="11" grpId="0" build="p"/>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9" name="组 8"/>
          <p:cNvGrpSpPr/>
          <p:nvPr/>
        </p:nvGrpSpPr>
        <p:grpSpPr>
          <a:xfrm>
            <a:off x="2422359" y="473244"/>
            <a:ext cx="7796463" cy="3577388"/>
            <a:chOff x="2422357" y="473244"/>
            <a:chExt cx="7796462" cy="3577388"/>
          </a:xfrm>
        </p:grpSpPr>
        <p:grpSp>
          <p:nvGrpSpPr>
            <p:cNvPr id="5" name="组 4"/>
            <p:cNvGrpSpPr/>
            <p:nvPr/>
          </p:nvGrpSpPr>
          <p:grpSpPr>
            <a:xfrm>
              <a:off x="2422357" y="473244"/>
              <a:ext cx="7796462" cy="3577388"/>
              <a:chOff x="2422357" y="473244"/>
              <a:chExt cx="7796462" cy="3577388"/>
            </a:xfrm>
          </p:grpSpPr>
          <p:sp>
            <p:nvSpPr>
              <p:cNvPr id="2" name="椭圆 1"/>
              <p:cNvSpPr/>
              <p:nvPr/>
            </p:nvSpPr>
            <p:spPr>
              <a:xfrm>
                <a:off x="2422357" y="1138991"/>
                <a:ext cx="2245895" cy="2245895"/>
              </a:xfrm>
              <a:prstGeom prst="ellipse">
                <a:avLst/>
              </a:prstGeom>
              <a:noFill/>
              <a:ln>
                <a:solidFill>
                  <a:srgbClr val="4C4C4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3" name="椭圆 2"/>
              <p:cNvSpPr/>
              <p:nvPr/>
            </p:nvSpPr>
            <p:spPr>
              <a:xfrm>
                <a:off x="4531894" y="473244"/>
                <a:ext cx="3577388" cy="3577388"/>
              </a:xfrm>
              <a:prstGeom prst="ellipse">
                <a:avLst/>
              </a:prstGeom>
              <a:noFill/>
              <a:ln>
                <a:solidFill>
                  <a:srgbClr val="4C4C4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4" name="椭圆 3"/>
              <p:cNvSpPr/>
              <p:nvPr/>
            </p:nvSpPr>
            <p:spPr>
              <a:xfrm>
                <a:off x="7972924" y="1138991"/>
                <a:ext cx="2245895" cy="2245895"/>
              </a:xfrm>
              <a:prstGeom prst="ellipse">
                <a:avLst/>
              </a:prstGeom>
              <a:noFill/>
              <a:ln>
                <a:solidFill>
                  <a:srgbClr val="4C4C4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grpSp>
        <p:sp>
          <p:nvSpPr>
            <p:cNvPr id="6" name="Text Placeholder 3"/>
            <p:cNvSpPr txBox="1"/>
            <p:nvPr/>
          </p:nvSpPr>
          <p:spPr>
            <a:xfrm>
              <a:off x="5495011" y="1859781"/>
              <a:ext cx="1944558" cy="804314"/>
            </a:xfrm>
            <a:prstGeom prst="rect">
              <a:avLst/>
            </a:prstGeom>
          </p:spPr>
          <p:txBody>
            <a:bodyPr lIns="68580" tIns="34290" rIns="68580" bIns="34290" anchor="ct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buNone/>
              </a:pPr>
              <a:r>
                <a:rPr lang="en-US" altLang="zh-CN" sz="6000" b="1" dirty="0">
                  <a:solidFill>
                    <a:schemeClr val="tx1">
                      <a:lumMod val="75000"/>
                      <a:lumOff val="25000"/>
                    </a:schemeClr>
                  </a:solidFill>
                  <a:latin typeface="微软雅黑" panose="020B0503020204020204" charset="-122"/>
                  <a:ea typeface="微软雅黑" panose="020B0503020204020204" charset="-122"/>
                </a:rPr>
                <a:t>GPT</a:t>
              </a:r>
              <a:endParaRPr lang="zh-CN" altLang="en-US" sz="6000" b="1" dirty="0">
                <a:solidFill>
                  <a:schemeClr val="tx1">
                    <a:lumMod val="75000"/>
                    <a:lumOff val="25000"/>
                  </a:schemeClr>
                </a:solidFill>
                <a:latin typeface="微软雅黑" panose="020B0503020204020204" charset="-122"/>
                <a:ea typeface="微软雅黑" panose="020B0503020204020204" charset="-122"/>
              </a:endParaRPr>
            </a:p>
          </p:txBody>
        </p:sp>
        <p:sp>
          <p:nvSpPr>
            <p:cNvPr id="7" name="Text Placeholder 3"/>
            <p:cNvSpPr txBox="1"/>
            <p:nvPr/>
          </p:nvSpPr>
          <p:spPr>
            <a:xfrm>
              <a:off x="2578175" y="1898008"/>
              <a:ext cx="1944558" cy="804314"/>
            </a:xfrm>
            <a:prstGeom prst="rect">
              <a:avLst/>
            </a:prstGeom>
          </p:spPr>
          <p:txBody>
            <a:bodyPr lIns="68580" tIns="34290" rIns="68580" bIns="34290" anchor="ct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gn="ctr">
                <a:buNone/>
              </a:pPr>
              <a:r>
                <a:rPr lang="en-US" altLang="zh-CN" sz="6000" b="1" dirty="0">
                  <a:solidFill>
                    <a:schemeClr val="tx1">
                      <a:lumMod val="75000"/>
                      <a:lumOff val="25000"/>
                    </a:schemeClr>
                  </a:solidFill>
                  <a:latin typeface="微软雅黑" panose="020B0503020204020204" charset="-122"/>
                  <a:ea typeface="微软雅黑" panose="020B0503020204020204" charset="-122"/>
                </a:rPr>
                <a:t>G</a:t>
              </a:r>
            </a:p>
          </p:txBody>
        </p:sp>
        <p:sp>
          <p:nvSpPr>
            <p:cNvPr id="8" name="Text Placeholder 3"/>
            <p:cNvSpPr txBox="1"/>
            <p:nvPr/>
          </p:nvSpPr>
          <p:spPr>
            <a:xfrm>
              <a:off x="8181381" y="1859781"/>
              <a:ext cx="1944558" cy="804314"/>
            </a:xfrm>
            <a:prstGeom prst="rect">
              <a:avLst/>
            </a:prstGeom>
          </p:spPr>
          <p:txBody>
            <a:bodyPr lIns="68580" tIns="34290" rIns="68580" bIns="34290" anchor="ct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gn="ctr">
                <a:buNone/>
              </a:pPr>
              <a:r>
                <a:rPr lang="en-US" altLang="zh-CN" sz="6000" b="1" dirty="0">
                  <a:solidFill>
                    <a:schemeClr val="tx1">
                      <a:lumMod val="75000"/>
                      <a:lumOff val="25000"/>
                    </a:schemeClr>
                  </a:solidFill>
                  <a:latin typeface="微软雅黑" panose="020B0503020204020204" charset="-122"/>
                  <a:ea typeface="微软雅黑" panose="020B0503020204020204" charset="-122"/>
                </a:rPr>
                <a:t>T</a:t>
              </a:r>
            </a:p>
          </p:txBody>
        </p:sp>
      </p:grpSp>
      <p:sp>
        <p:nvSpPr>
          <p:cNvPr id="10" name="Text Placeholder 4"/>
          <p:cNvSpPr txBox="1"/>
          <p:nvPr/>
        </p:nvSpPr>
        <p:spPr>
          <a:xfrm>
            <a:off x="1567543" y="4275517"/>
            <a:ext cx="4365171" cy="1548232"/>
          </a:xfrm>
          <a:prstGeom prst="rect">
            <a:avLst/>
          </a:prstGeom>
        </p:spPr>
        <p:txBody>
          <a:bodyPr lIns="68580" tIns="34290" rIns="68580" bIns="34290"/>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gn="just">
              <a:lnSpc>
                <a:spcPct val="150000"/>
              </a:lnSpc>
              <a:buNone/>
            </a:pPr>
            <a:r>
              <a:rPr lang="en-US" altLang="zh-CN" sz="1100" dirty="0">
                <a:solidFill>
                  <a:schemeClr val="bg1">
                    <a:lumMod val="50000"/>
                  </a:schemeClr>
                </a:solidFill>
                <a:latin typeface="微软雅黑" panose="020B0503020204020204" charset="-122"/>
                <a:ea typeface="微软雅黑" panose="020B0503020204020204" charset="-122"/>
              </a:rPr>
              <a:t>The "G" in GPT stands for "Generative". This refers to the model's ability to generate new content. Unlike some AI models that can only classify or label existing data, GPT can create new text based on the input it receives. It does this by predicting the likelihood of each word given the previous words in the input sequence.</a:t>
            </a:r>
          </a:p>
        </p:txBody>
      </p:sp>
      <p:sp>
        <p:nvSpPr>
          <p:cNvPr id="11" name="Text Placeholder 4"/>
          <p:cNvSpPr txBox="1"/>
          <p:nvPr/>
        </p:nvSpPr>
        <p:spPr>
          <a:xfrm>
            <a:off x="7243494" y="4281992"/>
            <a:ext cx="3848960" cy="1657193"/>
          </a:xfrm>
          <a:prstGeom prst="rect">
            <a:avLst/>
          </a:prstGeom>
        </p:spPr>
        <p:txBody>
          <a:bodyPr lIns="68580" tIns="34290" rIns="68580" bIns="34290"/>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gn="just">
              <a:lnSpc>
                <a:spcPct val="150000"/>
              </a:lnSpc>
              <a:buNone/>
            </a:pPr>
            <a:r>
              <a:rPr lang="en-US" altLang="zh-CN" sz="1100" dirty="0">
                <a:solidFill>
                  <a:schemeClr val="bg1">
                    <a:lumMod val="50000"/>
                  </a:schemeClr>
                </a:solidFill>
                <a:latin typeface="微软雅黑" panose="020B0503020204020204" charset="-122"/>
                <a:ea typeface="微软雅黑" panose="020B0503020204020204" charset="-122"/>
              </a:rPr>
              <a:t>The "T" in GPT is "Transformer". A transformer is a type of model architecture used in machine learning. It's known for its use of an "attention" mechanism, which allows the model to focus on different parts of the input when producing an output. </a:t>
            </a:r>
          </a:p>
        </p:txBody>
      </p:sp>
      <p:cxnSp>
        <p:nvCxnSpPr>
          <p:cNvPr id="13" name="直线连接符 12"/>
          <p:cNvCxnSpPr>
            <a:stCxn id="2" idx="4"/>
          </p:cNvCxnSpPr>
          <p:nvPr/>
        </p:nvCxnSpPr>
        <p:spPr>
          <a:xfrm>
            <a:off x="3545307" y="3384890"/>
            <a:ext cx="14311" cy="890631"/>
          </a:xfrm>
          <a:prstGeom prst="line">
            <a:avLst/>
          </a:prstGeom>
          <a:ln>
            <a:solidFill>
              <a:srgbClr val="4C4C4C"/>
            </a:solidFill>
          </a:ln>
        </p:spPr>
        <p:style>
          <a:lnRef idx="1">
            <a:schemeClr val="accent1"/>
          </a:lnRef>
          <a:fillRef idx="0">
            <a:schemeClr val="accent1"/>
          </a:fillRef>
          <a:effectRef idx="0">
            <a:schemeClr val="accent1"/>
          </a:effectRef>
          <a:fontRef idx="minor">
            <a:schemeClr val="tx1"/>
          </a:fontRef>
        </p:style>
      </p:cxnSp>
      <p:cxnSp>
        <p:nvCxnSpPr>
          <p:cNvPr id="14" name="直线连接符 13"/>
          <p:cNvCxnSpPr>
            <a:stCxn id="14" idx="4"/>
          </p:cNvCxnSpPr>
          <p:nvPr/>
        </p:nvCxnSpPr>
        <p:spPr>
          <a:xfrm>
            <a:off x="9153663" y="3372158"/>
            <a:ext cx="14311" cy="890631"/>
          </a:xfrm>
          <a:prstGeom prst="line">
            <a:avLst/>
          </a:prstGeom>
          <a:ln>
            <a:solidFill>
              <a:srgbClr val="4C4C4C"/>
            </a:solidFill>
          </a:ln>
        </p:spPr>
        <p:style>
          <a:lnRef idx="1">
            <a:schemeClr val="accent1"/>
          </a:lnRef>
          <a:fillRef idx="0">
            <a:schemeClr val="accent1"/>
          </a:fillRef>
          <a:effectRef idx="0">
            <a:schemeClr val="accent1"/>
          </a:effectRef>
          <a:fontRef idx="minor">
            <a:schemeClr val="tx1"/>
          </a:fontRef>
        </p:style>
      </p:cxnSp>
      <p:grpSp>
        <p:nvGrpSpPr>
          <p:cNvPr id="15" name="组合 24"/>
          <p:cNvGrpSpPr/>
          <p:nvPr/>
        </p:nvGrpSpPr>
        <p:grpSpPr>
          <a:xfrm>
            <a:off x="585128" y="1170635"/>
            <a:ext cx="659155" cy="2302234"/>
            <a:chOff x="6629352" y="1760489"/>
            <a:chExt cx="878876" cy="3069649"/>
          </a:xfrm>
        </p:grpSpPr>
        <p:sp>
          <p:nvSpPr>
            <p:cNvPr id="16" name="文本框 15"/>
            <p:cNvSpPr txBox="1"/>
            <p:nvPr/>
          </p:nvSpPr>
          <p:spPr>
            <a:xfrm rot="10800000">
              <a:off x="6745082" y="2499154"/>
              <a:ext cx="677110" cy="2330984"/>
            </a:xfrm>
            <a:prstGeom prst="rect">
              <a:avLst/>
            </a:prstGeom>
            <a:noFill/>
          </p:spPr>
          <p:txBody>
            <a:bodyPr vert="eaVert" wrap="none" rtlCol="0">
              <a:spAutoFit/>
              <a:scene3d>
                <a:camera prst="orthographicFront"/>
                <a:lightRig rig="threePt" dir="t"/>
              </a:scene3d>
              <a:sp3d contourW="12700"/>
            </a:bodyPr>
            <a:lstStyle/>
            <a:p>
              <a:r>
                <a:rPr lang="en-US" altLang="zh-CN" sz="2100" b="1" dirty="0">
                  <a:solidFill>
                    <a:srgbClr val="4C4C4C"/>
                  </a:solidFill>
                  <a:latin typeface="微软雅黑" panose="020B0503020204020204" charset="-122"/>
                  <a:ea typeface="微软雅黑" panose="020B0503020204020204" charset="-122"/>
                  <a:cs typeface="微软雅黑" panose="020B0503020204020204" charset="-122"/>
                </a:rPr>
                <a:t>What is GPT</a:t>
              </a:r>
              <a:endParaRPr lang="zh-CN" altLang="en-US" sz="2100" b="1" dirty="0">
                <a:solidFill>
                  <a:srgbClr val="4C4C4C"/>
                </a:solidFill>
                <a:latin typeface="微软雅黑" panose="020B0503020204020204" charset="-122"/>
                <a:ea typeface="微软雅黑" panose="020B0503020204020204" charset="-122"/>
                <a:cs typeface="微软雅黑" panose="020B0503020204020204" charset="-122"/>
              </a:endParaRPr>
            </a:p>
          </p:txBody>
        </p:sp>
        <p:sp>
          <p:nvSpPr>
            <p:cNvPr id="17" name="文本框 16"/>
            <p:cNvSpPr txBox="1"/>
            <p:nvPr/>
          </p:nvSpPr>
          <p:spPr>
            <a:xfrm>
              <a:off x="6629352" y="1760489"/>
              <a:ext cx="878876" cy="738665"/>
            </a:xfrm>
            <a:prstGeom prst="rect">
              <a:avLst/>
            </a:prstGeom>
            <a:noFill/>
          </p:spPr>
          <p:txBody>
            <a:bodyPr wrap="none" rtlCol="0">
              <a:spAutoFit/>
              <a:scene3d>
                <a:camera prst="orthographicFront"/>
                <a:lightRig rig="threePt" dir="t"/>
              </a:scene3d>
              <a:sp3d contourW="12700"/>
            </a:bodyPr>
            <a:lstStyle/>
            <a:p>
              <a:r>
                <a:rPr lang="en-US" altLang="zh-CN" sz="3000" b="1" dirty="0">
                  <a:solidFill>
                    <a:srgbClr val="4C4C4C"/>
                  </a:solidFill>
                  <a:latin typeface="微软雅黑" panose="020B0503020204020204" charset="-122"/>
                  <a:ea typeface="微软雅黑" panose="020B0503020204020204" charset="-122"/>
                  <a:cs typeface="微软雅黑" panose="020B0503020204020204" charset="-122"/>
                </a:rPr>
                <a:t>01</a:t>
              </a:r>
              <a:endParaRPr lang="zh-CN" altLang="en-US" sz="3000" b="1" dirty="0">
                <a:solidFill>
                  <a:srgbClr val="4C4C4C"/>
                </a:solidFill>
                <a:latin typeface="微软雅黑" panose="020B0503020204020204" charset="-122"/>
                <a:ea typeface="微软雅黑" panose="020B0503020204020204" charset="-122"/>
                <a:cs typeface="微软雅黑" panose="020B0503020204020204" charset="-122"/>
              </a:endParaRPr>
            </a:p>
          </p:txBody>
        </p:sp>
      </p:grpSp>
    </p:spTree>
  </p:cSld>
  <p:clrMapOvr>
    <a:masterClrMapping/>
  </p:clrMapOvr>
  <mc:AlternateContent xmlns:mc="http://schemas.openxmlformats.org/markup-compatibility/2006" xmlns:p14="http://schemas.microsoft.com/office/powerpoint/2010/main">
    <mc:Choice Requires="p14">
      <p:transition spd="slow" p14:dur="1500" advTm="0">
        <p:random/>
      </p:transition>
    </mc:Choice>
    <mc:Fallback xmlns="">
      <p:transition spd="slow" advTm="0">
        <p:random/>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nodeType="click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p:cTn id="7" dur="500" fill="hold"/>
                                        <p:tgtEl>
                                          <p:spTgt spid="9"/>
                                        </p:tgtEl>
                                        <p:attrNameLst>
                                          <p:attrName>ppt_w</p:attrName>
                                        </p:attrNameLst>
                                      </p:cBhvr>
                                      <p:tavLst>
                                        <p:tav tm="0">
                                          <p:val>
                                            <p:fltVal val="0"/>
                                          </p:val>
                                        </p:tav>
                                        <p:tav tm="100000">
                                          <p:val>
                                            <p:strVal val="#ppt_w"/>
                                          </p:val>
                                        </p:tav>
                                      </p:tavLst>
                                    </p:anim>
                                    <p:anim calcmode="lin" valueType="num">
                                      <p:cBhvr>
                                        <p:cTn id="8" dur="500" fill="hold"/>
                                        <p:tgtEl>
                                          <p:spTgt spid="9"/>
                                        </p:tgtEl>
                                        <p:attrNameLst>
                                          <p:attrName>ppt_h</p:attrName>
                                        </p:attrNameLst>
                                      </p:cBhvr>
                                      <p:tavLst>
                                        <p:tav tm="0">
                                          <p:val>
                                            <p:fltVal val="0"/>
                                          </p:val>
                                        </p:tav>
                                        <p:tav tm="100000">
                                          <p:val>
                                            <p:strVal val="#ppt_h"/>
                                          </p:val>
                                        </p:tav>
                                      </p:tavLst>
                                    </p:anim>
                                    <p:animEffect transition="in" filter="fade">
                                      <p:cBhvr>
                                        <p:cTn id="9" dur="500"/>
                                        <p:tgtEl>
                                          <p:spTgt spid="9"/>
                                        </p:tgtEl>
                                      </p:cBhvr>
                                    </p:animEffect>
                                  </p:childTnLst>
                                </p:cTn>
                              </p:par>
                              <p:par>
                                <p:cTn id="10" presetID="18" presetClass="entr" presetSubtype="12" fill="hold" grpId="0" nodeType="withEffect">
                                  <p:stCondLst>
                                    <p:cond delay="0"/>
                                  </p:stCondLst>
                                  <p:childTnLst>
                                    <p:set>
                                      <p:cBhvr>
                                        <p:cTn id="11" dur="1" fill="hold">
                                          <p:stCondLst>
                                            <p:cond delay="0"/>
                                          </p:stCondLst>
                                        </p:cTn>
                                        <p:tgtEl>
                                          <p:spTgt spid="10">
                                            <p:txEl>
                                              <p:pRg st="0" end="0"/>
                                            </p:txEl>
                                          </p:spTgt>
                                        </p:tgtEl>
                                        <p:attrNameLst>
                                          <p:attrName>style.visibility</p:attrName>
                                        </p:attrNameLst>
                                      </p:cBhvr>
                                      <p:to>
                                        <p:strVal val="visible"/>
                                      </p:to>
                                    </p:set>
                                    <p:animEffect transition="in" filter="strips(downLeft)">
                                      <p:cBhvr>
                                        <p:cTn id="12" dur="500"/>
                                        <p:tgtEl>
                                          <p:spTgt spid="10">
                                            <p:txEl>
                                              <p:pRg st="0" end="0"/>
                                            </p:txEl>
                                          </p:spTgt>
                                        </p:tgtEl>
                                      </p:cBhvr>
                                    </p:animEffect>
                                  </p:childTnLst>
                                </p:cTn>
                              </p:par>
                              <p:par>
                                <p:cTn id="13" presetID="18" presetClass="entr" presetSubtype="12" fill="hold" grpId="0" nodeType="withEffect">
                                  <p:stCondLst>
                                    <p:cond delay="0"/>
                                  </p:stCondLst>
                                  <p:childTnLst>
                                    <p:set>
                                      <p:cBhvr>
                                        <p:cTn id="14" dur="1" fill="hold">
                                          <p:stCondLst>
                                            <p:cond delay="0"/>
                                          </p:stCondLst>
                                        </p:cTn>
                                        <p:tgtEl>
                                          <p:spTgt spid="11">
                                            <p:txEl>
                                              <p:pRg st="0" end="0"/>
                                            </p:txEl>
                                          </p:spTgt>
                                        </p:tgtEl>
                                        <p:attrNameLst>
                                          <p:attrName>style.visibility</p:attrName>
                                        </p:attrNameLst>
                                      </p:cBhvr>
                                      <p:to>
                                        <p:strVal val="visible"/>
                                      </p:to>
                                    </p:set>
                                    <p:animEffect transition="in" filter="strips(downLeft)">
                                      <p:cBhvr>
                                        <p:cTn id="15" dur="500"/>
                                        <p:tgtEl>
                                          <p:spTgt spid="11">
                                            <p:txEl>
                                              <p:pRg st="0" end="0"/>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16" presetClass="entr" presetSubtype="42" fill="hold" nodeType="clickEffect">
                                  <p:stCondLst>
                                    <p:cond delay="0"/>
                                  </p:stCondLst>
                                  <p:childTnLst>
                                    <p:set>
                                      <p:cBhvr>
                                        <p:cTn id="19" dur="1" fill="hold">
                                          <p:stCondLst>
                                            <p:cond delay="0"/>
                                          </p:stCondLst>
                                        </p:cTn>
                                        <p:tgtEl>
                                          <p:spTgt spid="13"/>
                                        </p:tgtEl>
                                        <p:attrNameLst>
                                          <p:attrName>style.visibility</p:attrName>
                                        </p:attrNameLst>
                                      </p:cBhvr>
                                      <p:to>
                                        <p:strVal val="visible"/>
                                      </p:to>
                                    </p:set>
                                    <p:animEffect transition="in" filter="barn(outHorizontal)">
                                      <p:cBhvr>
                                        <p:cTn id="20" dur="500"/>
                                        <p:tgtEl>
                                          <p:spTgt spid="13"/>
                                        </p:tgtEl>
                                      </p:cBhvr>
                                    </p:animEffect>
                                  </p:childTnLst>
                                </p:cTn>
                              </p:par>
                            </p:childTnLst>
                          </p:cTn>
                        </p:par>
                      </p:childTnLst>
                    </p:cTn>
                  </p:par>
                  <p:par>
                    <p:cTn id="21" fill="hold">
                      <p:stCondLst>
                        <p:cond delay="indefinite"/>
                      </p:stCondLst>
                      <p:childTnLst>
                        <p:par>
                          <p:cTn id="22" fill="hold">
                            <p:stCondLst>
                              <p:cond delay="0"/>
                            </p:stCondLst>
                            <p:childTnLst>
                              <p:par>
                                <p:cTn id="23" presetID="16" presetClass="entr" presetSubtype="42" fill="hold" nodeType="clickEffect">
                                  <p:stCondLst>
                                    <p:cond delay="0"/>
                                  </p:stCondLst>
                                  <p:childTnLst>
                                    <p:set>
                                      <p:cBhvr>
                                        <p:cTn id="24" dur="1" fill="hold">
                                          <p:stCondLst>
                                            <p:cond delay="0"/>
                                          </p:stCondLst>
                                        </p:cTn>
                                        <p:tgtEl>
                                          <p:spTgt spid="14"/>
                                        </p:tgtEl>
                                        <p:attrNameLst>
                                          <p:attrName>style.visibility</p:attrName>
                                        </p:attrNameLst>
                                      </p:cBhvr>
                                      <p:to>
                                        <p:strVal val="visible"/>
                                      </p:to>
                                    </p:set>
                                    <p:animEffect transition="in" filter="barn(outHorizontal)">
                                      <p:cBhvr>
                                        <p:cTn id="25"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build="p"/>
      <p:bldP spid="11" grpId="0" build="p"/>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40"/>
          <p:cNvGrpSpPr/>
          <p:nvPr/>
        </p:nvGrpSpPr>
        <p:grpSpPr>
          <a:xfrm>
            <a:off x="3594523" y="2415363"/>
            <a:ext cx="5806654" cy="1519328"/>
            <a:chOff x="5616530" y="-1285285"/>
            <a:chExt cx="6882708" cy="1559404"/>
          </a:xfrm>
        </p:grpSpPr>
        <p:sp>
          <p:nvSpPr>
            <p:cNvPr id="6" name="矩形 5"/>
            <p:cNvSpPr/>
            <p:nvPr/>
          </p:nvSpPr>
          <p:spPr>
            <a:xfrm>
              <a:off x="5637293" y="-136251"/>
              <a:ext cx="3835690" cy="410370"/>
            </a:xfrm>
            <a:prstGeom prst="rect">
              <a:avLst/>
            </a:prstGeom>
          </p:spPr>
          <p:txBody>
            <a:bodyPr wrap="square">
              <a:spAutoFit/>
              <a:scene3d>
                <a:camera prst="orthographicFront"/>
                <a:lightRig rig="threePt" dir="t"/>
              </a:scene3d>
              <a:sp3d contourW="12700"/>
            </a:bodyPr>
            <a:lstStyle/>
            <a:p>
              <a:pPr lvl="0">
                <a:defRPr/>
              </a:pPr>
              <a:endParaRPr lang="zh-CN" altLang="en-US" sz="1400" dirty="0">
                <a:solidFill>
                  <a:schemeClr val="bg1">
                    <a:lumMod val="65000"/>
                  </a:schemeClr>
                </a:solidFill>
                <a:latin typeface="微软雅黑" panose="020B0503020204020204" charset="-122"/>
                <a:ea typeface="微软雅黑" panose="020B0503020204020204" charset="-122"/>
                <a:cs typeface="微软雅黑" panose="020B0503020204020204" charset="-122"/>
              </a:endParaRPr>
            </a:p>
          </p:txBody>
        </p:sp>
        <p:sp>
          <p:nvSpPr>
            <p:cNvPr id="7" name="文本框 6"/>
            <p:cNvSpPr txBox="1"/>
            <p:nvPr/>
          </p:nvSpPr>
          <p:spPr>
            <a:xfrm>
              <a:off x="5616530" y="-1285285"/>
              <a:ext cx="6882708" cy="789737"/>
            </a:xfrm>
            <a:prstGeom prst="rect">
              <a:avLst/>
            </a:prstGeom>
            <a:noFill/>
          </p:spPr>
          <p:txBody>
            <a:bodyPr wrap="none" rtlCol="0">
              <a:spAutoFit/>
              <a:scene3d>
                <a:camera prst="orthographicFront"/>
                <a:lightRig rig="threePt" dir="t"/>
              </a:scene3d>
              <a:sp3d contourW="12700"/>
            </a:bodyPr>
            <a:lstStyle/>
            <a:p>
              <a:r>
                <a:rPr lang="en-US" altLang="zh-CN" sz="4400" b="1" dirty="0">
                  <a:solidFill>
                    <a:srgbClr val="4C4C4C"/>
                  </a:solidFill>
                  <a:latin typeface="微软雅黑" panose="020B0503020204020204" charset="-122"/>
                  <a:ea typeface="微软雅黑" panose="020B0503020204020204" charset="-122"/>
                  <a:cs typeface="微软雅黑" panose="020B0503020204020204" charset="-122"/>
                </a:rPr>
                <a:t>Applications of GPT</a:t>
              </a:r>
              <a:endParaRPr lang="zh-CN" altLang="en-US" sz="4400" b="1" dirty="0">
                <a:solidFill>
                  <a:srgbClr val="4C4C4C"/>
                </a:solidFill>
                <a:latin typeface="微软雅黑" panose="020B0503020204020204" charset="-122"/>
                <a:ea typeface="微软雅黑" panose="020B0503020204020204" charset="-122"/>
                <a:cs typeface="微软雅黑" panose="020B0503020204020204" charset="-122"/>
              </a:endParaRPr>
            </a:p>
          </p:txBody>
        </p:sp>
      </p:grpSp>
      <p:sp>
        <p:nvSpPr>
          <p:cNvPr id="8" name="文本框 7"/>
          <p:cNvSpPr txBox="1"/>
          <p:nvPr/>
        </p:nvSpPr>
        <p:spPr>
          <a:xfrm>
            <a:off x="784267" y="2015254"/>
            <a:ext cx="2825828" cy="2091690"/>
          </a:xfrm>
          <a:prstGeom prst="rect">
            <a:avLst/>
          </a:prstGeom>
          <a:noFill/>
        </p:spPr>
        <p:txBody>
          <a:bodyPr wrap="square" rtlCol="0">
            <a:spAutoFit/>
          </a:bodyPr>
          <a:lstStyle/>
          <a:p>
            <a:r>
              <a:rPr kumimoji="1" lang="en-US" altLang="zh-CN" sz="13000" b="1" i="1" dirty="0">
                <a:solidFill>
                  <a:schemeClr val="bg1">
                    <a:lumMod val="65000"/>
                  </a:schemeClr>
                </a:solidFill>
                <a:latin typeface="微软雅黑" panose="020B0503020204020204" charset="-122"/>
                <a:ea typeface="微软雅黑" panose="020B0503020204020204" charset="-122"/>
                <a:cs typeface="微软雅黑" panose="020B0503020204020204" charset="-122"/>
              </a:rPr>
              <a:t>02.</a:t>
            </a:r>
            <a:endParaRPr kumimoji="1" lang="zh-CN" altLang="en-US" sz="13000" b="1" i="1" dirty="0">
              <a:solidFill>
                <a:schemeClr val="bg1">
                  <a:lumMod val="65000"/>
                </a:schemeClr>
              </a:solidFill>
              <a:latin typeface="微软雅黑" panose="020B0503020204020204" charset="-122"/>
              <a:ea typeface="微软雅黑" panose="020B0503020204020204" charset="-122"/>
              <a:cs typeface="微软雅黑" panose="020B0503020204020204" charset="-122"/>
            </a:endParaRPr>
          </a:p>
        </p:txBody>
      </p:sp>
      <p:pic>
        <p:nvPicPr>
          <p:cNvPr id="10" name="图片 9"/>
          <p:cNvPicPr>
            <a:picLocks noChangeAspect="1"/>
          </p:cNvPicPr>
          <p:nvPr/>
        </p:nvPicPr>
        <p:blipFill>
          <a:blip r:embed="rId2" cstate="screen"/>
          <a:stretch>
            <a:fillRect/>
          </a:stretch>
        </p:blipFill>
        <p:spPr>
          <a:xfrm>
            <a:off x="7265049" y="2133600"/>
            <a:ext cx="4926953" cy="4724400"/>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1500" advTm="0">
        <p:random/>
      </p:transition>
    </mc:Choice>
    <mc:Fallback xmlns="">
      <p:transition spd="slow" advTm="0">
        <p:random/>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additive="base">
                                        <p:cTn id="7" dur="500" fill="hold"/>
                                        <p:tgtEl>
                                          <p:spTgt spid="8"/>
                                        </p:tgtEl>
                                        <p:attrNameLst>
                                          <p:attrName>ppt_x</p:attrName>
                                        </p:attrNameLst>
                                      </p:cBhvr>
                                      <p:tavLst>
                                        <p:tav tm="0">
                                          <p:val>
                                            <p:strVal val="#ppt_x"/>
                                          </p:val>
                                        </p:tav>
                                        <p:tav tm="100000">
                                          <p:val>
                                            <p:strVal val="#ppt_x"/>
                                          </p:val>
                                        </p:tav>
                                      </p:tavLst>
                                    </p:anim>
                                    <p:anim calcmode="lin" valueType="num">
                                      <p:cBhvr additive="base">
                                        <p:cTn id="8" dur="500" fill="hold"/>
                                        <p:tgtEl>
                                          <p:spTgt spid="8"/>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4"/>
                                        </p:tgtEl>
                                        <p:attrNameLst>
                                          <p:attrName>style.visibility</p:attrName>
                                        </p:attrNameLst>
                                      </p:cBhvr>
                                      <p:to>
                                        <p:strVal val="visible"/>
                                      </p:to>
                                    </p:set>
                                    <p:anim calcmode="lin" valueType="num">
                                      <p:cBhvr additive="base">
                                        <p:cTn id="13" dur="500" fill="hold"/>
                                        <p:tgtEl>
                                          <p:spTgt spid="4"/>
                                        </p:tgtEl>
                                        <p:attrNameLst>
                                          <p:attrName>ppt_x</p:attrName>
                                        </p:attrNameLst>
                                      </p:cBhvr>
                                      <p:tavLst>
                                        <p:tav tm="0">
                                          <p:val>
                                            <p:strVal val="#ppt_x"/>
                                          </p:val>
                                        </p:tav>
                                        <p:tav tm="100000">
                                          <p:val>
                                            <p:strVal val="#ppt_x"/>
                                          </p:val>
                                        </p:tav>
                                      </p:tavLst>
                                    </p:anim>
                                    <p:anim calcmode="lin" valueType="num">
                                      <p:cBhvr additive="base">
                                        <p:cTn id="14" dur="500" fill="hold"/>
                                        <p:tgtEl>
                                          <p:spTgt spid="4"/>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53" presetClass="entr" presetSubtype="16" fill="hold" nodeType="clickEffect">
                                  <p:stCondLst>
                                    <p:cond delay="0"/>
                                  </p:stCondLst>
                                  <p:childTnLst>
                                    <p:set>
                                      <p:cBhvr>
                                        <p:cTn id="18" dur="1" fill="hold">
                                          <p:stCondLst>
                                            <p:cond delay="0"/>
                                          </p:stCondLst>
                                        </p:cTn>
                                        <p:tgtEl>
                                          <p:spTgt spid="10"/>
                                        </p:tgtEl>
                                        <p:attrNameLst>
                                          <p:attrName>style.visibility</p:attrName>
                                        </p:attrNameLst>
                                      </p:cBhvr>
                                      <p:to>
                                        <p:strVal val="visible"/>
                                      </p:to>
                                    </p:set>
                                    <p:anim calcmode="lin" valueType="num">
                                      <p:cBhvr>
                                        <p:cTn id="19" dur="500" fill="hold"/>
                                        <p:tgtEl>
                                          <p:spTgt spid="10"/>
                                        </p:tgtEl>
                                        <p:attrNameLst>
                                          <p:attrName>ppt_w</p:attrName>
                                        </p:attrNameLst>
                                      </p:cBhvr>
                                      <p:tavLst>
                                        <p:tav tm="0">
                                          <p:val>
                                            <p:fltVal val="0"/>
                                          </p:val>
                                        </p:tav>
                                        <p:tav tm="100000">
                                          <p:val>
                                            <p:strVal val="#ppt_w"/>
                                          </p:val>
                                        </p:tav>
                                      </p:tavLst>
                                    </p:anim>
                                    <p:anim calcmode="lin" valueType="num">
                                      <p:cBhvr>
                                        <p:cTn id="20" dur="500" fill="hold"/>
                                        <p:tgtEl>
                                          <p:spTgt spid="10"/>
                                        </p:tgtEl>
                                        <p:attrNameLst>
                                          <p:attrName>ppt_h</p:attrName>
                                        </p:attrNameLst>
                                      </p:cBhvr>
                                      <p:tavLst>
                                        <p:tav tm="0">
                                          <p:val>
                                            <p:fltVal val="0"/>
                                          </p:val>
                                        </p:tav>
                                        <p:tav tm="100000">
                                          <p:val>
                                            <p:strVal val="#ppt_h"/>
                                          </p:val>
                                        </p:tav>
                                      </p:tavLst>
                                    </p:anim>
                                    <p:animEffect transition="in" filter="fade">
                                      <p:cBhvr>
                                        <p:cTn id="21"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24"/>
          <p:cNvGrpSpPr/>
          <p:nvPr/>
        </p:nvGrpSpPr>
        <p:grpSpPr>
          <a:xfrm>
            <a:off x="585126" y="1170639"/>
            <a:ext cx="652780" cy="3713245"/>
            <a:chOff x="6629352" y="1760489"/>
            <a:chExt cx="870376" cy="4951000"/>
          </a:xfrm>
        </p:grpSpPr>
        <p:sp>
          <p:nvSpPr>
            <p:cNvPr id="3" name="文本框 2"/>
            <p:cNvSpPr txBox="1"/>
            <p:nvPr/>
          </p:nvSpPr>
          <p:spPr>
            <a:xfrm rot="10800000">
              <a:off x="6695207" y="2497937"/>
              <a:ext cx="738666" cy="4213552"/>
            </a:xfrm>
            <a:prstGeom prst="rect">
              <a:avLst/>
            </a:prstGeom>
            <a:noFill/>
          </p:spPr>
          <p:txBody>
            <a:bodyPr vert="eaVert" wrap="none" rtlCol="0">
              <a:spAutoFit/>
              <a:scene3d>
                <a:camera prst="orthographicFront"/>
                <a:lightRig rig="threePt" dir="t"/>
              </a:scene3d>
              <a:sp3d contourW="12700"/>
            </a:bodyPr>
            <a:lstStyle/>
            <a:p>
              <a:r>
                <a:rPr lang="en-US" altLang="zh-CN" sz="2400" b="1" dirty="0">
                  <a:solidFill>
                    <a:srgbClr val="4C4C4C"/>
                  </a:solidFill>
                  <a:latin typeface="微软雅黑" panose="020B0503020204020204" charset="-122"/>
                  <a:ea typeface="微软雅黑" panose="020B0503020204020204" charset="-122"/>
                  <a:cs typeface="微软雅黑" panose="020B0503020204020204" charset="-122"/>
                </a:rPr>
                <a:t>Applications of GPT</a:t>
              </a:r>
              <a:endParaRPr lang="zh-CN" altLang="en-US" sz="2400" b="1" dirty="0">
                <a:solidFill>
                  <a:srgbClr val="4C4C4C"/>
                </a:solidFill>
                <a:latin typeface="微软雅黑" panose="020B0503020204020204" charset="-122"/>
                <a:ea typeface="微软雅黑" panose="020B0503020204020204" charset="-122"/>
                <a:cs typeface="微软雅黑" panose="020B0503020204020204" charset="-122"/>
              </a:endParaRPr>
            </a:p>
          </p:txBody>
        </p:sp>
        <p:sp>
          <p:nvSpPr>
            <p:cNvPr id="4" name="文本框 3"/>
            <p:cNvSpPr txBox="1"/>
            <p:nvPr/>
          </p:nvSpPr>
          <p:spPr>
            <a:xfrm>
              <a:off x="6629352" y="1760489"/>
              <a:ext cx="870376" cy="737448"/>
            </a:xfrm>
            <a:prstGeom prst="rect">
              <a:avLst/>
            </a:prstGeom>
            <a:noFill/>
          </p:spPr>
          <p:txBody>
            <a:bodyPr wrap="none" rtlCol="0">
              <a:spAutoFit/>
              <a:scene3d>
                <a:camera prst="orthographicFront"/>
                <a:lightRig rig="threePt" dir="t"/>
              </a:scene3d>
              <a:sp3d contourW="12700"/>
            </a:bodyPr>
            <a:lstStyle/>
            <a:p>
              <a:r>
                <a:rPr lang="en-US" altLang="zh-CN" sz="3000" b="1" dirty="0">
                  <a:solidFill>
                    <a:srgbClr val="4C4C4C"/>
                  </a:solidFill>
                  <a:latin typeface="微软雅黑" panose="020B0503020204020204" charset="-122"/>
                  <a:ea typeface="微软雅黑" panose="020B0503020204020204" charset="-122"/>
                  <a:cs typeface="微软雅黑" panose="020B0503020204020204" charset="-122"/>
                </a:rPr>
                <a:t>02</a:t>
              </a:r>
              <a:endParaRPr lang="zh-CN" altLang="en-US" sz="3000" b="1" dirty="0">
                <a:solidFill>
                  <a:srgbClr val="4C4C4C"/>
                </a:solidFill>
                <a:latin typeface="微软雅黑" panose="020B0503020204020204" charset="-122"/>
                <a:ea typeface="微软雅黑" panose="020B0503020204020204" charset="-122"/>
                <a:cs typeface="微软雅黑" panose="020B0503020204020204" charset="-122"/>
              </a:endParaRPr>
            </a:p>
          </p:txBody>
        </p:sp>
      </p:grpSp>
      <p:sp>
        <p:nvSpPr>
          <p:cNvPr id="5" name="TextBox 13"/>
          <p:cNvSpPr txBox="1"/>
          <p:nvPr/>
        </p:nvSpPr>
        <p:spPr>
          <a:xfrm>
            <a:off x="1929189" y="1264973"/>
            <a:ext cx="1327158" cy="389467"/>
          </a:xfrm>
          <a:prstGeom prst="rect">
            <a:avLst/>
          </a:prstGeom>
          <a:noFill/>
        </p:spPr>
        <p:txBody>
          <a:bodyPr wrap="none" lIns="80899" tIns="40450" rIns="80899" bIns="40450" rtlCol="0">
            <a:spAutoFit/>
          </a:bodyPr>
          <a:lstStyle/>
          <a:p>
            <a:r>
              <a:rPr lang="en-US" altLang="zh-CN" sz="2000" b="1" dirty="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sym typeface="+mn-lt"/>
              </a:rPr>
              <a:t>Chatbots</a:t>
            </a:r>
            <a:endParaRPr lang="id-ID" sz="2000" b="1" dirty="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sym typeface="+mn-lt"/>
            </a:endParaRPr>
          </a:p>
        </p:txBody>
      </p:sp>
      <p:grpSp>
        <p:nvGrpSpPr>
          <p:cNvPr id="8" name="组 7"/>
          <p:cNvGrpSpPr/>
          <p:nvPr/>
        </p:nvGrpSpPr>
        <p:grpSpPr>
          <a:xfrm>
            <a:off x="5433553" y="2176953"/>
            <a:ext cx="2311955" cy="2311954"/>
            <a:chOff x="4531894" y="473244"/>
            <a:chExt cx="3577388" cy="3577388"/>
          </a:xfrm>
        </p:grpSpPr>
        <p:sp>
          <p:nvSpPr>
            <p:cNvPr id="6" name="椭圆 5"/>
            <p:cNvSpPr/>
            <p:nvPr/>
          </p:nvSpPr>
          <p:spPr>
            <a:xfrm>
              <a:off x="4531894" y="473244"/>
              <a:ext cx="3577388" cy="3577388"/>
            </a:xfrm>
            <a:prstGeom prst="ellipse">
              <a:avLst/>
            </a:prstGeom>
            <a:noFill/>
            <a:ln>
              <a:solidFill>
                <a:srgbClr val="4C4C4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7" name="Text Placeholder 3"/>
            <p:cNvSpPr txBox="1"/>
            <p:nvPr/>
          </p:nvSpPr>
          <p:spPr>
            <a:xfrm>
              <a:off x="5170654" y="1846122"/>
              <a:ext cx="2428603" cy="804314"/>
            </a:xfrm>
            <a:prstGeom prst="rect">
              <a:avLst/>
            </a:prstGeom>
          </p:spPr>
          <p:txBody>
            <a:bodyPr lIns="68580" tIns="34290" rIns="68580" bIns="34290" anchor="ct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buNone/>
              </a:pPr>
              <a:r>
                <a:rPr lang="en-US" altLang="zh-CN" sz="4800" b="1" dirty="0">
                  <a:solidFill>
                    <a:schemeClr val="tx1">
                      <a:lumMod val="75000"/>
                      <a:lumOff val="25000"/>
                    </a:schemeClr>
                  </a:solidFill>
                  <a:latin typeface="微软雅黑" panose="020B0503020204020204" charset="-122"/>
                  <a:ea typeface="微软雅黑" panose="020B0503020204020204" charset="-122"/>
                </a:rPr>
                <a:t>GPT</a:t>
              </a:r>
              <a:endParaRPr lang="zh-CN" altLang="en-US" sz="4800" b="1" dirty="0">
                <a:solidFill>
                  <a:schemeClr val="tx1">
                    <a:lumMod val="75000"/>
                    <a:lumOff val="25000"/>
                  </a:schemeClr>
                </a:solidFill>
                <a:latin typeface="微软雅黑" panose="020B0503020204020204" charset="-122"/>
                <a:ea typeface="微软雅黑" panose="020B0503020204020204" charset="-122"/>
              </a:endParaRPr>
            </a:p>
          </p:txBody>
        </p:sp>
      </p:grpSp>
      <p:sp>
        <p:nvSpPr>
          <p:cNvPr id="10" name="TextBox 13"/>
          <p:cNvSpPr txBox="1"/>
          <p:nvPr/>
        </p:nvSpPr>
        <p:spPr>
          <a:xfrm>
            <a:off x="5579921" y="4986688"/>
            <a:ext cx="1265539" cy="389467"/>
          </a:xfrm>
          <a:prstGeom prst="rect">
            <a:avLst/>
          </a:prstGeom>
          <a:noFill/>
        </p:spPr>
        <p:txBody>
          <a:bodyPr wrap="none" lIns="80899" tIns="40450" rIns="80899" bIns="40450" rtlCol="0">
            <a:spAutoFit/>
          </a:bodyPr>
          <a:lstStyle/>
          <a:p>
            <a:r>
              <a:rPr lang="en-US" altLang="zh-CN" sz="2000" b="1" dirty="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sym typeface="+mn-lt"/>
              </a:rPr>
              <a:t>Tutoring</a:t>
            </a:r>
            <a:endParaRPr lang="id-ID" sz="2000" b="1" dirty="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sym typeface="+mn-lt"/>
            </a:endParaRPr>
          </a:p>
        </p:txBody>
      </p:sp>
      <p:sp>
        <p:nvSpPr>
          <p:cNvPr id="11" name="TextBox 13"/>
          <p:cNvSpPr txBox="1"/>
          <p:nvPr/>
        </p:nvSpPr>
        <p:spPr>
          <a:xfrm>
            <a:off x="1890043" y="3545756"/>
            <a:ext cx="2732608" cy="389467"/>
          </a:xfrm>
          <a:prstGeom prst="rect">
            <a:avLst/>
          </a:prstGeom>
          <a:noFill/>
        </p:spPr>
        <p:txBody>
          <a:bodyPr wrap="none" lIns="80899" tIns="40450" rIns="80899" bIns="40450" rtlCol="0">
            <a:spAutoFit/>
          </a:bodyPr>
          <a:lstStyle/>
          <a:p>
            <a:r>
              <a:rPr lang="en-US" altLang="zh-CN" sz="2000" b="1" dirty="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sym typeface="+mn-lt"/>
              </a:rPr>
              <a:t>Text Summarization</a:t>
            </a:r>
            <a:endParaRPr lang="id-ID" sz="2000" b="1" dirty="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sym typeface="+mn-lt"/>
            </a:endParaRPr>
          </a:p>
        </p:txBody>
      </p:sp>
      <p:sp>
        <p:nvSpPr>
          <p:cNvPr id="12" name="TextBox 13"/>
          <p:cNvSpPr txBox="1"/>
          <p:nvPr/>
        </p:nvSpPr>
        <p:spPr>
          <a:xfrm>
            <a:off x="1549276" y="2308837"/>
            <a:ext cx="2707793" cy="389467"/>
          </a:xfrm>
          <a:prstGeom prst="rect">
            <a:avLst/>
          </a:prstGeom>
          <a:noFill/>
        </p:spPr>
        <p:txBody>
          <a:bodyPr wrap="none" lIns="80899" tIns="40450" rIns="80899" bIns="40450" rtlCol="0">
            <a:spAutoFit/>
          </a:bodyPr>
          <a:lstStyle/>
          <a:p>
            <a:r>
              <a:rPr lang="en-US" altLang="zh-CN" sz="2000" b="1" dirty="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sym typeface="+mn-lt"/>
              </a:rPr>
              <a:t>Content Generation</a:t>
            </a:r>
            <a:endParaRPr lang="id-ID" sz="2000" b="1" dirty="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sym typeface="+mn-lt"/>
            </a:endParaRPr>
          </a:p>
        </p:txBody>
      </p:sp>
      <p:sp>
        <p:nvSpPr>
          <p:cNvPr id="13" name="TextBox 13"/>
          <p:cNvSpPr txBox="1"/>
          <p:nvPr/>
        </p:nvSpPr>
        <p:spPr>
          <a:xfrm>
            <a:off x="1824110" y="4782675"/>
            <a:ext cx="2622385" cy="389467"/>
          </a:xfrm>
          <a:prstGeom prst="rect">
            <a:avLst/>
          </a:prstGeom>
          <a:noFill/>
        </p:spPr>
        <p:txBody>
          <a:bodyPr wrap="none" lIns="80899" tIns="40450" rIns="80899" bIns="40450" rtlCol="0">
            <a:spAutoFit/>
          </a:bodyPr>
          <a:lstStyle/>
          <a:p>
            <a:r>
              <a:rPr lang="en-US" altLang="zh-CN" sz="2000" b="1" dirty="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sym typeface="+mn-lt"/>
              </a:rPr>
              <a:t>Sentiment Analysis</a:t>
            </a:r>
            <a:endParaRPr lang="id-ID" sz="2000" b="1" dirty="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sym typeface="+mn-lt"/>
            </a:endParaRPr>
          </a:p>
        </p:txBody>
      </p:sp>
      <p:sp>
        <p:nvSpPr>
          <p:cNvPr id="14" name="TextBox 13"/>
          <p:cNvSpPr txBox="1"/>
          <p:nvPr/>
        </p:nvSpPr>
        <p:spPr>
          <a:xfrm>
            <a:off x="8216364" y="5349130"/>
            <a:ext cx="2333844" cy="389467"/>
          </a:xfrm>
          <a:prstGeom prst="rect">
            <a:avLst/>
          </a:prstGeom>
          <a:noFill/>
        </p:spPr>
        <p:txBody>
          <a:bodyPr wrap="none" lIns="80899" tIns="40450" rIns="80899" bIns="40450" rtlCol="0">
            <a:spAutoFit/>
          </a:bodyPr>
          <a:lstStyle/>
          <a:p>
            <a:r>
              <a:rPr lang="en-US" altLang="zh-CN" sz="2000" b="1" dirty="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sym typeface="+mn-lt"/>
              </a:rPr>
              <a:t>Code Generation</a:t>
            </a:r>
            <a:endParaRPr lang="id-ID" sz="2000" b="1" dirty="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sym typeface="+mn-lt"/>
            </a:endParaRPr>
          </a:p>
        </p:txBody>
      </p:sp>
      <p:sp>
        <p:nvSpPr>
          <p:cNvPr id="15" name="TextBox 13"/>
          <p:cNvSpPr txBox="1"/>
          <p:nvPr/>
        </p:nvSpPr>
        <p:spPr>
          <a:xfrm>
            <a:off x="8618654" y="3351022"/>
            <a:ext cx="2015167" cy="389467"/>
          </a:xfrm>
          <a:prstGeom prst="rect">
            <a:avLst/>
          </a:prstGeom>
          <a:noFill/>
        </p:spPr>
        <p:txBody>
          <a:bodyPr wrap="none" lIns="80899" tIns="40450" rIns="80899" bIns="40450" rtlCol="0">
            <a:spAutoFit/>
          </a:bodyPr>
          <a:lstStyle/>
          <a:p>
            <a:r>
              <a:rPr lang="en-US" altLang="zh-CN" sz="2000" b="1" dirty="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sym typeface="+mn-lt"/>
              </a:rPr>
              <a:t>Entertainment</a:t>
            </a:r>
            <a:endParaRPr lang="id-ID" sz="2000" b="1" dirty="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sym typeface="+mn-lt"/>
            </a:endParaRPr>
          </a:p>
        </p:txBody>
      </p:sp>
      <p:sp>
        <p:nvSpPr>
          <p:cNvPr id="16" name="TextBox 13"/>
          <p:cNvSpPr txBox="1"/>
          <p:nvPr/>
        </p:nvSpPr>
        <p:spPr>
          <a:xfrm>
            <a:off x="10004802" y="4142112"/>
            <a:ext cx="1442574" cy="389467"/>
          </a:xfrm>
          <a:prstGeom prst="rect">
            <a:avLst/>
          </a:prstGeom>
          <a:noFill/>
        </p:spPr>
        <p:txBody>
          <a:bodyPr wrap="none" lIns="80899" tIns="40450" rIns="80899" bIns="40450" rtlCol="0">
            <a:spAutoFit/>
          </a:bodyPr>
          <a:lstStyle/>
          <a:p>
            <a:r>
              <a:rPr lang="en-US" altLang="zh-CN" sz="2000" b="1" dirty="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sym typeface="+mn-lt"/>
              </a:rPr>
              <a:t>Education</a:t>
            </a:r>
            <a:endParaRPr lang="id-ID" sz="2000" b="1" dirty="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sym typeface="+mn-lt"/>
            </a:endParaRPr>
          </a:p>
        </p:txBody>
      </p:sp>
      <p:sp>
        <p:nvSpPr>
          <p:cNvPr id="17" name="TextBox 13"/>
          <p:cNvSpPr txBox="1"/>
          <p:nvPr/>
        </p:nvSpPr>
        <p:spPr>
          <a:xfrm>
            <a:off x="4446495" y="924585"/>
            <a:ext cx="2926635" cy="389467"/>
          </a:xfrm>
          <a:prstGeom prst="rect">
            <a:avLst/>
          </a:prstGeom>
          <a:noFill/>
        </p:spPr>
        <p:txBody>
          <a:bodyPr wrap="none" lIns="80899" tIns="40450" rIns="80899" bIns="40450" rtlCol="0">
            <a:spAutoFit/>
          </a:bodyPr>
          <a:lstStyle/>
          <a:p>
            <a:r>
              <a:rPr lang="en-US" altLang="zh-CN" sz="2000" b="1" dirty="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sym typeface="+mn-lt"/>
              </a:rPr>
              <a:t>Language Translation</a:t>
            </a:r>
            <a:endParaRPr lang="id-ID" sz="2000" b="1" dirty="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sym typeface="+mn-lt"/>
            </a:endParaRPr>
          </a:p>
        </p:txBody>
      </p:sp>
      <p:sp>
        <p:nvSpPr>
          <p:cNvPr id="18" name="TextBox 13"/>
          <p:cNvSpPr txBox="1"/>
          <p:nvPr/>
        </p:nvSpPr>
        <p:spPr>
          <a:xfrm>
            <a:off x="3256347" y="5605454"/>
            <a:ext cx="1958741" cy="389467"/>
          </a:xfrm>
          <a:prstGeom prst="rect">
            <a:avLst/>
          </a:prstGeom>
          <a:noFill/>
        </p:spPr>
        <p:txBody>
          <a:bodyPr wrap="none" lIns="80899" tIns="40450" rIns="80899" bIns="40450" rtlCol="0">
            <a:spAutoFit/>
          </a:bodyPr>
          <a:lstStyle/>
          <a:p>
            <a:r>
              <a:rPr lang="en-US" altLang="zh-CN" sz="2000" b="1" dirty="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sym typeface="+mn-lt"/>
              </a:rPr>
              <a:t>Data Analysis</a:t>
            </a:r>
            <a:endParaRPr lang="id-ID" sz="2000" b="1" dirty="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sym typeface="+mn-lt"/>
            </a:endParaRPr>
          </a:p>
        </p:txBody>
      </p:sp>
      <p:sp>
        <p:nvSpPr>
          <p:cNvPr id="19" name="TextBox 13"/>
          <p:cNvSpPr txBox="1"/>
          <p:nvPr/>
        </p:nvSpPr>
        <p:spPr>
          <a:xfrm>
            <a:off x="9107393" y="2176953"/>
            <a:ext cx="2517549" cy="389467"/>
          </a:xfrm>
          <a:prstGeom prst="rect">
            <a:avLst/>
          </a:prstGeom>
          <a:noFill/>
        </p:spPr>
        <p:txBody>
          <a:bodyPr wrap="none" lIns="80899" tIns="40450" rIns="80899" bIns="40450" rtlCol="0">
            <a:spAutoFit/>
          </a:bodyPr>
          <a:lstStyle/>
          <a:p>
            <a:r>
              <a:rPr lang="en-US" altLang="zh-CN" sz="2000" b="1" dirty="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sym typeface="+mn-lt"/>
              </a:rPr>
              <a:t>Personal Assistant</a:t>
            </a:r>
            <a:endParaRPr lang="id-ID" sz="2000" b="1" dirty="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sym typeface="+mn-lt"/>
            </a:endParaRPr>
          </a:p>
        </p:txBody>
      </p:sp>
      <p:sp>
        <p:nvSpPr>
          <p:cNvPr id="20" name="TextBox 13"/>
          <p:cNvSpPr txBox="1"/>
          <p:nvPr/>
        </p:nvSpPr>
        <p:spPr>
          <a:xfrm>
            <a:off x="8216364" y="1213568"/>
            <a:ext cx="2417457" cy="389467"/>
          </a:xfrm>
          <a:prstGeom prst="rect">
            <a:avLst/>
          </a:prstGeom>
          <a:noFill/>
        </p:spPr>
        <p:txBody>
          <a:bodyPr wrap="none" lIns="80899" tIns="40450" rIns="80899" bIns="40450" rtlCol="0">
            <a:spAutoFit/>
          </a:bodyPr>
          <a:lstStyle/>
          <a:p>
            <a:r>
              <a:rPr lang="en-US" altLang="zh-CN" sz="2000" b="1" dirty="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sym typeface="+mn-lt"/>
              </a:rPr>
              <a:t>Customer Service</a:t>
            </a:r>
            <a:endParaRPr lang="id-ID" sz="2000" b="1" dirty="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sym typeface="+mn-lt"/>
            </a:endParaRPr>
          </a:p>
        </p:txBody>
      </p:sp>
    </p:spTree>
  </p:cSld>
  <p:clrMapOvr>
    <a:masterClrMapping/>
  </p:clrMapOvr>
  <mc:AlternateContent xmlns:mc="http://schemas.openxmlformats.org/markup-compatibility/2006" xmlns:p14="http://schemas.microsoft.com/office/powerpoint/2010/main">
    <mc:Choice Requires="p14">
      <p:transition spd="slow" p14:dur="1500" advTm="0">
        <p:random/>
      </p:transition>
    </mc:Choice>
    <mc:Fallback xmlns="">
      <p:transition spd="slow" advTm="0">
        <p:random/>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1"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p:cTn id="7" dur="1000" fill="hold"/>
                                        <p:tgtEl>
                                          <p:spTgt spid="8"/>
                                        </p:tgtEl>
                                        <p:attrNameLst>
                                          <p:attrName>ppt_w</p:attrName>
                                        </p:attrNameLst>
                                      </p:cBhvr>
                                      <p:tavLst>
                                        <p:tav tm="0">
                                          <p:val>
                                            <p:fltVal val="0"/>
                                          </p:val>
                                        </p:tav>
                                        <p:tav tm="100000">
                                          <p:val>
                                            <p:strVal val="#ppt_w"/>
                                          </p:val>
                                        </p:tav>
                                      </p:tavLst>
                                    </p:anim>
                                    <p:anim calcmode="lin" valueType="num">
                                      <p:cBhvr>
                                        <p:cTn id="8" dur="1000" fill="hold"/>
                                        <p:tgtEl>
                                          <p:spTgt spid="8"/>
                                        </p:tgtEl>
                                        <p:attrNameLst>
                                          <p:attrName>ppt_h</p:attrName>
                                        </p:attrNameLst>
                                      </p:cBhvr>
                                      <p:tavLst>
                                        <p:tav tm="0">
                                          <p:val>
                                            <p:fltVal val="0"/>
                                          </p:val>
                                        </p:tav>
                                        <p:tav tm="100000">
                                          <p:val>
                                            <p:strVal val="#ppt_h"/>
                                          </p:val>
                                        </p:tav>
                                      </p:tavLst>
                                    </p:anim>
                                    <p:anim calcmode="lin" valueType="num">
                                      <p:cBhvr>
                                        <p:cTn id="9" dur="1000" fill="hold"/>
                                        <p:tgtEl>
                                          <p:spTgt spid="8"/>
                                        </p:tgtEl>
                                        <p:attrNameLst>
                                          <p:attrName>style.rotation</p:attrName>
                                        </p:attrNameLst>
                                      </p:cBhvr>
                                      <p:tavLst>
                                        <p:tav tm="0">
                                          <p:val>
                                            <p:fltVal val="90"/>
                                          </p:val>
                                        </p:tav>
                                        <p:tav tm="100000">
                                          <p:val>
                                            <p:fltVal val="0"/>
                                          </p:val>
                                        </p:tav>
                                      </p:tavLst>
                                    </p:anim>
                                    <p:animEffect transition="in" filter="fade">
                                      <p:cBhvr>
                                        <p:cTn id="10" dur="1000"/>
                                        <p:tgtEl>
                                          <p:spTgt spid="8"/>
                                        </p:tgtEl>
                                      </p:cBhvr>
                                    </p:animEffect>
                                  </p:childTnLst>
                                </p:cTn>
                              </p:par>
                            </p:childTnLst>
                          </p:cTn>
                        </p:par>
                      </p:childTnLst>
                    </p:cTn>
                  </p:par>
                  <p:par>
                    <p:cTn id="11" fill="hold">
                      <p:stCondLst>
                        <p:cond delay="indefinite"/>
                      </p:stCondLst>
                      <p:childTnLst>
                        <p:par>
                          <p:cTn id="12" fill="hold">
                            <p:stCondLst>
                              <p:cond delay="0"/>
                            </p:stCondLst>
                            <p:childTnLst>
                              <p:par>
                                <p:cTn id="13" presetID="53" presetClass="entr" presetSubtype="16" fill="hold" nodeType="clickEffect">
                                  <p:stCondLst>
                                    <p:cond delay="0"/>
                                  </p:stCondLst>
                                  <p:childTnLst>
                                    <p:set>
                                      <p:cBhvr>
                                        <p:cTn id="14" dur="1" fill="hold">
                                          <p:stCondLst>
                                            <p:cond delay="0"/>
                                          </p:stCondLst>
                                        </p:cTn>
                                        <p:tgtEl>
                                          <p:spTgt spid="5">
                                            <p:txEl>
                                              <p:pRg st="0" end="0"/>
                                            </p:txEl>
                                          </p:spTgt>
                                        </p:tgtEl>
                                        <p:attrNameLst>
                                          <p:attrName>style.visibility</p:attrName>
                                        </p:attrNameLst>
                                      </p:cBhvr>
                                      <p:to>
                                        <p:strVal val="visible"/>
                                      </p:to>
                                    </p:set>
                                    <p:anim calcmode="lin" valueType="num">
                                      <p:cBhvr>
                                        <p:cTn id="15" dur="500" fill="hold"/>
                                        <p:tgtEl>
                                          <p:spTgt spid="5">
                                            <p:txEl>
                                              <p:pRg st="0" end="0"/>
                                            </p:txEl>
                                          </p:spTgt>
                                        </p:tgtEl>
                                        <p:attrNameLst>
                                          <p:attrName>ppt_w</p:attrName>
                                        </p:attrNameLst>
                                      </p:cBhvr>
                                      <p:tavLst>
                                        <p:tav tm="0">
                                          <p:val>
                                            <p:fltVal val="0"/>
                                          </p:val>
                                        </p:tav>
                                        <p:tav tm="100000">
                                          <p:val>
                                            <p:strVal val="#ppt_w"/>
                                          </p:val>
                                        </p:tav>
                                      </p:tavLst>
                                    </p:anim>
                                    <p:anim calcmode="lin" valueType="num">
                                      <p:cBhvr>
                                        <p:cTn id="16" dur="500" fill="hold"/>
                                        <p:tgtEl>
                                          <p:spTgt spid="5">
                                            <p:txEl>
                                              <p:pRg st="0" end="0"/>
                                            </p:txEl>
                                          </p:spTgt>
                                        </p:tgtEl>
                                        <p:attrNameLst>
                                          <p:attrName>ppt_h</p:attrName>
                                        </p:attrNameLst>
                                      </p:cBhvr>
                                      <p:tavLst>
                                        <p:tav tm="0">
                                          <p:val>
                                            <p:fltVal val="0"/>
                                          </p:val>
                                        </p:tav>
                                        <p:tav tm="100000">
                                          <p:val>
                                            <p:strVal val="#ppt_h"/>
                                          </p:val>
                                        </p:tav>
                                      </p:tavLst>
                                    </p:anim>
                                    <p:animEffect transition="in" filter="fade">
                                      <p:cBhvr>
                                        <p:cTn id="17" dur="500"/>
                                        <p:tgtEl>
                                          <p:spTgt spid="5">
                                            <p:txEl>
                                              <p:pRg st="0" end="0"/>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53" presetClass="entr" presetSubtype="16" fill="hold" nodeType="clickEffect">
                                  <p:stCondLst>
                                    <p:cond delay="0"/>
                                  </p:stCondLst>
                                  <p:childTnLst>
                                    <p:set>
                                      <p:cBhvr>
                                        <p:cTn id="21" dur="1" fill="hold">
                                          <p:stCondLst>
                                            <p:cond delay="0"/>
                                          </p:stCondLst>
                                        </p:cTn>
                                        <p:tgtEl>
                                          <p:spTgt spid="10">
                                            <p:txEl>
                                              <p:pRg st="0" end="0"/>
                                            </p:txEl>
                                          </p:spTgt>
                                        </p:tgtEl>
                                        <p:attrNameLst>
                                          <p:attrName>style.visibility</p:attrName>
                                        </p:attrNameLst>
                                      </p:cBhvr>
                                      <p:to>
                                        <p:strVal val="visible"/>
                                      </p:to>
                                    </p:set>
                                    <p:anim calcmode="lin" valueType="num">
                                      <p:cBhvr>
                                        <p:cTn id="22" dur="500" fill="hold"/>
                                        <p:tgtEl>
                                          <p:spTgt spid="10">
                                            <p:txEl>
                                              <p:pRg st="0" end="0"/>
                                            </p:txEl>
                                          </p:spTgt>
                                        </p:tgtEl>
                                        <p:attrNameLst>
                                          <p:attrName>ppt_w</p:attrName>
                                        </p:attrNameLst>
                                      </p:cBhvr>
                                      <p:tavLst>
                                        <p:tav tm="0">
                                          <p:val>
                                            <p:fltVal val="0"/>
                                          </p:val>
                                        </p:tav>
                                        <p:tav tm="100000">
                                          <p:val>
                                            <p:strVal val="#ppt_w"/>
                                          </p:val>
                                        </p:tav>
                                      </p:tavLst>
                                    </p:anim>
                                    <p:anim calcmode="lin" valueType="num">
                                      <p:cBhvr>
                                        <p:cTn id="23" dur="500" fill="hold"/>
                                        <p:tgtEl>
                                          <p:spTgt spid="10">
                                            <p:txEl>
                                              <p:pRg st="0" end="0"/>
                                            </p:txEl>
                                          </p:spTgt>
                                        </p:tgtEl>
                                        <p:attrNameLst>
                                          <p:attrName>ppt_h</p:attrName>
                                        </p:attrNameLst>
                                      </p:cBhvr>
                                      <p:tavLst>
                                        <p:tav tm="0">
                                          <p:val>
                                            <p:fltVal val="0"/>
                                          </p:val>
                                        </p:tav>
                                        <p:tav tm="100000">
                                          <p:val>
                                            <p:strVal val="#ppt_h"/>
                                          </p:val>
                                        </p:tav>
                                      </p:tavLst>
                                    </p:anim>
                                    <p:animEffect transition="in" filter="fade">
                                      <p:cBhvr>
                                        <p:cTn id="24" dur="500"/>
                                        <p:tgtEl>
                                          <p:spTgt spid="10">
                                            <p:txEl>
                                              <p:pRg st="0" end="0"/>
                                            </p:txEl>
                                          </p:spTgt>
                                        </p:tgtEl>
                                      </p:cBhvr>
                                    </p:animEffect>
                                  </p:childTnLst>
                                </p:cTn>
                              </p:par>
                            </p:childTnLst>
                          </p:cTn>
                        </p:par>
                      </p:childTnLst>
                    </p:cTn>
                  </p:par>
                  <p:par>
                    <p:cTn id="25" fill="hold">
                      <p:stCondLst>
                        <p:cond delay="indefinite"/>
                      </p:stCondLst>
                      <p:childTnLst>
                        <p:par>
                          <p:cTn id="26" fill="hold">
                            <p:stCondLst>
                              <p:cond delay="0"/>
                            </p:stCondLst>
                            <p:childTnLst>
                              <p:par>
                                <p:cTn id="27" presetID="53" presetClass="entr" presetSubtype="16" fill="hold" nodeType="clickEffect">
                                  <p:stCondLst>
                                    <p:cond delay="0"/>
                                  </p:stCondLst>
                                  <p:childTnLst>
                                    <p:set>
                                      <p:cBhvr>
                                        <p:cTn id="28" dur="1" fill="hold">
                                          <p:stCondLst>
                                            <p:cond delay="0"/>
                                          </p:stCondLst>
                                        </p:cTn>
                                        <p:tgtEl>
                                          <p:spTgt spid="11">
                                            <p:txEl>
                                              <p:pRg st="0" end="0"/>
                                            </p:txEl>
                                          </p:spTgt>
                                        </p:tgtEl>
                                        <p:attrNameLst>
                                          <p:attrName>style.visibility</p:attrName>
                                        </p:attrNameLst>
                                      </p:cBhvr>
                                      <p:to>
                                        <p:strVal val="visible"/>
                                      </p:to>
                                    </p:set>
                                    <p:anim calcmode="lin" valueType="num">
                                      <p:cBhvr>
                                        <p:cTn id="29" dur="500" fill="hold"/>
                                        <p:tgtEl>
                                          <p:spTgt spid="11">
                                            <p:txEl>
                                              <p:pRg st="0" end="0"/>
                                            </p:txEl>
                                          </p:spTgt>
                                        </p:tgtEl>
                                        <p:attrNameLst>
                                          <p:attrName>ppt_w</p:attrName>
                                        </p:attrNameLst>
                                      </p:cBhvr>
                                      <p:tavLst>
                                        <p:tav tm="0">
                                          <p:val>
                                            <p:fltVal val="0"/>
                                          </p:val>
                                        </p:tav>
                                        <p:tav tm="100000">
                                          <p:val>
                                            <p:strVal val="#ppt_w"/>
                                          </p:val>
                                        </p:tav>
                                      </p:tavLst>
                                    </p:anim>
                                    <p:anim calcmode="lin" valueType="num">
                                      <p:cBhvr>
                                        <p:cTn id="30" dur="500" fill="hold"/>
                                        <p:tgtEl>
                                          <p:spTgt spid="11">
                                            <p:txEl>
                                              <p:pRg st="0" end="0"/>
                                            </p:txEl>
                                          </p:spTgt>
                                        </p:tgtEl>
                                        <p:attrNameLst>
                                          <p:attrName>ppt_h</p:attrName>
                                        </p:attrNameLst>
                                      </p:cBhvr>
                                      <p:tavLst>
                                        <p:tav tm="0">
                                          <p:val>
                                            <p:fltVal val="0"/>
                                          </p:val>
                                        </p:tav>
                                        <p:tav tm="100000">
                                          <p:val>
                                            <p:strVal val="#ppt_h"/>
                                          </p:val>
                                        </p:tav>
                                      </p:tavLst>
                                    </p:anim>
                                    <p:animEffect transition="in" filter="fade">
                                      <p:cBhvr>
                                        <p:cTn id="31" dur="500"/>
                                        <p:tgtEl>
                                          <p:spTgt spid="11">
                                            <p:txEl>
                                              <p:pRg st="0" end="0"/>
                                            </p:txEl>
                                          </p:spTgt>
                                        </p:tgtEl>
                                      </p:cBhvr>
                                    </p:animEffect>
                                  </p:childTnLst>
                                </p:cTn>
                              </p:par>
                            </p:childTnLst>
                          </p:cTn>
                        </p:par>
                      </p:childTnLst>
                    </p:cTn>
                  </p:par>
                  <p:par>
                    <p:cTn id="32" fill="hold">
                      <p:stCondLst>
                        <p:cond delay="indefinite"/>
                      </p:stCondLst>
                      <p:childTnLst>
                        <p:par>
                          <p:cTn id="33" fill="hold">
                            <p:stCondLst>
                              <p:cond delay="0"/>
                            </p:stCondLst>
                            <p:childTnLst>
                              <p:par>
                                <p:cTn id="34" presetID="53" presetClass="entr" presetSubtype="16" fill="hold" nodeType="clickEffect">
                                  <p:stCondLst>
                                    <p:cond delay="0"/>
                                  </p:stCondLst>
                                  <p:childTnLst>
                                    <p:set>
                                      <p:cBhvr>
                                        <p:cTn id="35" dur="1" fill="hold">
                                          <p:stCondLst>
                                            <p:cond delay="0"/>
                                          </p:stCondLst>
                                        </p:cTn>
                                        <p:tgtEl>
                                          <p:spTgt spid="12">
                                            <p:txEl>
                                              <p:pRg st="0" end="0"/>
                                            </p:txEl>
                                          </p:spTgt>
                                        </p:tgtEl>
                                        <p:attrNameLst>
                                          <p:attrName>style.visibility</p:attrName>
                                        </p:attrNameLst>
                                      </p:cBhvr>
                                      <p:to>
                                        <p:strVal val="visible"/>
                                      </p:to>
                                    </p:set>
                                    <p:anim calcmode="lin" valueType="num">
                                      <p:cBhvr>
                                        <p:cTn id="36" dur="500" fill="hold"/>
                                        <p:tgtEl>
                                          <p:spTgt spid="12">
                                            <p:txEl>
                                              <p:pRg st="0" end="0"/>
                                            </p:txEl>
                                          </p:spTgt>
                                        </p:tgtEl>
                                        <p:attrNameLst>
                                          <p:attrName>ppt_w</p:attrName>
                                        </p:attrNameLst>
                                      </p:cBhvr>
                                      <p:tavLst>
                                        <p:tav tm="0">
                                          <p:val>
                                            <p:fltVal val="0"/>
                                          </p:val>
                                        </p:tav>
                                        <p:tav tm="100000">
                                          <p:val>
                                            <p:strVal val="#ppt_w"/>
                                          </p:val>
                                        </p:tav>
                                      </p:tavLst>
                                    </p:anim>
                                    <p:anim calcmode="lin" valueType="num">
                                      <p:cBhvr>
                                        <p:cTn id="37" dur="500" fill="hold"/>
                                        <p:tgtEl>
                                          <p:spTgt spid="12">
                                            <p:txEl>
                                              <p:pRg st="0" end="0"/>
                                            </p:txEl>
                                          </p:spTgt>
                                        </p:tgtEl>
                                        <p:attrNameLst>
                                          <p:attrName>ppt_h</p:attrName>
                                        </p:attrNameLst>
                                      </p:cBhvr>
                                      <p:tavLst>
                                        <p:tav tm="0">
                                          <p:val>
                                            <p:fltVal val="0"/>
                                          </p:val>
                                        </p:tav>
                                        <p:tav tm="100000">
                                          <p:val>
                                            <p:strVal val="#ppt_h"/>
                                          </p:val>
                                        </p:tav>
                                      </p:tavLst>
                                    </p:anim>
                                    <p:animEffect transition="in" filter="fade">
                                      <p:cBhvr>
                                        <p:cTn id="38" dur="500"/>
                                        <p:tgtEl>
                                          <p:spTgt spid="12">
                                            <p:txEl>
                                              <p:pRg st="0" end="0"/>
                                            </p:txEl>
                                          </p:spTgt>
                                        </p:tgtEl>
                                      </p:cBhvr>
                                    </p:animEffect>
                                  </p:childTnLst>
                                </p:cTn>
                              </p:par>
                            </p:childTnLst>
                          </p:cTn>
                        </p:par>
                      </p:childTnLst>
                    </p:cTn>
                  </p:par>
                  <p:par>
                    <p:cTn id="39" fill="hold">
                      <p:stCondLst>
                        <p:cond delay="indefinite"/>
                      </p:stCondLst>
                      <p:childTnLst>
                        <p:par>
                          <p:cTn id="40" fill="hold">
                            <p:stCondLst>
                              <p:cond delay="0"/>
                            </p:stCondLst>
                            <p:childTnLst>
                              <p:par>
                                <p:cTn id="41" presetID="53" presetClass="entr" presetSubtype="16" fill="hold" nodeType="clickEffect">
                                  <p:stCondLst>
                                    <p:cond delay="0"/>
                                  </p:stCondLst>
                                  <p:childTnLst>
                                    <p:set>
                                      <p:cBhvr>
                                        <p:cTn id="42" dur="1" fill="hold">
                                          <p:stCondLst>
                                            <p:cond delay="0"/>
                                          </p:stCondLst>
                                        </p:cTn>
                                        <p:tgtEl>
                                          <p:spTgt spid="13">
                                            <p:txEl>
                                              <p:pRg st="0" end="0"/>
                                            </p:txEl>
                                          </p:spTgt>
                                        </p:tgtEl>
                                        <p:attrNameLst>
                                          <p:attrName>style.visibility</p:attrName>
                                        </p:attrNameLst>
                                      </p:cBhvr>
                                      <p:to>
                                        <p:strVal val="visible"/>
                                      </p:to>
                                    </p:set>
                                    <p:anim calcmode="lin" valueType="num">
                                      <p:cBhvr>
                                        <p:cTn id="43" dur="500" fill="hold"/>
                                        <p:tgtEl>
                                          <p:spTgt spid="13">
                                            <p:txEl>
                                              <p:pRg st="0" end="0"/>
                                            </p:txEl>
                                          </p:spTgt>
                                        </p:tgtEl>
                                        <p:attrNameLst>
                                          <p:attrName>ppt_w</p:attrName>
                                        </p:attrNameLst>
                                      </p:cBhvr>
                                      <p:tavLst>
                                        <p:tav tm="0">
                                          <p:val>
                                            <p:fltVal val="0"/>
                                          </p:val>
                                        </p:tav>
                                        <p:tav tm="100000">
                                          <p:val>
                                            <p:strVal val="#ppt_w"/>
                                          </p:val>
                                        </p:tav>
                                      </p:tavLst>
                                    </p:anim>
                                    <p:anim calcmode="lin" valueType="num">
                                      <p:cBhvr>
                                        <p:cTn id="44" dur="500" fill="hold"/>
                                        <p:tgtEl>
                                          <p:spTgt spid="13">
                                            <p:txEl>
                                              <p:pRg st="0" end="0"/>
                                            </p:txEl>
                                          </p:spTgt>
                                        </p:tgtEl>
                                        <p:attrNameLst>
                                          <p:attrName>ppt_h</p:attrName>
                                        </p:attrNameLst>
                                      </p:cBhvr>
                                      <p:tavLst>
                                        <p:tav tm="0">
                                          <p:val>
                                            <p:fltVal val="0"/>
                                          </p:val>
                                        </p:tav>
                                        <p:tav tm="100000">
                                          <p:val>
                                            <p:strVal val="#ppt_h"/>
                                          </p:val>
                                        </p:tav>
                                      </p:tavLst>
                                    </p:anim>
                                    <p:animEffect transition="in" filter="fade">
                                      <p:cBhvr>
                                        <p:cTn id="45" dur="500"/>
                                        <p:tgtEl>
                                          <p:spTgt spid="13">
                                            <p:txEl>
                                              <p:pRg st="0" end="0"/>
                                            </p:txEl>
                                          </p:spTgt>
                                        </p:tgtEl>
                                      </p:cBhvr>
                                    </p:animEffect>
                                  </p:childTnLst>
                                </p:cTn>
                              </p:par>
                            </p:childTnLst>
                          </p:cTn>
                        </p:par>
                      </p:childTnLst>
                    </p:cTn>
                  </p:par>
                  <p:par>
                    <p:cTn id="46" fill="hold">
                      <p:stCondLst>
                        <p:cond delay="indefinite"/>
                      </p:stCondLst>
                      <p:childTnLst>
                        <p:par>
                          <p:cTn id="47" fill="hold">
                            <p:stCondLst>
                              <p:cond delay="0"/>
                            </p:stCondLst>
                            <p:childTnLst>
                              <p:par>
                                <p:cTn id="48" presetID="53" presetClass="entr" presetSubtype="16" fill="hold" nodeType="clickEffect">
                                  <p:stCondLst>
                                    <p:cond delay="0"/>
                                  </p:stCondLst>
                                  <p:childTnLst>
                                    <p:set>
                                      <p:cBhvr>
                                        <p:cTn id="49" dur="1" fill="hold">
                                          <p:stCondLst>
                                            <p:cond delay="0"/>
                                          </p:stCondLst>
                                        </p:cTn>
                                        <p:tgtEl>
                                          <p:spTgt spid="14">
                                            <p:txEl>
                                              <p:pRg st="0" end="0"/>
                                            </p:txEl>
                                          </p:spTgt>
                                        </p:tgtEl>
                                        <p:attrNameLst>
                                          <p:attrName>style.visibility</p:attrName>
                                        </p:attrNameLst>
                                      </p:cBhvr>
                                      <p:to>
                                        <p:strVal val="visible"/>
                                      </p:to>
                                    </p:set>
                                    <p:anim calcmode="lin" valueType="num">
                                      <p:cBhvr>
                                        <p:cTn id="50" dur="500" fill="hold"/>
                                        <p:tgtEl>
                                          <p:spTgt spid="14">
                                            <p:txEl>
                                              <p:pRg st="0" end="0"/>
                                            </p:txEl>
                                          </p:spTgt>
                                        </p:tgtEl>
                                        <p:attrNameLst>
                                          <p:attrName>ppt_w</p:attrName>
                                        </p:attrNameLst>
                                      </p:cBhvr>
                                      <p:tavLst>
                                        <p:tav tm="0">
                                          <p:val>
                                            <p:fltVal val="0"/>
                                          </p:val>
                                        </p:tav>
                                        <p:tav tm="100000">
                                          <p:val>
                                            <p:strVal val="#ppt_w"/>
                                          </p:val>
                                        </p:tav>
                                      </p:tavLst>
                                    </p:anim>
                                    <p:anim calcmode="lin" valueType="num">
                                      <p:cBhvr>
                                        <p:cTn id="51" dur="500" fill="hold"/>
                                        <p:tgtEl>
                                          <p:spTgt spid="14">
                                            <p:txEl>
                                              <p:pRg st="0" end="0"/>
                                            </p:txEl>
                                          </p:spTgt>
                                        </p:tgtEl>
                                        <p:attrNameLst>
                                          <p:attrName>ppt_h</p:attrName>
                                        </p:attrNameLst>
                                      </p:cBhvr>
                                      <p:tavLst>
                                        <p:tav tm="0">
                                          <p:val>
                                            <p:fltVal val="0"/>
                                          </p:val>
                                        </p:tav>
                                        <p:tav tm="100000">
                                          <p:val>
                                            <p:strVal val="#ppt_h"/>
                                          </p:val>
                                        </p:tav>
                                      </p:tavLst>
                                    </p:anim>
                                    <p:animEffect transition="in" filter="fade">
                                      <p:cBhvr>
                                        <p:cTn id="52" dur="500"/>
                                        <p:tgtEl>
                                          <p:spTgt spid="14">
                                            <p:txEl>
                                              <p:pRg st="0" end="0"/>
                                            </p:txEl>
                                          </p:spTgt>
                                        </p:tgtEl>
                                      </p:cBhvr>
                                    </p:animEffect>
                                  </p:childTnLst>
                                </p:cTn>
                              </p:par>
                            </p:childTnLst>
                          </p:cTn>
                        </p:par>
                      </p:childTnLst>
                    </p:cTn>
                  </p:par>
                  <p:par>
                    <p:cTn id="53" fill="hold">
                      <p:stCondLst>
                        <p:cond delay="indefinite"/>
                      </p:stCondLst>
                      <p:childTnLst>
                        <p:par>
                          <p:cTn id="54" fill="hold">
                            <p:stCondLst>
                              <p:cond delay="0"/>
                            </p:stCondLst>
                            <p:childTnLst>
                              <p:par>
                                <p:cTn id="55" presetID="53" presetClass="entr" presetSubtype="16" fill="hold" nodeType="clickEffect">
                                  <p:stCondLst>
                                    <p:cond delay="0"/>
                                  </p:stCondLst>
                                  <p:childTnLst>
                                    <p:set>
                                      <p:cBhvr>
                                        <p:cTn id="56" dur="1" fill="hold">
                                          <p:stCondLst>
                                            <p:cond delay="0"/>
                                          </p:stCondLst>
                                        </p:cTn>
                                        <p:tgtEl>
                                          <p:spTgt spid="15">
                                            <p:txEl>
                                              <p:pRg st="0" end="0"/>
                                            </p:txEl>
                                          </p:spTgt>
                                        </p:tgtEl>
                                        <p:attrNameLst>
                                          <p:attrName>style.visibility</p:attrName>
                                        </p:attrNameLst>
                                      </p:cBhvr>
                                      <p:to>
                                        <p:strVal val="visible"/>
                                      </p:to>
                                    </p:set>
                                    <p:anim calcmode="lin" valueType="num">
                                      <p:cBhvr>
                                        <p:cTn id="57" dur="500" fill="hold"/>
                                        <p:tgtEl>
                                          <p:spTgt spid="15">
                                            <p:txEl>
                                              <p:pRg st="0" end="0"/>
                                            </p:txEl>
                                          </p:spTgt>
                                        </p:tgtEl>
                                        <p:attrNameLst>
                                          <p:attrName>ppt_w</p:attrName>
                                        </p:attrNameLst>
                                      </p:cBhvr>
                                      <p:tavLst>
                                        <p:tav tm="0">
                                          <p:val>
                                            <p:fltVal val="0"/>
                                          </p:val>
                                        </p:tav>
                                        <p:tav tm="100000">
                                          <p:val>
                                            <p:strVal val="#ppt_w"/>
                                          </p:val>
                                        </p:tav>
                                      </p:tavLst>
                                    </p:anim>
                                    <p:anim calcmode="lin" valueType="num">
                                      <p:cBhvr>
                                        <p:cTn id="58" dur="500" fill="hold"/>
                                        <p:tgtEl>
                                          <p:spTgt spid="15">
                                            <p:txEl>
                                              <p:pRg st="0" end="0"/>
                                            </p:txEl>
                                          </p:spTgt>
                                        </p:tgtEl>
                                        <p:attrNameLst>
                                          <p:attrName>ppt_h</p:attrName>
                                        </p:attrNameLst>
                                      </p:cBhvr>
                                      <p:tavLst>
                                        <p:tav tm="0">
                                          <p:val>
                                            <p:fltVal val="0"/>
                                          </p:val>
                                        </p:tav>
                                        <p:tav tm="100000">
                                          <p:val>
                                            <p:strVal val="#ppt_h"/>
                                          </p:val>
                                        </p:tav>
                                      </p:tavLst>
                                    </p:anim>
                                    <p:animEffect transition="in" filter="fade">
                                      <p:cBhvr>
                                        <p:cTn id="59" dur="500"/>
                                        <p:tgtEl>
                                          <p:spTgt spid="15">
                                            <p:txEl>
                                              <p:pRg st="0" end="0"/>
                                            </p:txEl>
                                          </p:spTgt>
                                        </p:tgtEl>
                                      </p:cBhvr>
                                    </p:animEffect>
                                  </p:childTnLst>
                                </p:cTn>
                              </p:par>
                            </p:childTnLst>
                          </p:cTn>
                        </p:par>
                      </p:childTnLst>
                    </p:cTn>
                  </p:par>
                  <p:par>
                    <p:cTn id="60" fill="hold">
                      <p:stCondLst>
                        <p:cond delay="indefinite"/>
                      </p:stCondLst>
                      <p:childTnLst>
                        <p:par>
                          <p:cTn id="61" fill="hold">
                            <p:stCondLst>
                              <p:cond delay="0"/>
                            </p:stCondLst>
                            <p:childTnLst>
                              <p:par>
                                <p:cTn id="62" presetID="53" presetClass="entr" presetSubtype="16" fill="hold" nodeType="clickEffect">
                                  <p:stCondLst>
                                    <p:cond delay="0"/>
                                  </p:stCondLst>
                                  <p:childTnLst>
                                    <p:set>
                                      <p:cBhvr>
                                        <p:cTn id="63" dur="1" fill="hold">
                                          <p:stCondLst>
                                            <p:cond delay="0"/>
                                          </p:stCondLst>
                                        </p:cTn>
                                        <p:tgtEl>
                                          <p:spTgt spid="16">
                                            <p:txEl>
                                              <p:pRg st="0" end="0"/>
                                            </p:txEl>
                                          </p:spTgt>
                                        </p:tgtEl>
                                        <p:attrNameLst>
                                          <p:attrName>style.visibility</p:attrName>
                                        </p:attrNameLst>
                                      </p:cBhvr>
                                      <p:to>
                                        <p:strVal val="visible"/>
                                      </p:to>
                                    </p:set>
                                    <p:anim calcmode="lin" valueType="num">
                                      <p:cBhvr>
                                        <p:cTn id="64" dur="500" fill="hold"/>
                                        <p:tgtEl>
                                          <p:spTgt spid="16">
                                            <p:txEl>
                                              <p:pRg st="0" end="0"/>
                                            </p:txEl>
                                          </p:spTgt>
                                        </p:tgtEl>
                                        <p:attrNameLst>
                                          <p:attrName>ppt_w</p:attrName>
                                        </p:attrNameLst>
                                      </p:cBhvr>
                                      <p:tavLst>
                                        <p:tav tm="0">
                                          <p:val>
                                            <p:fltVal val="0"/>
                                          </p:val>
                                        </p:tav>
                                        <p:tav tm="100000">
                                          <p:val>
                                            <p:strVal val="#ppt_w"/>
                                          </p:val>
                                        </p:tav>
                                      </p:tavLst>
                                    </p:anim>
                                    <p:anim calcmode="lin" valueType="num">
                                      <p:cBhvr>
                                        <p:cTn id="65" dur="500" fill="hold"/>
                                        <p:tgtEl>
                                          <p:spTgt spid="16">
                                            <p:txEl>
                                              <p:pRg st="0" end="0"/>
                                            </p:txEl>
                                          </p:spTgt>
                                        </p:tgtEl>
                                        <p:attrNameLst>
                                          <p:attrName>ppt_h</p:attrName>
                                        </p:attrNameLst>
                                      </p:cBhvr>
                                      <p:tavLst>
                                        <p:tav tm="0">
                                          <p:val>
                                            <p:fltVal val="0"/>
                                          </p:val>
                                        </p:tav>
                                        <p:tav tm="100000">
                                          <p:val>
                                            <p:strVal val="#ppt_h"/>
                                          </p:val>
                                        </p:tav>
                                      </p:tavLst>
                                    </p:anim>
                                    <p:animEffect transition="in" filter="fade">
                                      <p:cBhvr>
                                        <p:cTn id="66" dur="500"/>
                                        <p:tgtEl>
                                          <p:spTgt spid="16">
                                            <p:txEl>
                                              <p:pRg st="0" end="0"/>
                                            </p:txEl>
                                          </p:spTgt>
                                        </p:tgtEl>
                                      </p:cBhvr>
                                    </p:animEffect>
                                  </p:childTnLst>
                                </p:cTn>
                              </p:par>
                            </p:childTnLst>
                          </p:cTn>
                        </p:par>
                      </p:childTnLst>
                    </p:cTn>
                  </p:par>
                  <p:par>
                    <p:cTn id="67" fill="hold">
                      <p:stCondLst>
                        <p:cond delay="indefinite"/>
                      </p:stCondLst>
                      <p:childTnLst>
                        <p:par>
                          <p:cTn id="68" fill="hold">
                            <p:stCondLst>
                              <p:cond delay="0"/>
                            </p:stCondLst>
                            <p:childTnLst>
                              <p:par>
                                <p:cTn id="69" presetID="53" presetClass="entr" presetSubtype="16" fill="hold" nodeType="clickEffect">
                                  <p:stCondLst>
                                    <p:cond delay="0"/>
                                  </p:stCondLst>
                                  <p:childTnLst>
                                    <p:set>
                                      <p:cBhvr>
                                        <p:cTn id="70" dur="1" fill="hold">
                                          <p:stCondLst>
                                            <p:cond delay="0"/>
                                          </p:stCondLst>
                                        </p:cTn>
                                        <p:tgtEl>
                                          <p:spTgt spid="17">
                                            <p:txEl>
                                              <p:pRg st="0" end="0"/>
                                            </p:txEl>
                                          </p:spTgt>
                                        </p:tgtEl>
                                        <p:attrNameLst>
                                          <p:attrName>style.visibility</p:attrName>
                                        </p:attrNameLst>
                                      </p:cBhvr>
                                      <p:to>
                                        <p:strVal val="visible"/>
                                      </p:to>
                                    </p:set>
                                    <p:anim calcmode="lin" valueType="num">
                                      <p:cBhvr>
                                        <p:cTn id="71" dur="500" fill="hold"/>
                                        <p:tgtEl>
                                          <p:spTgt spid="17">
                                            <p:txEl>
                                              <p:pRg st="0" end="0"/>
                                            </p:txEl>
                                          </p:spTgt>
                                        </p:tgtEl>
                                        <p:attrNameLst>
                                          <p:attrName>ppt_w</p:attrName>
                                        </p:attrNameLst>
                                      </p:cBhvr>
                                      <p:tavLst>
                                        <p:tav tm="0">
                                          <p:val>
                                            <p:fltVal val="0"/>
                                          </p:val>
                                        </p:tav>
                                        <p:tav tm="100000">
                                          <p:val>
                                            <p:strVal val="#ppt_w"/>
                                          </p:val>
                                        </p:tav>
                                      </p:tavLst>
                                    </p:anim>
                                    <p:anim calcmode="lin" valueType="num">
                                      <p:cBhvr>
                                        <p:cTn id="72" dur="500" fill="hold"/>
                                        <p:tgtEl>
                                          <p:spTgt spid="17">
                                            <p:txEl>
                                              <p:pRg st="0" end="0"/>
                                            </p:txEl>
                                          </p:spTgt>
                                        </p:tgtEl>
                                        <p:attrNameLst>
                                          <p:attrName>ppt_h</p:attrName>
                                        </p:attrNameLst>
                                      </p:cBhvr>
                                      <p:tavLst>
                                        <p:tav tm="0">
                                          <p:val>
                                            <p:fltVal val="0"/>
                                          </p:val>
                                        </p:tav>
                                        <p:tav tm="100000">
                                          <p:val>
                                            <p:strVal val="#ppt_h"/>
                                          </p:val>
                                        </p:tav>
                                      </p:tavLst>
                                    </p:anim>
                                    <p:animEffect transition="in" filter="fade">
                                      <p:cBhvr>
                                        <p:cTn id="73" dur="500"/>
                                        <p:tgtEl>
                                          <p:spTgt spid="17">
                                            <p:txEl>
                                              <p:pRg st="0" end="0"/>
                                            </p:txEl>
                                          </p:spTgt>
                                        </p:tgtEl>
                                      </p:cBhvr>
                                    </p:animEffect>
                                  </p:childTnLst>
                                </p:cTn>
                              </p:par>
                            </p:childTnLst>
                          </p:cTn>
                        </p:par>
                      </p:childTnLst>
                    </p:cTn>
                  </p:par>
                  <p:par>
                    <p:cTn id="74" fill="hold">
                      <p:stCondLst>
                        <p:cond delay="indefinite"/>
                      </p:stCondLst>
                      <p:childTnLst>
                        <p:par>
                          <p:cTn id="75" fill="hold">
                            <p:stCondLst>
                              <p:cond delay="0"/>
                            </p:stCondLst>
                            <p:childTnLst>
                              <p:par>
                                <p:cTn id="76" presetID="53" presetClass="entr" presetSubtype="16" fill="hold" nodeType="clickEffect">
                                  <p:stCondLst>
                                    <p:cond delay="0"/>
                                  </p:stCondLst>
                                  <p:childTnLst>
                                    <p:set>
                                      <p:cBhvr>
                                        <p:cTn id="77" dur="1" fill="hold">
                                          <p:stCondLst>
                                            <p:cond delay="0"/>
                                          </p:stCondLst>
                                        </p:cTn>
                                        <p:tgtEl>
                                          <p:spTgt spid="18">
                                            <p:txEl>
                                              <p:pRg st="0" end="0"/>
                                            </p:txEl>
                                          </p:spTgt>
                                        </p:tgtEl>
                                        <p:attrNameLst>
                                          <p:attrName>style.visibility</p:attrName>
                                        </p:attrNameLst>
                                      </p:cBhvr>
                                      <p:to>
                                        <p:strVal val="visible"/>
                                      </p:to>
                                    </p:set>
                                    <p:anim calcmode="lin" valueType="num">
                                      <p:cBhvr>
                                        <p:cTn id="78" dur="500" fill="hold"/>
                                        <p:tgtEl>
                                          <p:spTgt spid="18">
                                            <p:txEl>
                                              <p:pRg st="0" end="0"/>
                                            </p:txEl>
                                          </p:spTgt>
                                        </p:tgtEl>
                                        <p:attrNameLst>
                                          <p:attrName>ppt_w</p:attrName>
                                        </p:attrNameLst>
                                      </p:cBhvr>
                                      <p:tavLst>
                                        <p:tav tm="0">
                                          <p:val>
                                            <p:fltVal val="0"/>
                                          </p:val>
                                        </p:tav>
                                        <p:tav tm="100000">
                                          <p:val>
                                            <p:strVal val="#ppt_w"/>
                                          </p:val>
                                        </p:tav>
                                      </p:tavLst>
                                    </p:anim>
                                    <p:anim calcmode="lin" valueType="num">
                                      <p:cBhvr>
                                        <p:cTn id="79" dur="500" fill="hold"/>
                                        <p:tgtEl>
                                          <p:spTgt spid="18">
                                            <p:txEl>
                                              <p:pRg st="0" end="0"/>
                                            </p:txEl>
                                          </p:spTgt>
                                        </p:tgtEl>
                                        <p:attrNameLst>
                                          <p:attrName>ppt_h</p:attrName>
                                        </p:attrNameLst>
                                      </p:cBhvr>
                                      <p:tavLst>
                                        <p:tav tm="0">
                                          <p:val>
                                            <p:fltVal val="0"/>
                                          </p:val>
                                        </p:tav>
                                        <p:tav tm="100000">
                                          <p:val>
                                            <p:strVal val="#ppt_h"/>
                                          </p:val>
                                        </p:tav>
                                      </p:tavLst>
                                    </p:anim>
                                    <p:animEffect transition="in" filter="fade">
                                      <p:cBhvr>
                                        <p:cTn id="80" dur="500"/>
                                        <p:tgtEl>
                                          <p:spTgt spid="18">
                                            <p:txEl>
                                              <p:pRg st="0" end="0"/>
                                            </p:txEl>
                                          </p:spTgt>
                                        </p:tgtEl>
                                      </p:cBhvr>
                                    </p:animEffect>
                                  </p:childTnLst>
                                </p:cTn>
                              </p:par>
                            </p:childTnLst>
                          </p:cTn>
                        </p:par>
                      </p:childTnLst>
                    </p:cTn>
                  </p:par>
                  <p:par>
                    <p:cTn id="81" fill="hold">
                      <p:stCondLst>
                        <p:cond delay="indefinite"/>
                      </p:stCondLst>
                      <p:childTnLst>
                        <p:par>
                          <p:cTn id="82" fill="hold">
                            <p:stCondLst>
                              <p:cond delay="0"/>
                            </p:stCondLst>
                            <p:childTnLst>
                              <p:par>
                                <p:cTn id="83" presetID="53" presetClass="entr" presetSubtype="16" fill="hold" nodeType="clickEffect">
                                  <p:stCondLst>
                                    <p:cond delay="0"/>
                                  </p:stCondLst>
                                  <p:childTnLst>
                                    <p:set>
                                      <p:cBhvr>
                                        <p:cTn id="84" dur="1" fill="hold">
                                          <p:stCondLst>
                                            <p:cond delay="0"/>
                                          </p:stCondLst>
                                        </p:cTn>
                                        <p:tgtEl>
                                          <p:spTgt spid="19">
                                            <p:txEl>
                                              <p:pRg st="0" end="0"/>
                                            </p:txEl>
                                          </p:spTgt>
                                        </p:tgtEl>
                                        <p:attrNameLst>
                                          <p:attrName>style.visibility</p:attrName>
                                        </p:attrNameLst>
                                      </p:cBhvr>
                                      <p:to>
                                        <p:strVal val="visible"/>
                                      </p:to>
                                    </p:set>
                                    <p:anim calcmode="lin" valueType="num">
                                      <p:cBhvr>
                                        <p:cTn id="85" dur="500" fill="hold"/>
                                        <p:tgtEl>
                                          <p:spTgt spid="19">
                                            <p:txEl>
                                              <p:pRg st="0" end="0"/>
                                            </p:txEl>
                                          </p:spTgt>
                                        </p:tgtEl>
                                        <p:attrNameLst>
                                          <p:attrName>ppt_w</p:attrName>
                                        </p:attrNameLst>
                                      </p:cBhvr>
                                      <p:tavLst>
                                        <p:tav tm="0">
                                          <p:val>
                                            <p:fltVal val="0"/>
                                          </p:val>
                                        </p:tav>
                                        <p:tav tm="100000">
                                          <p:val>
                                            <p:strVal val="#ppt_w"/>
                                          </p:val>
                                        </p:tav>
                                      </p:tavLst>
                                    </p:anim>
                                    <p:anim calcmode="lin" valueType="num">
                                      <p:cBhvr>
                                        <p:cTn id="86" dur="500" fill="hold"/>
                                        <p:tgtEl>
                                          <p:spTgt spid="19">
                                            <p:txEl>
                                              <p:pRg st="0" end="0"/>
                                            </p:txEl>
                                          </p:spTgt>
                                        </p:tgtEl>
                                        <p:attrNameLst>
                                          <p:attrName>ppt_h</p:attrName>
                                        </p:attrNameLst>
                                      </p:cBhvr>
                                      <p:tavLst>
                                        <p:tav tm="0">
                                          <p:val>
                                            <p:fltVal val="0"/>
                                          </p:val>
                                        </p:tav>
                                        <p:tav tm="100000">
                                          <p:val>
                                            <p:strVal val="#ppt_h"/>
                                          </p:val>
                                        </p:tav>
                                      </p:tavLst>
                                    </p:anim>
                                    <p:animEffect transition="in" filter="fade">
                                      <p:cBhvr>
                                        <p:cTn id="87" dur="500"/>
                                        <p:tgtEl>
                                          <p:spTgt spid="19">
                                            <p:txEl>
                                              <p:pRg st="0" end="0"/>
                                            </p:txEl>
                                          </p:spTgt>
                                        </p:tgtEl>
                                      </p:cBhvr>
                                    </p:animEffect>
                                  </p:childTnLst>
                                </p:cTn>
                              </p:par>
                            </p:childTnLst>
                          </p:cTn>
                        </p:par>
                      </p:childTnLst>
                    </p:cTn>
                  </p:par>
                  <p:par>
                    <p:cTn id="88" fill="hold">
                      <p:stCondLst>
                        <p:cond delay="indefinite"/>
                      </p:stCondLst>
                      <p:childTnLst>
                        <p:par>
                          <p:cTn id="89" fill="hold">
                            <p:stCondLst>
                              <p:cond delay="0"/>
                            </p:stCondLst>
                            <p:childTnLst>
                              <p:par>
                                <p:cTn id="90" presetID="53" presetClass="entr" presetSubtype="16" fill="hold" nodeType="clickEffect">
                                  <p:stCondLst>
                                    <p:cond delay="0"/>
                                  </p:stCondLst>
                                  <p:childTnLst>
                                    <p:set>
                                      <p:cBhvr>
                                        <p:cTn id="91" dur="1" fill="hold">
                                          <p:stCondLst>
                                            <p:cond delay="0"/>
                                          </p:stCondLst>
                                        </p:cTn>
                                        <p:tgtEl>
                                          <p:spTgt spid="20">
                                            <p:txEl>
                                              <p:pRg st="0" end="0"/>
                                            </p:txEl>
                                          </p:spTgt>
                                        </p:tgtEl>
                                        <p:attrNameLst>
                                          <p:attrName>style.visibility</p:attrName>
                                        </p:attrNameLst>
                                      </p:cBhvr>
                                      <p:to>
                                        <p:strVal val="visible"/>
                                      </p:to>
                                    </p:set>
                                    <p:anim calcmode="lin" valueType="num">
                                      <p:cBhvr>
                                        <p:cTn id="92" dur="500" fill="hold"/>
                                        <p:tgtEl>
                                          <p:spTgt spid="20">
                                            <p:txEl>
                                              <p:pRg st="0" end="0"/>
                                            </p:txEl>
                                          </p:spTgt>
                                        </p:tgtEl>
                                        <p:attrNameLst>
                                          <p:attrName>ppt_w</p:attrName>
                                        </p:attrNameLst>
                                      </p:cBhvr>
                                      <p:tavLst>
                                        <p:tav tm="0">
                                          <p:val>
                                            <p:fltVal val="0"/>
                                          </p:val>
                                        </p:tav>
                                        <p:tav tm="100000">
                                          <p:val>
                                            <p:strVal val="#ppt_w"/>
                                          </p:val>
                                        </p:tav>
                                      </p:tavLst>
                                    </p:anim>
                                    <p:anim calcmode="lin" valueType="num">
                                      <p:cBhvr>
                                        <p:cTn id="93" dur="500" fill="hold"/>
                                        <p:tgtEl>
                                          <p:spTgt spid="20">
                                            <p:txEl>
                                              <p:pRg st="0" end="0"/>
                                            </p:txEl>
                                          </p:spTgt>
                                        </p:tgtEl>
                                        <p:attrNameLst>
                                          <p:attrName>ppt_h</p:attrName>
                                        </p:attrNameLst>
                                      </p:cBhvr>
                                      <p:tavLst>
                                        <p:tav tm="0">
                                          <p:val>
                                            <p:fltVal val="0"/>
                                          </p:val>
                                        </p:tav>
                                        <p:tav tm="100000">
                                          <p:val>
                                            <p:strVal val="#ppt_h"/>
                                          </p:val>
                                        </p:tav>
                                      </p:tavLst>
                                    </p:anim>
                                    <p:animEffect transition="in" filter="fade">
                                      <p:cBhvr>
                                        <p:cTn id="94" dur="500"/>
                                        <p:tgtEl>
                                          <p:spTgt spid="20">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24"/>
          <p:cNvGrpSpPr/>
          <p:nvPr/>
        </p:nvGrpSpPr>
        <p:grpSpPr>
          <a:xfrm>
            <a:off x="585126" y="1170635"/>
            <a:ext cx="659155" cy="3683278"/>
            <a:chOff x="6629352" y="1760489"/>
            <a:chExt cx="878876" cy="4911044"/>
          </a:xfrm>
        </p:grpSpPr>
        <p:sp>
          <p:nvSpPr>
            <p:cNvPr id="3" name="文本框 2"/>
            <p:cNvSpPr txBox="1"/>
            <p:nvPr/>
          </p:nvSpPr>
          <p:spPr>
            <a:xfrm rot="10800000">
              <a:off x="6700911" y="2499154"/>
              <a:ext cx="735756" cy="4172379"/>
            </a:xfrm>
            <a:prstGeom prst="rect">
              <a:avLst/>
            </a:prstGeom>
            <a:noFill/>
          </p:spPr>
          <p:txBody>
            <a:bodyPr vert="eaVert" wrap="none" rtlCol="0">
              <a:spAutoFit/>
              <a:scene3d>
                <a:camera prst="orthographicFront"/>
                <a:lightRig rig="threePt" dir="t"/>
              </a:scene3d>
              <a:sp3d contourW="12700"/>
            </a:bodyPr>
            <a:lstStyle/>
            <a:p>
              <a:pPr algn="l"/>
              <a:r>
                <a:rPr lang="en-US" altLang="zh-CN" sz="2400" b="1" dirty="0">
                  <a:solidFill>
                    <a:srgbClr val="4C4C4C"/>
                  </a:solidFill>
                  <a:latin typeface="微软雅黑" panose="020B0503020204020204" charset="-122"/>
                  <a:ea typeface="微软雅黑" panose="020B0503020204020204" charset="-122"/>
                  <a:cs typeface="微软雅黑" panose="020B0503020204020204" charset="-122"/>
                  <a:sym typeface="+mn-ea"/>
                </a:rPr>
                <a:t>Applications of GPT</a:t>
              </a:r>
              <a:endParaRPr lang="zh-CN" altLang="en-US" sz="2400" b="1" dirty="0">
                <a:solidFill>
                  <a:srgbClr val="4C4C4C"/>
                </a:solidFill>
                <a:latin typeface="微软雅黑" panose="020B0503020204020204" charset="-122"/>
                <a:ea typeface="微软雅黑" panose="020B0503020204020204" charset="-122"/>
                <a:cs typeface="微软雅黑" panose="020B0503020204020204" charset="-122"/>
              </a:endParaRPr>
            </a:p>
          </p:txBody>
        </p:sp>
        <p:sp>
          <p:nvSpPr>
            <p:cNvPr id="4" name="文本框 3"/>
            <p:cNvSpPr txBox="1"/>
            <p:nvPr/>
          </p:nvSpPr>
          <p:spPr>
            <a:xfrm>
              <a:off x="6629352" y="1760489"/>
              <a:ext cx="878876" cy="738665"/>
            </a:xfrm>
            <a:prstGeom prst="rect">
              <a:avLst/>
            </a:prstGeom>
            <a:noFill/>
          </p:spPr>
          <p:txBody>
            <a:bodyPr wrap="none" rtlCol="0">
              <a:spAutoFit/>
              <a:scene3d>
                <a:camera prst="orthographicFront"/>
                <a:lightRig rig="threePt" dir="t"/>
              </a:scene3d>
              <a:sp3d contourW="12700"/>
            </a:bodyPr>
            <a:lstStyle/>
            <a:p>
              <a:r>
                <a:rPr lang="en-US" altLang="zh-CN" sz="3000" b="1">
                  <a:solidFill>
                    <a:srgbClr val="4C4C4C"/>
                  </a:solidFill>
                  <a:latin typeface="微软雅黑" panose="020B0503020204020204" charset="-122"/>
                  <a:ea typeface="微软雅黑" panose="020B0503020204020204" charset="-122"/>
                  <a:cs typeface="微软雅黑" panose="020B0503020204020204" charset="-122"/>
                </a:rPr>
                <a:t>02</a:t>
              </a:r>
              <a:endParaRPr lang="zh-CN" altLang="en-US" sz="3000" b="1" dirty="0">
                <a:solidFill>
                  <a:srgbClr val="4C4C4C"/>
                </a:solidFill>
                <a:latin typeface="微软雅黑" panose="020B0503020204020204" charset="-122"/>
                <a:ea typeface="微软雅黑" panose="020B0503020204020204" charset="-122"/>
                <a:cs typeface="微软雅黑" panose="020B0503020204020204" charset="-122"/>
              </a:endParaRPr>
            </a:p>
          </p:txBody>
        </p:sp>
      </p:grpSp>
      <p:pic>
        <p:nvPicPr>
          <p:cNvPr id="5" name="图片 4"/>
          <p:cNvPicPr>
            <a:picLocks noChangeAspect="1"/>
          </p:cNvPicPr>
          <p:nvPr/>
        </p:nvPicPr>
        <p:blipFill rotWithShape="1">
          <a:blip r:embed="rId2" cstate="screen">
            <a:extLst>
              <a:ext uri="{BEBA8EAE-BF5A-486C-A8C5-ECC9F3942E4B}">
                <a14:imgProps xmlns:a14="http://schemas.microsoft.com/office/drawing/2010/main">
                  <a14:imgLayer r:embed="rId3">
                    <a14:imgEffect>
                      <a14:saturation sat="33000"/>
                    </a14:imgEffect>
                  </a14:imgLayer>
                </a14:imgProps>
              </a:ext>
            </a:extLst>
          </a:blip>
          <a:srcRect/>
          <a:stretch>
            <a:fillRect/>
          </a:stretch>
        </p:blipFill>
        <p:spPr>
          <a:xfrm>
            <a:off x="1642027" y="834887"/>
            <a:ext cx="9763911" cy="2308926"/>
          </a:xfrm>
          <a:prstGeom prst="rect">
            <a:avLst/>
          </a:prstGeom>
        </p:spPr>
      </p:pic>
      <p:sp>
        <p:nvSpPr>
          <p:cNvPr id="6" name="TextBox 33"/>
          <p:cNvSpPr txBox="1"/>
          <p:nvPr/>
        </p:nvSpPr>
        <p:spPr>
          <a:xfrm>
            <a:off x="1491916" y="3382924"/>
            <a:ext cx="9914021" cy="2807867"/>
          </a:xfrm>
          <a:prstGeom prst="rect">
            <a:avLst/>
          </a:prstGeom>
          <a:noFill/>
        </p:spPr>
        <p:txBody>
          <a:bodyPr wrap="square" lIns="91360" tIns="45680" rIns="91360" bIns="45680" rtlCol="0">
            <a:spAutoFit/>
          </a:bodyPr>
          <a:lstStyle/>
          <a:p>
            <a:pPr>
              <a:lnSpc>
                <a:spcPct val="150000"/>
              </a:lnSpc>
            </a:pPr>
            <a:r>
              <a:rPr lang="en-US" altLang="zh-CN" sz="2000" dirty="0">
                <a:solidFill>
                  <a:schemeClr val="bg1">
                    <a:lumMod val="50000"/>
                  </a:schemeClr>
                </a:solidFill>
                <a:latin typeface="微软雅黑" panose="020B0503020204020204" charset="-122"/>
                <a:ea typeface="微软雅黑" panose="020B0503020204020204" charset="-122"/>
                <a:cs typeface="微软雅黑" panose="020B0503020204020204" charset="-122"/>
                <a:sym typeface="+mn-lt"/>
              </a:rPr>
              <a:t>GPT can be used as a personal assistant to help manage daily tasks. For example, it can draft emails or messages based on your instructions, summarize long articles or reports for quick understanding, provide reminders for important dates or tasks, and even help with online shopping by comparing products based on reviews and descriptions. This can save time and effort, making daily life more efficient and convenient.</a:t>
            </a:r>
            <a:endParaRPr lang="zh-CN" altLang="en-US" sz="2000" dirty="0">
              <a:solidFill>
                <a:schemeClr val="bg1">
                  <a:lumMod val="50000"/>
                </a:schemeClr>
              </a:solidFill>
              <a:latin typeface="微软雅黑" panose="020B0503020204020204" charset="-122"/>
              <a:ea typeface="微软雅黑" panose="020B0503020204020204" charset="-122"/>
              <a:cs typeface="微软雅黑" panose="020B0503020204020204" charset="-122"/>
              <a:sym typeface="+mn-lt"/>
            </a:endParaRPr>
          </a:p>
        </p:txBody>
      </p:sp>
    </p:spTree>
  </p:cSld>
  <p:clrMapOvr>
    <a:masterClrMapping/>
  </p:clrMapOvr>
  <mc:AlternateContent xmlns:mc="http://schemas.openxmlformats.org/markup-compatibility/2006" xmlns:p14="http://schemas.microsoft.com/office/powerpoint/2010/main">
    <mc:Choice Requires="p14">
      <p:transition spd="slow" p14:dur="1500" advTm="0">
        <p:random/>
      </p:transition>
    </mc:Choice>
    <mc:Fallback xmlns="">
      <p:transition spd="slow" advTm="0">
        <p:random/>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checkerboard(across)">
                                      <p:cBhvr>
                                        <p:cTn id="7" dur="500"/>
                                        <p:tgtEl>
                                          <p:spTgt spid="5"/>
                                        </p:tgtEl>
                                      </p:cBhvr>
                                    </p:animEffect>
                                  </p:childTnLst>
                                </p:cTn>
                              </p:par>
                              <p:par>
                                <p:cTn id="8" presetID="10" presetClass="entr" presetSubtype="0" fill="hold" grpId="0" nodeType="withEffect">
                                  <p:stCondLst>
                                    <p:cond delay="50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40"/>
          <p:cNvGrpSpPr/>
          <p:nvPr/>
        </p:nvGrpSpPr>
        <p:grpSpPr>
          <a:xfrm>
            <a:off x="3594521" y="2415363"/>
            <a:ext cx="6335452" cy="1169551"/>
            <a:chOff x="5616530" y="-1285285"/>
            <a:chExt cx="8447268" cy="1559404"/>
          </a:xfrm>
        </p:grpSpPr>
        <p:sp>
          <p:nvSpPr>
            <p:cNvPr id="6" name="矩形 5"/>
            <p:cNvSpPr/>
            <p:nvPr/>
          </p:nvSpPr>
          <p:spPr>
            <a:xfrm>
              <a:off x="5637293" y="-136251"/>
              <a:ext cx="3835694" cy="410370"/>
            </a:xfrm>
            <a:prstGeom prst="rect">
              <a:avLst/>
            </a:prstGeom>
          </p:spPr>
          <p:txBody>
            <a:bodyPr wrap="square">
              <a:spAutoFit/>
              <a:scene3d>
                <a:camera prst="orthographicFront"/>
                <a:lightRig rig="threePt" dir="t"/>
              </a:scene3d>
              <a:sp3d contourW="12700"/>
            </a:bodyPr>
            <a:lstStyle/>
            <a:p>
              <a:pPr lvl="0">
                <a:defRPr/>
              </a:pPr>
              <a:endParaRPr lang="zh-CN" altLang="en-US" sz="1400" dirty="0">
                <a:solidFill>
                  <a:schemeClr val="bg1">
                    <a:lumMod val="65000"/>
                  </a:schemeClr>
                </a:solidFill>
                <a:latin typeface="微软雅黑" panose="020B0503020204020204" charset="-122"/>
                <a:ea typeface="微软雅黑" panose="020B0503020204020204" charset="-122"/>
                <a:cs typeface="微软雅黑" panose="020B0503020204020204" charset="-122"/>
              </a:endParaRPr>
            </a:p>
          </p:txBody>
        </p:sp>
        <p:sp>
          <p:nvSpPr>
            <p:cNvPr id="7" name="文本框 6"/>
            <p:cNvSpPr txBox="1"/>
            <p:nvPr/>
          </p:nvSpPr>
          <p:spPr>
            <a:xfrm>
              <a:off x="5616530" y="-1285285"/>
              <a:ext cx="8447268" cy="1025923"/>
            </a:xfrm>
            <a:prstGeom prst="rect">
              <a:avLst/>
            </a:prstGeom>
            <a:noFill/>
          </p:spPr>
          <p:txBody>
            <a:bodyPr wrap="none" rtlCol="0">
              <a:spAutoFit/>
              <a:scene3d>
                <a:camera prst="orthographicFront"/>
                <a:lightRig rig="threePt" dir="t"/>
              </a:scene3d>
              <a:sp3d contourW="12700"/>
            </a:bodyPr>
            <a:lstStyle/>
            <a:p>
              <a:r>
                <a:rPr lang="en-US" altLang="zh-CN" sz="4400" b="1" dirty="0">
                  <a:solidFill>
                    <a:srgbClr val="4C4C4C"/>
                  </a:solidFill>
                  <a:latin typeface="微软雅黑" panose="020B0503020204020204" charset="-122"/>
                  <a:ea typeface="微软雅黑" panose="020B0503020204020204" charset="-122"/>
                  <a:cs typeface="微软雅黑" panose="020B0503020204020204" charset="-122"/>
                </a:rPr>
                <a:t>Impact of GPT on Life</a:t>
              </a:r>
              <a:endParaRPr lang="zh-CN" altLang="en-US" sz="4400" b="1" dirty="0">
                <a:solidFill>
                  <a:srgbClr val="4C4C4C"/>
                </a:solidFill>
                <a:latin typeface="微软雅黑" panose="020B0503020204020204" charset="-122"/>
                <a:ea typeface="微软雅黑" panose="020B0503020204020204" charset="-122"/>
                <a:cs typeface="微软雅黑" panose="020B0503020204020204" charset="-122"/>
              </a:endParaRPr>
            </a:p>
          </p:txBody>
        </p:sp>
      </p:grpSp>
      <p:sp>
        <p:nvSpPr>
          <p:cNvPr id="8" name="文本框 7"/>
          <p:cNvSpPr txBox="1"/>
          <p:nvPr/>
        </p:nvSpPr>
        <p:spPr>
          <a:xfrm>
            <a:off x="784267" y="2015254"/>
            <a:ext cx="2825828" cy="2091690"/>
          </a:xfrm>
          <a:prstGeom prst="rect">
            <a:avLst/>
          </a:prstGeom>
          <a:noFill/>
        </p:spPr>
        <p:txBody>
          <a:bodyPr wrap="square" rtlCol="0">
            <a:spAutoFit/>
          </a:bodyPr>
          <a:lstStyle/>
          <a:p>
            <a:r>
              <a:rPr kumimoji="1" lang="en-US" altLang="zh-CN" sz="13000" b="1" i="1" dirty="0">
                <a:solidFill>
                  <a:schemeClr val="bg1">
                    <a:lumMod val="65000"/>
                  </a:schemeClr>
                </a:solidFill>
                <a:latin typeface="微软雅黑" panose="020B0503020204020204" charset="-122"/>
                <a:ea typeface="微软雅黑" panose="020B0503020204020204" charset="-122"/>
                <a:cs typeface="微软雅黑" panose="020B0503020204020204" charset="-122"/>
              </a:rPr>
              <a:t>03.</a:t>
            </a:r>
            <a:endParaRPr kumimoji="1" lang="zh-CN" altLang="en-US" sz="13000" b="1" i="1" dirty="0">
              <a:solidFill>
                <a:schemeClr val="bg1">
                  <a:lumMod val="65000"/>
                </a:schemeClr>
              </a:solidFill>
              <a:latin typeface="微软雅黑" panose="020B0503020204020204" charset="-122"/>
              <a:ea typeface="微软雅黑" panose="020B0503020204020204" charset="-122"/>
              <a:cs typeface="微软雅黑" panose="020B0503020204020204" charset="-122"/>
            </a:endParaRPr>
          </a:p>
        </p:txBody>
      </p:sp>
      <p:pic>
        <p:nvPicPr>
          <p:cNvPr id="10" name="图片 9"/>
          <p:cNvPicPr>
            <a:picLocks noChangeAspect="1"/>
          </p:cNvPicPr>
          <p:nvPr/>
        </p:nvPicPr>
        <p:blipFill>
          <a:blip r:embed="rId2" cstate="screen"/>
          <a:stretch>
            <a:fillRect/>
          </a:stretch>
        </p:blipFill>
        <p:spPr>
          <a:xfrm>
            <a:off x="7265049" y="2133600"/>
            <a:ext cx="4926953" cy="4724400"/>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1500" advTm="0">
        <p:random/>
      </p:transition>
    </mc:Choice>
    <mc:Fallback xmlns="">
      <p:transition spd="slow" advTm="0">
        <p:random/>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additive="base">
                                        <p:cTn id="7" dur="500" fill="hold"/>
                                        <p:tgtEl>
                                          <p:spTgt spid="8"/>
                                        </p:tgtEl>
                                        <p:attrNameLst>
                                          <p:attrName>ppt_x</p:attrName>
                                        </p:attrNameLst>
                                      </p:cBhvr>
                                      <p:tavLst>
                                        <p:tav tm="0">
                                          <p:val>
                                            <p:strVal val="#ppt_x"/>
                                          </p:val>
                                        </p:tav>
                                        <p:tav tm="100000">
                                          <p:val>
                                            <p:strVal val="#ppt_x"/>
                                          </p:val>
                                        </p:tav>
                                      </p:tavLst>
                                    </p:anim>
                                    <p:anim calcmode="lin" valueType="num">
                                      <p:cBhvr additive="base">
                                        <p:cTn id="8" dur="500" fill="hold"/>
                                        <p:tgtEl>
                                          <p:spTgt spid="8"/>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4"/>
                                        </p:tgtEl>
                                        <p:attrNameLst>
                                          <p:attrName>style.visibility</p:attrName>
                                        </p:attrNameLst>
                                      </p:cBhvr>
                                      <p:to>
                                        <p:strVal val="visible"/>
                                      </p:to>
                                    </p:set>
                                    <p:anim calcmode="lin" valueType="num">
                                      <p:cBhvr additive="base">
                                        <p:cTn id="13" dur="500" fill="hold"/>
                                        <p:tgtEl>
                                          <p:spTgt spid="4"/>
                                        </p:tgtEl>
                                        <p:attrNameLst>
                                          <p:attrName>ppt_x</p:attrName>
                                        </p:attrNameLst>
                                      </p:cBhvr>
                                      <p:tavLst>
                                        <p:tav tm="0">
                                          <p:val>
                                            <p:strVal val="#ppt_x"/>
                                          </p:val>
                                        </p:tav>
                                        <p:tav tm="100000">
                                          <p:val>
                                            <p:strVal val="#ppt_x"/>
                                          </p:val>
                                        </p:tav>
                                      </p:tavLst>
                                    </p:anim>
                                    <p:anim calcmode="lin" valueType="num">
                                      <p:cBhvr additive="base">
                                        <p:cTn id="14" dur="500" fill="hold"/>
                                        <p:tgtEl>
                                          <p:spTgt spid="4"/>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53" presetClass="entr" presetSubtype="16" fill="hold" nodeType="clickEffect">
                                  <p:stCondLst>
                                    <p:cond delay="0"/>
                                  </p:stCondLst>
                                  <p:childTnLst>
                                    <p:set>
                                      <p:cBhvr>
                                        <p:cTn id="18" dur="1" fill="hold">
                                          <p:stCondLst>
                                            <p:cond delay="0"/>
                                          </p:stCondLst>
                                        </p:cTn>
                                        <p:tgtEl>
                                          <p:spTgt spid="10"/>
                                        </p:tgtEl>
                                        <p:attrNameLst>
                                          <p:attrName>style.visibility</p:attrName>
                                        </p:attrNameLst>
                                      </p:cBhvr>
                                      <p:to>
                                        <p:strVal val="visible"/>
                                      </p:to>
                                    </p:set>
                                    <p:anim calcmode="lin" valueType="num">
                                      <p:cBhvr>
                                        <p:cTn id="19" dur="500" fill="hold"/>
                                        <p:tgtEl>
                                          <p:spTgt spid="10"/>
                                        </p:tgtEl>
                                        <p:attrNameLst>
                                          <p:attrName>ppt_w</p:attrName>
                                        </p:attrNameLst>
                                      </p:cBhvr>
                                      <p:tavLst>
                                        <p:tav tm="0">
                                          <p:val>
                                            <p:fltVal val="0"/>
                                          </p:val>
                                        </p:tav>
                                        <p:tav tm="100000">
                                          <p:val>
                                            <p:strVal val="#ppt_w"/>
                                          </p:val>
                                        </p:tav>
                                      </p:tavLst>
                                    </p:anim>
                                    <p:anim calcmode="lin" valueType="num">
                                      <p:cBhvr>
                                        <p:cTn id="20" dur="500" fill="hold"/>
                                        <p:tgtEl>
                                          <p:spTgt spid="10"/>
                                        </p:tgtEl>
                                        <p:attrNameLst>
                                          <p:attrName>ppt_h</p:attrName>
                                        </p:attrNameLst>
                                      </p:cBhvr>
                                      <p:tavLst>
                                        <p:tav tm="0">
                                          <p:val>
                                            <p:fltVal val="0"/>
                                          </p:val>
                                        </p:tav>
                                        <p:tav tm="100000">
                                          <p:val>
                                            <p:strVal val="#ppt_h"/>
                                          </p:val>
                                        </p:tav>
                                      </p:tavLst>
                                    </p:anim>
                                    <p:animEffect transition="in" filter="fade">
                                      <p:cBhvr>
                                        <p:cTn id="21"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组合 24"/>
          <p:cNvGrpSpPr/>
          <p:nvPr/>
        </p:nvGrpSpPr>
        <p:grpSpPr>
          <a:xfrm>
            <a:off x="585126" y="1170635"/>
            <a:ext cx="652780" cy="3987082"/>
            <a:chOff x="6629352" y="1760489"/>
            <a:chExt cx="870376" cy="5316116"/>
          </a:xfrm>
        </p:grpSpPr>
        <p:sp>
          <p:nvSpPr>
            <p:cNvPr id="4" name="文本框 3"/>
            <p:cNvSpPr txBox="1"/>
            <p:nvPr/>
          </p:nvSpPr>
          <p:spPr>
            <a:xfrm rot="10800000">
              <a:off x="6695207" y="2480982"/>
              <a:ext cx="738666" cy="4595623"/>
            </a:xfrm>
            <a:prstGeom prst="rect">
              <a:avLst/>
            </a:prstGeom>
            <a:noFill/>
          </p:spPr>
          <p:txBody>
            <a:bodyPr vert="eaVert" wrap="none" rtlCol="0">
              <a:spAutoFit/>
              <a:scene3d>
                <a:camera prst="orthographicFront"/>
                <a:lightRig rig="threePt" dir="t"/>
              </a:scene3d>
              <a:sp3d contourW="12700"/>
            </a:bodyPr>
            <a:lstStyle/>
            <a:p>
              <a:r>
                <a:rPr lang="en-US" altLang="zh-CN" sz="2400" b="1" dirty="0">
                  <a:solidFill>
                    <a:srgbClr val="4C4C4C"/>
                  </a:solidFill>
                  <a:latin typeface="微软雅黑" panose="020B0503020204020204" charset="-122"/>
                  <a:ea typeface="微软雅黑" panose="020B0503020204020204" charset="-122"/>
                  <a:cs typeface="微软雅黑" panose="020B0503020204020204" charset="-122"/>
                </a:rPr>
                <a:t>Impact of GPT on Life</a:t>
              </a:r>
              <a:endParaRPr lang="zh-CN" altLang="en-US" sz="2400" b="1" dirty="0">
                <a:solidFill>
                  <a:srgbClr val="4C4C4C"/>
                </a:solidFill>
                <a:latin typeface="微软雅黑" panose="020B0503020204020204" charset="-122"/>
                <a:ea typeface="微软雅黑" panose="020B0503020204020204" charset="-122"/>
                <a:cs typeface="微软雅黑" panose="020B0503020204020204" charset="-122"/>
              </a:endParaRPr>
            </a:p>
          </p:txBody>
        </p:sp>
        <p:sp>
          <p:nvSpPr>
            <p:cNvPr id="5" name="文本框 4"/>
            <p:cNvSpPr txBox="1"/>
            <p:nvPr/>
          </p:nvSpPr>
          <p:spPr>
            <a:xfrm>
              <a:off x="6629352" y="1760489"/>
              <a:ext cx="870376" cy="737448"/>
            </a:xfrm>
            <a:prstGeom prst="rect">
              <a:avLst/>
            </a:prstGeom>
            <a:noFill/>
          </p:spPr>
          <p:txBody>
            <a:bodyPr wrap="none" rtlCol="0">
              <a:spAutoFit/>
              <a:scene3d>
                <a:camera prst="orthographicFront"/>
                <a:lightRig rig="threePt" dir="t"/>
              </a:scene3d>
              <a:sp3d contourW="12700"/>
            </a:bodyPr>
            <a:lstStyle/>
            <a:p>
              <a:r>
                <a:rPr lang="en-US" altLang="zh-CN" sz="3000" b="1" dirty="0">
                  <a:solidFill>
                    <a:srgbClr val="4C4C4C"/>
                  </a:solidFill>
                  <a:latin typeface="微软雅黑" panose="020B0503020204020204" charset="-122"/>
                  <a:ea typeface="微软雅黑" panose="020B0503020204020204" charset="-122"/>
                  <a:cs typeface="微软雅黑" panose="020B0503020204020204" charset="-122"/>
                </a:rPr>
                <a:t>03</a:t>
              </a:r>
              <a:endParaRPr lang="zh-CN" altLang="en-US" sz="3000" b="1" dirty="0">
                <a:solidFill>
                  <a:srgbClr val="4C4C4C"/>
                </a:solidFill>
                <a:latin typeface="微软雅黑" panose="020B0503020204020204" charset="-122"/>
                <a:ea typeface="微软雅黑" panose="020B0503020204020204" charset="-122"/>
                <a:cs typeface="微软雅黑" panose="020B0503020204020204" charset="-122"/>
              </a:endParaRPr>
            </a:p>
          </p:txBody>
        </p:sp>
      </p:grpSp>
      <p:pic>
        <p:nvPicPr>
          <p:cNvPr id="6" name="图片 5"/>
          <p:cNvPicPr>
            <a:picLocks noChangeAspect="1"/>
          </p:cNvPicPr>
          <p:nvPr/>
        </p:nvPicPr>
        <p:blipFill rotWithShape="1">
          <a:blip r:embed="rId3" cstate="screen"/>
          <a:srcRect/>
          <a:stretch>
            <a:fillRect/>
          </a:stretch>
        </p:blipFill>
        <p:spPr>
          <a:xfrm>
            <a:off x="1716507" y="1170638"/>
            <a:ext cx="3673644" cy="4601559"/>
          </a:xfrm>
          <a:prstGeom prst="rect">
            <a:avLst/>
          </a:prstGeom>
        </p:spPr>
      </p:pic>
      <p:sp>
        <p:nvSpPr>
          <p:cNvPr id="7" name="TextBox 33"/>
          <p:cNvSpPr txBox="1"/>
          <p:nvPr/>
        </p:nvSpPr>
        <p:spPr>
          <a:xfrm>
            <a:off x="5534813" y="691546"/>
            <a:ext cx="5111416" cy="928571"/>
          </a:xfrm>
          <a:prstGeom prst="rect">
            <a:avLst/>
          </a:prstGeom>
          <a:noFill/>
        </p:spPr>
        <p:txBody>
          <a:bodyPr wrap="square" lIns="91360" tIns="45680" rIns="91360" bIns="45680" rtlCol="0">
            <a:spAutoFit/>
          </a:bodyPr>
          <a:lstStyle/>
          <a:p>
            <a:pPr>
              <a:lnSpc>
                <a:spcPct val="200000"/>
              </a:lnSpc>
            </a:pPr>
            <a:r>
              <a:rPr lang="en-US" altLang="zh-CN" sz="3200" b="1" dirty="0">
                <a:solidFill>
                  <a:schemeClr val="tx1">
                    <a:lumMod val="75000"/>
                    <a:lumOff val="25000"/>
                  </a:schemeClr>
                </a:solidFill>
                <a:latin typeface="微软雅黑" panose="020B0503020204020204" charset="-122"/>
                <a:ea typeface="微软雅黑" panose="020B0503020204020204" charset="-122"/>
                <a:cs typeface="微软雅黑" panose="020B0503020204020204" charset="-122"/>
                <a:sym typeface="+mn-lt"/>
              </a:rPr>
              <a:t>Natural Sciences</a:t>
            </a:r>
          </a:p>
        </p:txBody>
      </p:sp>
      <p:cxnSp>
        <p:nvCxnSpPr>
          <p:cNvPr id="8" name="直接连接符 36"/>
          <p:cNvCxnSpPr/>
          <p:nvPr/>
        </p:nvCxnSpPr>
        <p:spPr>
          <a:xfrm>
            <a:off x="5759404" y="2480715"/>
            <a:ext cx="5518197" cy="0"/>
          </a:xfrm>
          <a:prstGeom prst="line">
            <a:avLst/>
          </a:prstGeom>
          <a:noFill/>
          <a:ln w="9525" cap="flat" cmpd="sng" algn="ctr">
            <a:solidFill>
              <a:schemeClr val="tx1">
                <a:lumMod val="50000"/>
                <a:lumOff val="50000"/>
              </a:schemeClr>
            </a:solidFill>
            <a:prstDash val="dash"/>
          </a:ln>
          <a:effectLst/>
        </p:spPr>
      </p:cxnSp>
      <p:sp>
        <p:nvSpPr>
          <p:cNvPr id="9" name="TextBox 33"/>
          <p:cNvSpPr txBox="1"/>
          <p:nvPr/>
        </p:nvSpPr>
        <p:spPr>
          <a:xfrm>
            <a:off x="5647109" y="1634882"/>
            <a:ext cx="5742787" cy="700496"/>
          </a:xfrm>
          <a:prstGeom prst="rect">
            <a:avLst/>
          </a:prstGeom>
          <a:noFill/>
        </p:spPr>
        <p:txBody>
          <a:bodyPr wrap="square" lIns="91360" tIns="45680" rIns="91360" bIns="45680" rtlCol="0">
            <a:spAutoFit/>
          </a:bodyPr>
          <a:lstStyle/>
          <a:p>
            <a:pPr>
              <a:lnSpc>
                <a:spcPct val="150000"/>
              </a:lnSpc>
            </a:pPr>
            <a:r>
              <a:rPr lang="en-US" altLang="zh-CN" sz="1400" dirty="0">
                <a:solidFill>
                  <a:schemeClr val="bg1">
                    <a:lumMod val="50000"/>
                  </a:schemeClr>
                </a:solidFill>
                <a:latin typeface="微软雅黑" panose="020B0503020204020204" charset="-122"/>
                <a:ea typeface="微软雅黑" panose="020B0503020204020204" charset="-122"/>
                <a:cs typeface="微软雅黑" panose="020B0503020204020204" charset="-122"/>
                <a:sym typeface="+mn-lt"/>
              </a:rPr>
              <a:t>GPT can assist in natural sciences by providing information, answering questions, and even generating hypotheses.</a:t>
            </a:r>
            <a:endParaRPr lang="zh-CN" altLang="en-US" sz="1400" dirty="0">
              <a:solidFill>
                <a:schemeClr val="bg1">
                  <a:lumMod val="50000"/>
                </a:schemeClr>
              </a:solidFill>
              <a:latin typeface="微软雅黑" panose="020B0503020204020204" charset="-122"/>
              <a:ea typeface="微软雅黑" panose="020B0503020204020204" charset="-122"/>
              <a:cs typeface="微软雅黑" panose="020B0503020204020204" charset="-122"/>
              <a:sym typeface="+mn-lt"/>
            </a:endParaRPr>
          </a:p>
        </p:txBody>
      </p:sp>
      <p:sp>
        <p:nvSpPr>
          <p:cNvPr id="10" name="TextBox 33"/>
          <p:cNvSpPr txBox="1"/>
          <p:nvPr/>
        </p:nvSpPr>
        <p:spPr>
          <a:xfrm>
            <a:off x="5534812" y="2167247"/>
            <a:ext cx="5742787" cy="928571"/>
          </a:xfrm>
          <a:prstGeom prst="rect">
            <a:avLst/>
          </a:prstGeom>
          <a:noFill/>
        </p:spPr>
        <p:txBody>
          <a:bodyPr wrap="square" lIns="91360" tIns="45680" rIns="91360" bIns="45680" rtlCol="0">
            <a:spAutoFit/>
          </a:bodyPr>
          <a:lstStyle/>
          <a:p>
            <a:pPr>
              <a:lnSpc>
                <a:spcPct val="200000"/>
              </a:lnSpc>
            </a:pPr>
            <a:r>
              <a:rPr lang="en-US" altLang="zh-CN" sz="3200" b="1" dirty="0">
                <a:latin typeface="微软雅黑" panose="020B0503020204020204" charset="-122"/>
                <a:ea typeface="微软雅黑" panose="020B0503020204020204" charset="-122"/>
              </a:rPr>
              <a:t>Intelligent Economy</a:t>
            </a:r>
            <a:endParaRPr lang="en-US" altLang="zh-CN" sz="3200" b="1" dirty="0">
              <a:solidFill>
                <a:schemeClr val="tx1">
                  <a:lumMod val="75000"/>
                  <a:lumOff val="25000"/>
                </a:schemeClr>
              </a:solidFill>
              <a:latin typeface="微软雅黑" panose="020B0503020204020204" charset="-122"/>
              <a:ea typeface="微软雅黑" panose="020B0503020204020204" charset="-122"/>
              <a:cs typeface="微软雅黑" panose="020B0503020204020204" charset="-122"/>
              <a:sym typeface="+mn-lt"/>
            </a:endParaRPr>
          </a:p>
        </p:txBody>
      </p:sp>
      <p:cxnSp>
        <p:nvCxnSpPr>
          <p:cNvPr id="11" name="直接连接符 36"/>
          <p:cNvCxnSpPr/>
          <p:nvPr/>
        </p:nvCxnSpPr>
        <p:spPr>
          <a:xfrm>
            <a:off x="5759404" y="4018498"/>
            <a:ext cx="5518197" cy="0"/>
          </a:xfrm>
          <a:prstGeom prst="line">
            <a:avLst/>
          </a:prstGeom>
          <a:noFill/>
          <a:ln w="9525" cap="flat" cmpd="sng" algn="ctr">
            <a:solidFill>
              <a:schemeClr val="tx1">
                <a:lumMod val="50000"/>
                <a:lumOff val="50000"/>
              </a:schemeClr>
            </a:solidFill>
            <a:prstDash val="dash"/>
          </a:ln>
          <a:effectLst/>
        </p:spPr>
      </p:cxnSp>
      <p:sp>
        <p:nvSpPr>
          <p:cNvPr id="12" name="TextBox 33"/>
          <p:cNvSpPr txBox="1"/>
          <p:nvPr/>
        </p:nvSpPr>
        <p:spPr>
          <a:xfrm>
            <a:off x="5647109" y="3172665"/>
            <a:ext cx="5742787" cy="700496"/>
          </a:xfrm>
          <a:prstGeom prst="rect">
            <a:avLst/>
          </a:prstGeom>
          <a:noFill/>
        </p:spPr>
        <p:txBody>
          <a:bodyPr wrap="square" lIns="91360" tIns="45680" rIns="91360" bIns="45680" rtlCol="0">
            <a:spAutoFit/>
          </a:bodyPr>
          <a:lstStyle/>
          <a:p>
            <a:pPr>
              <a:lnSpc>
                <a:spcPct val="150000"/>
              </a:lnSpc>
            </a:pPr>
            <a:r>
              <a:rPr lang="en-US" altLang="zh-CN" sz="1400" dirty="0">
                <a:solidFill>
                  <a:schemeClr val="bg1">
                    <a:lumMod val="50000"/>
                  </a:schemeClr>
                </a:solidFill>
                <a:latin typeface="微软雅黑" panose="020B0503020204020204" charset="-122"/>
                <a:ea typeface="微软雅黑" panose="020B0503020204020204" charset="-122"/>
                <a:cs typeface="微软雅黑" panose="020B0503020204020204" charset="-122"/>
                <a:sym typeface="+mn-lt"/>
              </a:rPr>
              <a:t>In an intelligent economy, GPT can automate tasks that require language understanding and generation.</a:t>
            </a:r>
            <a:endParaRPr lang="zh-CN" altLang="en-US" sz="1400" dirty="0">
              <a:solidFill>
                <a:schemeClr val="bg1">
                  <a:lumMod val="50000"/>
                </a:schemeClr>
              </a:solidFill>
              <a:latin typeface="微软雅黑" panose="020B0503020204020204" charset="-122"/>
              <a:ea typeface="微软雅黑" panose="020B0503020204020204" charset="-122"/>
              <a:cs typeface="微软雅黑" panose="020B0503020204020204" charset="-122"/>
              <a:sym typeface="+mn-lt"/>
            </a:endParaRPr>
          </a:p>
        </p:txBody>
      </p:sp>
      <p:sp>
        <p:nvSpPr>
          <p:cNvPr id="17" name="TextBox 33"/>
          <p:cNvSpPr txBox="1"/>
          <p:nvPr/>
        </p:nvSpPr>
        <p:spPr>
          <a:xfrm>
            <a:off x="5534812" y="3762183"/>
            <a:ext cx="5742787" cy="937933"/>
          </a:xfrm>
          <a:prstGeom prst="rect">
            <a:avLst/>
          </a:prstGeom>
          <a:noFill/>
        </p:spPr>
        <p:txBody>
          <a:bodyPr wrap="square" lIns="91360" tIns="45680" rIns="91360" bIns="45680" rtlCol="0">
            <a:spAutoFit/>
          </a:bodyPr>
          <a:lstStyle/>
          <a:p>
            <a:pPr>
              <a:lnSpc>
                <a:spcPct val="200000"/>
              </a:lnSpc>
            </a:pPr>
            <a:r>
              <a:rPr lang="en-US" altLang="zh-CN" sz="3200" b="1" dirty="0">
                <a:latin typeface="微软雅黑" panose="020B0503020204020204" charset="-122"/>
                <a:ea typeface="微软雅黑" panose="020B0503020204020204" charset="-122"/>
              </a:rPr>
              <a:t>Intelligent Society</a:t>
            </a:r>
            <a:endParaRPr lang="en-US" altLang="zh-CN" sz="3200" b="1" dirty="0">
              <a:solidFill>
                <a:schemeClr val="tx1">
                  <a:lumMod val="75000"/>
                  <a:lumOff val="25000"/>
                </a:schemeClr>
              </a:solidFill>
              <a:latin typeface="微软雅黑" panose="020B0503020204020204" charset="-122"/>
              <a:ea typeface="微软雅黑" panose="020B0503020204020204" charset="-122"/>
              <a:cs typeface="微软雅黑" panose="020B0503020204020204" charset="-122"/>
              <a:sym typeface="+mn-lt"/>
            </a:endParaRPr>
          </a:p>
        </p:txBody>
      </p:sp>
      <p:sp>
        <p:nvSpPr>
          <p:cNvPr id="19" name="TextBox 33"/>
          <p:cNvSpPr txBox="1"/>
          <p:nvPr/>
        </p:nvSpPr>
        <p:spPr>
          <a:xfrm>
            <a:off x="5647109" y="4710446"/>
            <a:ext cx="5742787" cy="700496"/>
          </a:xfrm>
          <a:prstGeom prst="rect">
            <a:avLst/>
          </a:prstGeom>
          <a:noFill/>
        </p:spPr>
        <p:txBody>
          <a:bodyPr wrap="square" lIns="91360" tIns="45680" rIns="91360" bIns="45680" rtlCol="0">
            <a:spAutoFit/>
          </a:bodyPr>
          <a:lstStyle/>
          <a:p>
            <a:pPr>
              <a:lnSpc>
                <a:spcPct val="150000"/>
              </a:lnSpc>
            </a:pPr>
            <a:r>
              <a:rPr lang="en-US" altLang="zh-CN" sz="1400" dirty="0">
                <a:solidFill>
                  <a:schemeClr val="bg1">
                    <a:lumMod val="50000"/>
                  </a:schemeClr>
                </a:solidFill>
                <a:latin typeface="微软雅黑" panose="020B0503020204020204" charset="-122"/>
                <a:ea typeface="微软雅黑" panose="020B0503020204020204" charset="-122"/>
                <a:cs typeface="微软雅黑" panose="020B0503020204020204" charset="-122"/>
                <a:sym typeface="+mn-lt"/>
              </a:rPr>
              <a:t>In an intelligent society, GPT can be used in various applications to improve efficiency and productivity.</a:t>
            </a:r>
            <a:endParaRPr lang="zh-CN" altLang="en-US" sz="1400" dirty="0">
              <a:solidFill>
                <a:schemeClr val="bg1">
                  <a:lumMod val="50000"/>
                </a:schemeClr>
              </a:solidFill>
              <a:latin typeface="微软雅黑" panose="020B0503020204020204" charset="-122"/>
              <a:ea typeface="微软雅黑" panose="020B0503020204020204" charset="-122"/>
              <a:cs typeface="微软雅黑" panose="020B0503020204020204" charset="-122"/>
              <a:sym typeface="+mn-lt"/>
            </a:endParaRPr>
          </a:p>
        </p:txBody>
      </p:sp>
    </p:spTree>
  </p:cSld>
  <p:clrMapOvr>
    <a:masterClrMapping/>
  </p:clrMapOvr>
  <mc:AlternateContent xmlns:mc="http://schemas.openxmlformats.org/markup-compatibility/2006" xmlns:p14="http://schemas.microsoft.com/office/powerpoint/2010/main">
    <mc:Choice Requires="p14">
      <p:transition spd="slow" p14:dur="1500" advTm="0">
        <p:random/>
      </p:transition>
    </mc:Choice>
    <mc:Fallback xmlns="">
      <p:transition spd="slow" advTm="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500"/>
                                  </p:stCondLst>
                                  <p:childTnLst>
                                    <p:set>
                                      <p:cBhvr>
                                        <p:cTn id="6" dur="1" fill="hold">
                                          <p:stCondLst>
                                            <p:cond delay="0"/>
                                          </p:stCondLst>
                                        </p:cTn>
                                        <p:tgtEl>
                                          <p:spTgt spid="8"/>
                                        </p:tgtEl>
                                        <p:attrNameLst>
                                          <p:attrName>style.visibility</p:attrName>
                                        </p:attrNameLst>
                                      </p:cBhvr>
                                      <p:to>
                                        <p:strVal val="visible"/>
                                      </p:to>
                                    </p:set>
                                    <p:animEffect transition="in" filter="wipe(left)">
                                      <p:cBhvr>
                                        <p:cTn id="7" dur="500"/>
                                        <p:tgtEl>
                                          <p:spTgt spid="8"/>
                                        </p:tgtEl>
                                      </p:cBhvr>
                                    </p:animEffect>
                                  </p:childTnLst>
                                </p:cTn>
                              </p:par>
                              <p:par>
                                <p:cTn id="8" presetID="10" presetClass="entr" presetSubtype="0" fill="hold" grpId="0" nodeType="withEffect">
                                  <p:stCondLst>
                                    <p:cond delay="500"/>
                                  </p:stCondLst>
                                  <p:childTnLst>
                                    <p:set>
                                      <p:cBhvr>
                                        <p:cTn id="9" dur="1" fill="hold">
                                          <p:stCondLst>
                                            <p:cond delay="0"/>
                                          </p:stCondLst>
                                        </p:cTn>
                                        <p:tgtEl>
                                          <p:spTgt spid="7"/>
                                        </p:tgtEl>
                                        <p:attrNameLst>
                                          <p:attrName>style.visibility</p:attrName>
                                        </p:attrNameLst>
                                      </p:cBhvr>
                                      <p:to>
                                        <p:strVal val="visible"/>
                                      </p:to>
                                    </p:set>
                                    <p:animEffect transition="in" filter="fade">
                                      <p:cBhvr>
                                        <p:cTn id="10" dur="500"/>
                                        <p:tgtEl>
                                          <p:spTgt spid="7"/>
                                        </p:tgtEl>
                                      </p:cBhvr>
                                    </p:animEffect>
                                  </p:childTnLst>
                                </p:cTn>
                              </p:par>
                              <p:par>
                                <p:cTn id="11" presetID="10" presetClass="entr" presetSubtype="0" fill="hold" grpId="0" nodeType="withEffect">
                                  <p:stCondLst>
                                    <p:cond delay="500"/>
                                  </p:stCondLst>
                                  <p:childTnLst>
                                    <p:set>
                                      <p:cBhvr>
                                        <p:cTn id="12" dur="1" fill="hold">
                                          <p:stCondLst>
                                            <p:cond delay="0"/>
                                          </p:stCondLst>
                                        </p:cTn>
                                        <p:tgtEl>
                                          <p:spTgt spid="9"/>
                                        </p:tgtEl>
                                        <p:attrNameLst>
                                          <p:attrName>style.visibility</p:attrName>
                                        </p:attrNameLst>
                                      </p:cBhvr>
                                      <p:to>
                                        <p:strVal val="visible"/>
                                      </p:to>
                                    </p:set>
                                    <p:animEffect transition="in" filter="fade">
                                      <p:cBhvr>
                                        <p:cTn id="13" dur="500"/>
                                        <p:tgtEl>
                                          <p:spTgt spid="9"/>
                                        </p:tgtEl>
                                      </p:cBhvr>
                                    </p:animEffect>
                                  </p:childTnLst>
                                </p:cTn>
                              </p:par>
                              <p:par>
                                <p:cTn id="14" presetID="22" presetClass="entr" presetSubtype="8" fill="hold" nodeType="withEffect">
                                  <p:stCondLst>
                                    <p:cond delay="500"/>
                                  </p:stCondLst>
                                  <p:childTnLst>
                                    <p:set>
                                      <p:cBhvr>
                                        <p:cTn id="15" dur="1" fill="hold">
                                          <p:stCondLst>
                                            <p:cond delay="0"/>
                                          </p:stCondLst>
                                        </p:cTn>
                                        <p:tgtEl>
                                          <p:spTgt spid="11"/>
                                        </p:tgtEl>
                                        <p:attrNameLst>
                                          <p:attrName>style.visibility</p:attrName>
                                        </p:attrNameLst>
                                      </p:cBhvr>
                                      <p:to>
                                        <p:strVal val="visible"/>
                                      </p:to>
                                    </p:set>
                                    <p:animEffect transition="in" filter="wipe(left)">
                                      <p:cBhvr>
                                        <p:cTn id="16" dur="500"/>
                                        <p:tgtEl>
                                          <p:spTgt spid="11"/>
                                        </p:tgtEl>
                                      </p:cBhvr>
                                    </p:animEffect>
                                  </p:childTnLst>
                                </p:cTn>
                              </p:par>
                              <p:par>
                                <p:cTn id="17" presetID="10" presetClass="entr" presetSubtype="0" fill="hold" grpId="0" nodeType="withEffect">
                                  <p:stCondLst>
                                    <p:cond delay="500"/>
                                  </p:stCondLst>
                                  <p:childTnLst>
                                    <p:set>
                                      <p:cBhvr>
                                        <p:cTn id="18" dur="1" fill="hold">
                                          <p:stCondLst>
                                            <p:cond delay="0"/>
                                          </p:stCondLst>
                                        </p:cTn>
                                        <p:tgtEl>
                                          <p:spTgt spid="10"/>
                                        </p:tgtEl>
                                        <p:attrNameLst>
                                          <p:attrName>style.visibility</p:attrName>
                                        </p:attrNameLst>
                                      </p:cBhvr>
                                      <p:to>
                                        <p:strVal val="visible"/>
                                      </p:to>
                                    </p:set>
                                    <p:animEffect transition="in" filter="fade">
                                      <p:cBhvr>
                                        <p:cTn id="19" dur="500"/>
                                        <p:tgtEl>
                                          <p:spTgt spid="10"/>
                                        </p:tgtEl>
                                      </p:cBhvr>
                                    </p:animEffect>
                                  </p:childTnLst>
                                </p:cTn>
                              </p:par>
                              <p:par>
                                <p:cTn id="20" presetID="10" presetClass="entr" presetSubtype="0" fill="hold" grpId="0" nodeType="withEffect">
                                  <p:stCondLst>
                                    <p:cond delay="500"/>
                                  </p:stCondLst>
                                  <p:childTnLst>
                                    <p:set>
                                      <p:cBhvr>
                                        <p:cTn id="21" dur="1" fill="hold">
                                          <p:stCondLst>
                                            <p:cond delay="0"/>
                                          </p:stCondLst>
                                        </p:cTn>
                                        <p:tgtEl>
                                          <p:spTgt spid="12"/>
                                        </p:tgtEl>
                                        <p:attrNameLst>
                                          <p:attrName>style.visibility</p:attrName>
                                        </p:attrNameLst>
                                      </p:cBhvr>
                                      <p:to>
                                        <p:strVal val="visible"/>
                                      </p:to>
                                    </p:set>
                                    <p:animEffect transition="in" filter="fade">
                                      <p:cBhvr>
                                        <p:cTn id="22" dur="500"/>
                                        <p:tgtEl>
                                          <p:spTgt spid="12"/>
                                        </p:tgtEl>
                                      </p:cBhvr>
                                    </p:animEffect>
                                  </p:childTnLst>
                                </p:cTn>
                              </p:par>
                              <p:par>
                                <p:cTn id="23" presetID="10" presetClass="entr" presetSubtype="0" fill="hold" grpId="0" nodeType="withEffect">
                                  <p:stCondLst>
                                    <p:cond delay="500"/>
                                  </p:stCondLst>
                                  <p:childTnLst>
                                    <p:set>
                                      <p:cBhvr>
                                        <p:cTn id="24" dur="1" fill="hold">
                                          <p:stCondLst>
                                            <p:cond delay="0"/>
                                          </p:stCondLst>
                                        </p:cTn>
                                        <p:tgtEl>
                                          <p:spTgt spid="17"/>
                                        </p:tgtEl>
                                        <p:attrNameLst>
                                          <p:attrName>style.visibility</p:attrName>
                                        </p:attrNameLst>
                                      </p:cBhvr>
                                      <p:to>
                                        <p:strVal val="visible"/>
                                      </p:to>
                                    </p:set>
                                    <p:animEffect transition="in" filter="fade">
                                      <p:cBhvr>
                                        <p:cTn id="25" dur="500"/>
                                        <p:tgtEl>
                                          <p:spTgt spid="17"/>
                                        </p:tgtEl>
                                      </p:cBhvr>
                                    </p:animEffect>
                                  </p:childTnLst>
                                </p:cTn>
                              </p:par>
                              <p:par>
                                <p:cTn id="26" presetID="10" presetClass="entr" presetSubtype="0" fill="hold" grpId="0" nodeType="withEffect">
                                  <p:stCondLst>
                                    <p:cond delay="500"/>
                                  </p:stCondLst>
                                  <p:childTnLst>
                                    <p:set>
                                      <p:cBhvr>
                                        <p:cTn id="27" dur="1" fill="hold">
                                          <p:stCondLst>
                                            <p:cond delay="0"/>
                                          </p:stCondLst>
                                        </p:cTn>
                                        <p:tgtEl>
                                          <p:spTgt spid="19"/>
                                        </p:tgtEl>
                                        <p:attrNameLst>
                                          <p:attrName>style.visibility</p:attrName>
                                        </p:attrNameLst>
                                      </p:cBhvr>
                                      <p:to>
                                        <p:strVal val="visible"/>
                                      </p:to>
                                    </p:set>
                                    <p:animEffect transition="in" filter="fade">
                                      <p:cBhvr>
                                        <p:cTn id="28" dur="500"/>
                                        <p:tgtEl>
                                          <p:spTgt spid="19"/>
                                        </p:tgtEl>
                                      </p:cBhvr>
                                    </p:animEffect>
                                  </p:childTnLst>
                                </p:cTn>
                              </p:par>
                            </p:childTnLst>
                          </p:cTn>
                        </p:par>
                      </p:childTnLst>
                    </p:cTn>
                  </p:par>
                  <p:par>
                    <p:cTn id="29" fill="hold">
                      <p:stCondLst>
                        <p:cond delay="indefinite"/>
                      </p:stCondLst>
                      <p:childTnLst>
                        <p:par>
                          <p:cTn id="30" fill="hold">
                            <p:stCondLst>
                              <p:cond delay="0"/>
                            </p:stCondLst>
                            <p:childTnLst>
                              <p:par>
                                <p:cTn id="31" presetID="9" presetClass="entr" presetSubtype="0" fill="hold" nodeType="clickEffect">
                                  <p:stCondLst>
                                    <p:cond delay="0"/>
                                  </p:stCondLst>
                                  <p:childTnLst>
                                    <p:set>
                                      <p:cBhvr>
                                        <p:cTn id="32" dur="1" fill="hold">
                                          <p:stCondLst>
                                            <p:cond delay="0"/>
                                          </p:stCondLst>
                                        </p:cTn>
                                        <p:tgtEl>
                                          <p:spTgt spid="6"/>
                                        </p:tgtEl>
                                        <p:attrNameLst>
                                          <p:attrName>style.visibility</p:attrName>
                                        </p:attrNameLst>
                                      </p:cBhvr>
                                      <p:to>
                                        <p:strVal val="visible"/>
                                      </p:to>
                                    </p:set>
                                    <p:animEffect transition="in" filter="dissolve">
                                      <p:cBhvr>
                                        <p:cTn id="33"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9" grpId="0"/>
      <p:bldP spid="10" grpId="0"/>
      <p:bldP spid="12" grpId="0"/>
      <p:bldP spid="17" grpId="0"/>
      <p:bldP spid="19"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40"/>
          <p:cNvGrpSpPr/>
          <p:nvPr/>
        </p:nvGrpSpPr>
        <p:grpSpPr>
          <a:xfrm>
            <a:off x="3610093" y="2323030"/>
            <a:ext cx="4731423" cy="1261884"/>
            <a:chOff x="5637293" y="-1408396"/>
            <a:chExt cx="6308564" cy="1682515"/>
          </a:xfrm>
        </p:grpSpPr>
        <p:sp>
          <p:nvSpPr>
            <p:cNvPr id="6" name="矩形 5"/>
            <p:cNvSpPr/>
            <p:nvPr/>
          </p:nvSpPr>
          <p:spPr>
            <a:xfrm>
              <a:off x="5637293" y="-136251"/>
              <a:ext cx="3835694" cy="410370"/>
            </a:xfrm>
            <a:prstGeom prst="rect">
              <a:avLst/>
            </a:prstGeom>
          </p:spPr>
          <p:txBody>
            <a:bodyPr wrap="square">
              <a:spAutoFit/>
              <a:scene3d>
                <a:camera prst="orthographicFront"/>
                <a:lightRig rig="threePt" dir="t"/>
              </a:scene3d>
              <a:sp3d contourW="12700"/>
            </a:bodyPr>
            <a:lstStyle/>
            <a:p>
              <a:pPr lvl="0">
                <a:defRPr/>
              </a:pPr>
              <a:endParaRPr lang="zh-CN" altLang="en-US" sz="1400" dirty="0">
                <a:solidFill>
                  <a:schemeClr val="bg1">
                    <a:lumMod val="65000"/>
                  </a:schemeClr>
                </a:solidFill>
                <a:latin typeface="微软雅黑" panose="020B0503020204020204" charset="-122"/>
                <a:ea typeface="微软雅黑" panose="020B0503020204020204" charset="-122"/>
                <a:cs typeface="微软雅黑" panose="020B0503020204020204" charset="-122"/>
              </a:endParaRPr>
            </a:p>
          </p:txBody>
        </p:sp>
        <p:sp>
          <p:nvSpPr>
            <p:cNvPr id="7" name="文本框 6"/>
            <p:cNvSpPr txBox="1"/>
            <p:nvPr/>
          </p:nvSpPr>
          <p:spPr>
            <a:xfrm>
              <a:off x="5637293" y="-1408396"/>
              <a:ext cx="6308564" cy="1354220"/>
            </a:xfrm>
            <a:prstGeom prst="rect">
              <a:avLst/>
            </a:prstGeom>
            <a:noFill/>
          </p:spPr>
          <p:txBody>
            <a:bodyPr wrap="none" rtlCol="0">
              <a:spAutoFit/>
              <a:scene3d>
                <a:camera prst="orthographicFront"/>
                <a:lightRig rig="threePt" dir="t"/>
              </a:scene3d>
              <a:sp3d contourW="12700"/>
            </a:bodyPr>
            <a:lstStyle/>
            <a:p>
              <a:r>
                <a:rPr lang="en-US" altLang="zh-CN" sz="6000" b="1" dirty="0">
                  <a:solidFill>
                    <a:srgbClr val="4C4C4C"/>
                  </a:solidFill>
                  <a:latin typeface="微软雅黑" panose="020B0503020204020204" charset="-122"/>
                  <a:ea typeface="微软雅黑" panose="020B0503020204020204" charset="-122"/>
                  <a:cs typeface="微软雅黑" panose="020B0503020204020204" charset="-122"/>
                </a:rPr>
                <a:t>GPT’s </a:t>
              </a:r>
              <a:r>
                <a:rPr lang="en-US" altLang="zh-CN" sz="4800" b="1" dirty="0">
                  <a:solidFill>
                    <a:srgbClr val="4C4C4C"/>
                  </a:solidFill>
                  <a:latin typeface="微软雅黑" panose="020B0503020204020204" charset="-122"/>
                  <a:ea typeface="微软雅黑" panose="020B0503020204020204" charset="-122"/>
                  <a:cs typeface="微软雅黑" panose="020B0503020204020204" charset="-122"/>
                </a:rPr>
                <a:t>value</a:t>
              </a:r>
              <a:endParaRPr lang="zh-CN" altLang="en-US" sz="6000" b="1" dirty="0">
                <a:solidFill>
                  <a:srgbClr val="4C4C4C"/>
                </a:solidFill>
                <a:latin typeface="微软雅黑" panose="020B0503020204020204" charset="-122"/>
                <a:ea typeface="微软雅黑" panose="020B0503020204020204" charset="-122"/>
                <a:cs typeface="微软雅黑" panose="020B0503020204020204" charset="-122"/>
              </a:endParaRPr>
            </a:p>
          </p:txBody>
        </p:sp>
      </p:grpSp>
      <p:sp>
        <p:nvSpPr>
          <p:cNvPr id="8" name="文本框 7"/>
          <p:cNvSpPr txBox="1"/>
          <p:nvPr/>
        </p:nvSpPr>
        <p:spPr>
          <a:xfrm>
            <a:off x="784267" y="2015254"/>
            <a:ext cx="2825828" cy="2092881"/>
          </a:xfrm>
          <a:prstGeom prst="rect">
            <a:avLst/>
          </a:prstGeom>
          <a:noFill/>
        </p:spPr>
        <p:txBody>
          <a:bodyPr wrap="square" rtlCol="0">
            <a:spAutoFit/>
          </a:bodyPr>
          <a:lstStyle/>
          <a:p>
            <a:r>
              <a:rPr kumimoji="1" lang="en-US" altLang="zh-CN" sz="13000" b="1" i="1" dirty="0">
                <a:solidFill>
                  <a:schemeClr val="bg1">
                    <a:lumMod val="65000"/>
                  </a:schemeClr>
                </a:solidFill>
                <a:latin typeface="微软雅黑" panose="020B0503020204020204" charset="-122"/>
                <a:ea typeface="微软雅黑" panose="020B0503020204020204" charset="-122"/>
                <a:cs typeface="微软雅黑" panose="020B0503020204020204" charset="-122"/>
              </a:rPr>
              <a:t>04.</a:t>
            </a:r>
            <a:endParaRPr kumimoji="1" lang="zh-CN" altLang="en-US" sz="13000" b="1" i="1" dirty="0">
              <a:solidFill>
                <a:schemeClr val="bg1">
                  <a:lumMod val="65000"/>
                </a:schemeClr>
              </a:solidFill>
              <a:latin typeface="微软雅黑" panose="020B0503020204020204" charset="-122"/>
              <a:ea typeface="微软雅黑" panose="020B0503020204020204" charset="-122"/>
              <a:cs typeface="微软雅黑" panose="020B0503020204020204" charset="-122"/>
            </a:endParaRPr>
          </a:p>
        </p:txBody>
      </p:sp>
      <p:pic>
        <p:nvPicPr>
          <p:cNvPr id="10" name="图片 9"/>
          <p:cNvPicPr>
            <a:picLocks noChangeAspect="1"/>
          </p:cNvPicPr>
          <p:nvPr/>
        </p:nvPicPr>
        <p:blipFill>
          <a:blip r:embed="rId2" cstate="screen"/>
          <a:stretch>
            <a:fillRect/>
          </a:stretch>
        </p:blipFill>
        <p:spPr>
          <a:xfrm>
            <a:off x="7265049" y="2133600"/>
            <a:ext cx="4926953" cy="4724400"/>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1500" advTm="0">
        <p:random/>
      </p:transition>
    </mc:Choice>
    <mc:Fallback xmlns="">
      <p:transition spd="slow" advTm="0">
        <p:random/>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additive="base">
                                        <p:cTn id="7" dur="500" fill="hold"/>
                                        <p:tgtEl>
                                          <p:spTgt spid="8"/>
                                        </p:tgtEl>
                                        <p:attrNameLst>
                                          <p:attrName>ppt_x</p:attrName>
                                        </p:attrNameLst>
                                      </p:cBhvr>
                                      <p:tavLst>
                                        <p:tav tm="0">
                                          <p:val>
                                            <p:strVal val="#ppt_x"/>
                                          </p:val>
                                        </p:tav>
                                        <p:tav tm="100000">
                                          <p:val>
                                            <p:strVal val="#ppt_x"/>
                                          </p:val>
                                        </p:tav>
                                      </p:tavLst>
                                    </p:anim>
                                    <p:anim calcmode="lin" valueType="num">
                                      <p:cBhvr additive="base">
                                        <p:cTn id="8" dur="500" fill="hold"/>
                                        <p:tgtEl>
                                          <p:spTgt spid="8"/>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4"/>
                                        </p:tgtEl>
                                        <p:attrNameLst>
                                          <p:attrName>style.visibility</p:attrName>
                                        </p:attrNameLst>
                                      </p:cBhvr>
                                      <p:to>
                                        <p:strVal val="visible"/>
                                      </p:to>
                                    </p:set>
                                    <p:anim calcmode="lin" valueType="num">
                                      <p:cBhvr additive="base">
                                        <p:cTn id="13" dur="500" fill="hold"/>
                                        <p:tgtEl>
                                          <p:spTgt spid="4"/>
                                        </p:tgtEl>
                                        <p:attrNameLst>
                                          <p:attrName>ppt_x</p:attrName>
                                        </p:attrNameLst>
                                      </p:cBhvr>
                                      <p:tavLst>
                                        <p:tav tm="0">
                                          <p:val>
                                            <p:strVal val="#ppt_x"/>
                                          </p:val>
                                        </p:tav>
                                        <p:tav tm="100000">
                                          <p:val>
                                            <p:strVal val="#ppt_x"/>
                                          </p:val>
                                        </p:tav>
                                      </p:tavLst>
                                    </p:anim>
                                    <p:anim calcmode="lin" valueType="num">
                                      <p:cBhvr additive="base">
                                        <p:cTn id="14" dur="500" fill="hold"/>
                                        <p:tgtEl>
                                          <p:spTgt spid="4"/>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53" presetClass="entr" presetSubtype="16" fill="hold" nodeType="clickEffect">
                                  <p:stCondLst>
                                    <p:cond delay="0"/>
                                  </p:stCondLst>
                                  <p:childTnLst>
                                    <p:set>
                                      <p:cBhvr>
                                        <p:cTn id="18" dur="1" fill="hold">
                                          <p:stCondLst>
                                            <p:cond delay="0"/>
                                          </p:stCondLst>
                                        </p:cTn>
                                        <p:tgtEl>
                                          <p:spTgt spid="10"/>
                                        </p:tgtEl>
                                        <p:attrNameLst>
                                          <p:attrName>style.visibility</p:attrName>
                                        </p:attrNameLst>
                                      </p:cBhvr>
                                      <p:to>
                                        <p:strVal val="visible"/>
                                      </p:to>
                                    </p:set>
                                    <p:anim calcmode="lin" valueType="num">
                                      <p:cBhvr>
                                        <p:cTn id="19" dur="500" fill="hold"/>
                                        <p:tgtEl>
                                          <p:spTgt spid="10"/>
                                        </p:tgtEl>
                                        <p:attrNameLst>
                                          <p:attrName>ppt_w</p:attrName>
                                        </p:attrNameLst>
                                      </p:cBhvr>
                                      <p:tavLst>
                                        <p:tav tm="0">
                                          <p:val>
                                            <p:fltVal val="0"/>
                                          </p:val>
                                        </p:tav>
                                        <p:tav tm="100000">
                                          <p:val>
                                            <p:strVal val="#ppt_w"/>
                                          </p:val>
                                        </p:tav>
                                      </p:tavLst>
                                    </p:anim>
                                    <p:anim calcmode="lin" valueType="num">
                                      <p:cBhvr>
                                        <p:cTn id="20" dur="500" fill="hold"/>
                                        <p:tgtEl>
                                          <p:spTgt spid="10"/>
                                        </p:tgtEl>
                                        <p:attrNameLst>
                                          <p:attrName>ppt_h</p:attrName>
                                        </p:attrNameLst>
                                      </p:cBhvr>
                                      <p:tavLst>
                                        <p:tav tm="0">
                                          <p:val>
                                            <p:fltVal val="0"/>
                                          </p:val>
                                        </p:tav>
                                        <p:tav tm="100000">
                                          <p:val>
                                            <p:strVal val="#ppt_h"/>
                                          </p:val>
                                        </p:tav>
                                      </p:tavLst>
                                    </p:anim>
                                    <p:animEffect transition="in" filter="fade">
                                      <p:cBhvr>
                                        <p:cTn id="21"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24"/>
          <p:cNvGrpSpPr/>
          <p:nvPr/>
        </p:nvGrpSpPr>
        <p:grpSpPr>
          <a:xfrm>
            <a:off x="585126" y="1170635"/>
            <a:ext cx="659155" cy="2648161"/>
            <a:chOff x="6629352" y="1760489"/>
            <a:chExt cx="878876" cy="3530887"/>
          </a:xfrm>
        </p:grpSpPr>
        <p:sp>
          <p:nvSpPr>
            <p:cNvPr id="3" name="文本框 2"/>
            <p:cNvSpPr txBox="1"/>
            <p:nvPr/>
          </p:nvSpPr>
          <p:spPr>
            <a:xfrm rot="10800000">
              <a:off x="6699456" y="2499154"/>
              <a:ext cx="738666" cy="2792222"/>
            </a:xfrm>
            <a:prstGeom prst="rect">
              <a:avLst/>
            </a:prstGeom>
            <a:noFill/>
          </p:spPr>
          <p:txBody>
            <a:bodyPr vert="eaVert" wrap="none" rtlCol="0">
              <a:spAutoFit/>
              <a:scene3d>
                <a:camera prst="orthographicFront"/>
                <a:lightRig rig="threePt" dir="t"/>
              </a:scene3d>
              <a:sp3d contourW="12700"/>
            </a:bodyPr>
            <a:lstStyle/>
            <a:p>
              <a:r>
                <a:rPr lang="en-US" altLang="zh-CN" sz="2400" b="1" dirty="0">
                  <a:solidFill>
                    <a:srgbClr val="4C4C4C"/>
                  </a:solidFill>
                  <a:latin typeface="微软雅黑" panose="020B0503020204020204" charset="-122"/>
                  <a:ea typeface="微软雅黑" panose="020B0503020204020204" charset="-122"/>
                  <a:cs typeface="微软雅黑" panose="020B0503020204020204" charset="-122"/>
                </a:rPr>
                <a:t>GPT</a:t>
              </a:r>
              <a:r>
                <a:rPr lang="zh-CN" altLang="en-US" sz="2400" b="1" dirty="0">
                  <a:solidFill>
                    <a:srgbClr val="4C4C4C"/>
                  </a:solidFill>
                  <a:latin typeface="微软雅黑" panose="020B0503020204020204" charset="-122"/>
                  <a:ea typeface="微软雅黑" panose="020B0503020204020204" charset="-122"/>
                  <a:cs typeface="微软雅黑" panose="020B0503020204020204" charset="-122"/>
                </a:rPr>
                <a:t>、</a:t>
              </a:r>
              <a:r>
                <a:rPr lang="en-US" altLang="zh-CN" sz="2400" b="1" dirty="0">
                  <a:solidFill>
                    <a:srgbClr val="4C4C4C"/>
                  </a:solidFill>
                  <a:latin typeface="微软雅黑" panose="020B0503020204020204" charset="-122"/>
                  <a:ea typeface="微软雅黑" panose="020B0503020204020204" charset="-122"/>
                  <a:cs typeface="微软雅黑" panose="020B0503020204020204" charset="-122"/>
                </a:rPr>
                <a:t>s value</a:t>
              </a:r>
              <a:endParaRPr lang="zh-CN" altLang="en-US" sz="2400" b="1" dirty="0">
                <a:solidFill>
                  <a:srgbClr val="4C4C4C"/>
                </a:solidFill>
                <a:latin typeface="微软雅黑" panose="020B0503020204020204" charset="-122"/>
                <a:ea typeface="微软雅黑" panose="020B0503020204020204" charset="-122"/>
                <a:cs typeface="微软雅黑" panose="020B0503020204020204" charset="-122"/>
              </a:endParaRPr>
            </a:p>
          </p:txBody>
        </p:sp>
        <p:sp>
          <p:nvSpPr>
            <p:cNvPr id="4" name="文本框 3"/>
            <p:cNvSpPr txBox="1"/>
            <p:nvPr/>
          </p:nvSpPr>
          <p:spPr>
            <a:xfrm>
              <a:off x="6629352" y="1760489"/>
              <a:ext cx="878876" cy="738665"/>
            </a:xfrm>
            <a:prstGeom prst="rect">
              <a:avLst/>
            </a:prstGeom>
            <a:noFill/>
          </p:spPr>
          <p:txBody>
            <a:bodyPr wrap="none" rtlCol="0">
              <a:spAutoFit/>
              <a:scene3d>
                <a:camera prst="orthographicFront"/>
                <a:lightRig rig="threePt" dir="t"/>
              </a:scene3d>
              <a:sp3d contourW="12700"/>
            </a:bodyPr>
            <a:lstStyle/>
            <a:p>
              <a:r>
                <a:rPr lang="en-US" altLang="zh-CN" sz="3000" b="1" dirty="0">
                  <a:solidFill>
                    <a:srgbClr val="4C4C4C"/>
                  </a:solidFill>
                  <a:latin typeface="微软雅黑" panose="020B0503020204020204" charset="-122"/>
                  <a:ea typeface="微软雅黑" panose="020B0503020204020204" charset="-122"/>
                  <a:cs typeface="微软雅黑" panose="020B0503020204020204" charset="-122"/>
                </a:rPr>
                <a:t>04</a:t>
              </a:r>
              <a:endParaRPr lang="zh-CN" altLang="en-US" sz="3000" b="1" dirty="0">
                <a:solidFill>
                  <a:srgbClr val="4C4C4C"/>
                </a:solidFill>
                <a:latin typeface="微软雅黑" panose="020B0503020204020204" charset="-122"/>
                <a:ea typeface="微软雅黑" panose="020B0503020204020204" charset="-122"/>
                <a:cs typeface="微软雅黑" panose="020B0503020204020204" charset="-122"/>
              </a:endParaRPr>
            </a:p>
          </p:txBody>
        </p:sp>
      </p:grpSp>
      <p:pic>
        <p:nvPicPr>
          <p:cNvPr id="5" name="图片 4"/>
          <p:cNvPicPr>
            <a:picLocks noChangeAspect="1"/>
          </p:cNvPicPr>
          <p:nvPr/>
        </p:nvPicPr>
        <p:blipFill>
          <a:blip r:embed="rId2"/>
          <a:stretch>
            <a:fillRect/>
          </a:stretch>
        </p:blipFill>
        <p:spPr>
          <a:xfrm>
            <a:off x="5706230" y="1532968"/>
            <a:ext cx="7593775" cy="5325035"/>
          </a:xfrm>
          <a:prstGeom prst="rect">
            <a:avLst/>
          </a:prstGeom>
        </p:spPr>
      </p:pic>
      <p:sp>
        <p:nvSpPr>
          <p:cNvPr id="8" name="TextBox 13"/>
          <p:cNvSpPr txBox="1"/>
          <p:nvPr/>
        </p:nvSpPr>
        <p:spPr>
          <a:xfrm>
            <a:off x="2072211" y="733211"/>
            <a:ext cx="2806089" cy="574133"/>
          </a:xfrm>
          <a:prstGeom prst="rect">
            <a:avLst/>
          </a:prstGeom>
          <a:noFill/>
        </p:spPr>
        <p:txBody>
          <a:bodyPr wrap="none" lIns="80899" tIns="40450" rIns="80899" bIns="40450" rtlCol="0">
            <a:spAutoFit/>
          </a:bodyPr>
          <a:lstStyle/>
          <a:p>
            <a:r>
              <a:rPr lang="en-US" altLang="zh-CN" sz="3200" b="1" dirty="0">
                <a:solidFill>
                  <a:srgbClr val="4C4C4C"/>
                </a:solidFill>
                <a:latin typeface="微软雅黑" panose="020B0503020204020204" charset="-122"/>
                <a:ea typeface="微软雅黑" panose="020B0503020204020204" charset="-122"/>
                <a:cs typeface="微软雅黑" panose="020B0503020204020204" charset="-122"/>
              </a:rPr>
              <a:t>GPT’s value</a:t>
            </a:r>
            <a:endParaRPr lang="zh-CN" altLang="en-US" sz="3200" b="1" dirty="0">
              <a:solidFill>
                <a:srgbClr val="4C4C4C"/>
              </a:solidFill>
              <a:latin typeface="微软雅黑" panose="020B0503020204020204" charset="-122"/>
              <a:ea typeface="微软雅黑" panose="020B0503020204020204" charset="-122"/>
              <a:cs typeface="微软雅黑" panose="020B0503020204020204" charset="-122"/>
            </a:endParaRPr>
          </a:p>
        </p:txBody>
      </p:sp>
      <p:sp>
        <p:nvSpPr>
          <p:cNvPr id="9" name="TextBox 33"/>
          <p:cNvSpPr txBox="1"/>
          <p:nvPr/>
        </p:nvSpPr>
        <p:spPr>
          <a:xfrm>
            <a:off x="2072211" y="1319218"/>
            <a:ext cx="7855560" cy="2305685"/>
          </a:xfrm>
          <a:prstGeom prst="rect">
            <a:avLst/>
          </a:prstGeom>
          <a:noFill/>
        </p:spPr>
        <p:txBody>
          <a:bodyPr wrap="square" lIns="91360" tIns="45680" rIns="91360" bIns="45680" rtlCol="0">
            <a:spAutoFit/>
          </a:bodyPr>
          <a:lstStyle/>
          <a:p>
            <a:pPr>
              <a:lnSpc>
                <a:spcPct val="200000"/>
              </a:lnSpc>
            </a:pPr>
            <a:r>
              <a:rPr lang="en-US" altLang="zh-CN" dirty="0">
                <a:solidFill>
                  <a:schemeClr val="bg1">
                    <a:lumMod val="50000"/>
                  </a:schemeClr>
                </a:solidFill>
                <a:latin typeface="微软雅黑" panose="020B0503020204020204" charset="-122"/>
                <a:ea typeface="微软雅黑" panose="020B0503020204020204" charset="-122"/>
                <a:cs typeface="微软雅黑" panose="020B0503020204020204" charset="-122"/>
                <a:sym typeface="+mn-lt"/>
              </a:rPr>
              <a:t>GPT's value is rooted in its ability to understand and generate human-like text, enabling it to automate tasks, improve accessibility, provide personalized experiences, and drive innovation across various applications.</a:t>
            </a:r>
            <a:endParaRPr lang="zh-CN" altLang="en-US" dirty="0">
              <a:solidFill>
                <a:schemeClr val="bg1">
                  <a:lumMod val="50000"/>
                </a:schemeClr>
              </a:solidFill>
              <a:latin typeface="微软雅黑" panose="020B0503020204020204" charset="-122"/>
              <a:ea typeface="微软雅黑" panose="020B0503020204020204" charset="-122"/>
              <a:cs typeface="微软雅黑" panose="020B0503020204020204" charset="-122"/>
              <a:sym typeface="+mn-lt"/>
            </a:endParaRPr>
          </a:p>
        </p:txBody>
      </p:sp>
    </p:spTree>
  </p:cSld>
  <p:clrMapOvr>
    <a:masterClrMapping/>
  </p:clrMapOvr>
  <mc:AlternateContent xmlns:mc="http://schemas.openxmlformats.org/markup-compatibility/2006" xmlns:p14="http://schemas.microsoft.com/office/powerpoint/2010/main">
    <mc:Choice Requires="p14">
      <p:transition spd="slow" p14:dur="1500" advTm="0">
        <p:random/>
      </p:transition>
    </mc:Choice>
    <mc:Fallback xmlns="">
      <p:transition spd="slow" advTm="0">
        <p:random/>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ppt_x"/>
                                          </p:val>
                                        </p:tav>
                                        <p:tav tm="100000">
                                          <p:val>
                                            <p:strVal val="#ppt_x"/>
                                          </p:val>
                                        </p:tav>
                                      </p:tavLst>
                                    </p:anim>
                                    <p:anim calcmode="lin" valueType="num">
                                      <p:cBhvr additive="base">
                                        <p:cTn id="8" dur="500" fill="hold"/>
                                        <p:tgtEl>
                                          <p:spTgt spid="5"/>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53" presetClass="entr" presetSubtype="16" fill="hold" nodeType="clickEffect">
                                  <p:stCondLst>
                                    <p:cond delay="0"/>
                                  </p:stCondLst>
                                  <p:childTnLst>
                                    <p:set>
                                      <p:cBhvr>
                                        <p:cTn id="12" dur="1" fill="hold">
                                          <p:stCondLst>
                                            <p:cond delay="0"/>
                                          </p:stCondLst>
                                        </p:cTn>
                                        <p:tgtEl>
                                          <p:spTgt spid="8">
                                            <p:txEl>
                                              <p:pRg st="0" end="0"/>
                                            </p:txEl>
                                          </p:spTgt>
                                        </p:tgtEl>
                                        <p:attrNameLst>
                                          <p:attrName>style.visibility</p:attrName>
                                        </p:attrNameLst>
                                      </p:cBhvr>
                                      <p:to>
                                        <p:strVal val="visible"/>
                                      </p:to>
                                    </p:set>
                                    <p:anim calcmode="lin" valueType="num">
                                      <p:cBhvr>
                                        <p:cTn id="13" dur="500" fill="hold"/>
                                        <p:tgtEl>
                                          <p:spTgt spid="8">
                                            <p:txEl>
                                              <p:pRg st="0" end="0"/>
                                            </p:txEl>
                                          </p:spTgt>
                                        </p:tgtEl>
                                        <p:attrNameLst>
                                          <p:attrName>ppt_w</p:attrName>
                                        </p:attrNameLst>
                                      </p:cBhvr>
                                      <p:tavLst>
                                        <p:tav tm="0">
                                          <p:val>
                                            <p:fltVal val="0"/>
                                          </p:val>
                                        </p:tav>
                                        <p:tav tm="100000">
                                          <p:val>
                                            <p:strVal val="#ppt_w"/>
                                          </p:val>
                                        </p:tav>
                                      </p:tavLst>
                                    </p:anim>
                                    <p:anim calcmode="lin" valueType="num">
                                      <p:cBhvr>
                                        <p:cTn id="14" dur="500" fill="hold"/>
                                        <p:tgtEl>
                                          <p:spTgt spid="8">
                                            <p:txEl>
                                              <p:pRg st="0" end="0"/>
                                            </p:txEl>
                                          </p:spTgt>
                                        </p:tgtEl>
                                        <p:attrNameLst>
                                          <p:attrName>ppt_h</p:attrName>
                                        </p:attrNameLst>
                                      </p:cBhvr>
                                      <p:tavLst>
                                        <p:tav tm="0">
                                          <p:val>
                                            <p:fltVal val="0"/>
                                          </p:val>
                                        </p:tav>
                                        <p:tav tm="100000">
                                          <p:val>
                                            <p:strVal val="#ppt_h"/>
                                          </p:val>
                                        </p:tav>
                                      </p:tavLst>
                                    </p:anim>
                                    <p:animEffect transition="in" filter="fade">
                                      <p:cBhvr>
                                        <p:cTn id="15" dur="500"/>
                                        <p:tgtEl>
                                          <p:spTgt spid="8">
                                            <p:txEl>
                                              <p:pRg st="0" end="0"/>
                                            </p:txEl>
                                          </p:spTgt>
                                        </p:tgtEl>
                                      </p:cBhvr>
                                    </p:animEffect>
                                  </p:childTnLst>
                                </p:cTn>
                              </p:par>
                              <p:par>
                                <p:cTn id="16" presetID="10" presetClass="entr" presetSubtype="0" fill="hold" grpId="0" nodeType="withEffect">
                                  <p:stCondLst>
                                    <p:cond delay="500"/>
                                  </p:stCondLst>
                                  <p:childTnLst>
                                    <p:set>
                                      <p:cBhvr>
                                        <p:cTn id="17" dur="1" fill="hold">
                                          <p:stCondLst>
                                            <p:cond delay="0"/>
                                          </p:stCondLst>
                                        </p:cTn>
                                        <p:tgtEl>
                                          <p:spTgt spid="9"/>
                                        </p:tgtEl>
                                        <p:attrNameLst>
                                          <p:attrName>style.visibility</p:attrName>
                                        </p:attrNameLst>
                                      </p:cBhvr>
                                      <p:to>
                                        <p:strVal val="visible"/>
                                      </p:to>
                                    </p:set>
                                    <p:animEffect transition="in" filter="fade">
                                      <p:cBhvr>
                                        <p:cTn id="18"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矩形 5"/>
          <p:cNvSpPr/>
          <p:nvPr/>
        </p:nvSpPr>
        <p:spPr>
          <a:xfrm>
            <a:off x="3609975" y="3277235"/>
            <a:ext cx="2876550" cy="307975"/>
          </a:xfrm>
          <a:prstGeom prst="rect">
            <a:avLst/>
          </a:prstGeom>
        </p:spPr>
        <p:txBody>
          <a:bodyPr wrap="square">
            <a:spAutoFit/>
            <a:scene3d>
              <a:camera prst="orthographicFront"/>
              <a:lightRig rig="threePt" dir="t"/>
            </a:scene3d>
            <a:sp3d contourW="12700"/>
          </a:bodyPr>
          <a:lstStyle/>
          <a:p>
            <a:pPr lvl="0">
              <a:defRPr/>
            </a:pPr>
            <a:endParaRPr lang="zh-CN" altLang="en-US" sz="1400" dirty="0">
              <a:solidFill>
                <a:schemeClr val="bg1">
                  <a:lumMod val="65000"/>
                </a:schemeClr>
              </a:solidFill>
              <a:latin typeface="微软雅黑" panose="020B0503020204020204" charset="-122"/>
              <a:ea typeface="微软雅黑" panose="020B0503020204020204" charset="-122"/>
              <a:cs typeface="微软雅黑" panose="020B0503020204020204" charset="-122"/>
            </a:endParaRPr>
          </a:p>
        </p:txBody>
      </p:sp>
      <p:sp>
        <p:nvSpPr>
          <p:cNvPr id="8" name="文本框 7"/>
          <p:cNvSpPr txBox="1"/>
          <p:nvPr/>
        </p:nvSpPr>
        <p:spPr>
          <a:xfrm>
            <a:off x="784267" y="2015254"/>
            <a:ext cx="2825828" cy="2092881"/>
          </a:xfrm>
          <a:prstGeom prst="rect">
            <a:avLst/>
          </a:prstGeom>
          <a:noFill/>
        </p:spPr>
        <p:txBody>
          <a:bodyPr wrap="square" rtlCol="0">
            <a:spAutoFit/>
          </a:bodyPr>
          <a:lstStyle/>
          <a:p>
            <a:r>
              <a:rPr kumimoji="1" lang="en-US" altLang="zh-CN" sz="13000" b="1" i="1" dirty="0">
                <a:solidFill>
                  <a:schemeClr val="bg1">
                    <a:lumMod val="65000"/>
                  </a:schemeClr>
                </a:solidFill>
                <a:latin typeface="微软雅黑" panose="020B0503020204020204" charset="-122"/>
                <a:ea typeface="微软雅黑" panose="020B0503020204020204" charset="-122"/>
                <a:cs typeface="微软雅黑" panose="020B0503020204020204" charset="-122"/>
              </a:rPr>
              <a:t>05.</a:t>
            </a:r>
            <a:endParaRPr kumimoji="1" lang="zh-CN" altLang="en-US" sz="13000" b="1" i="1" dirty="0">
              <a:solidFill>
                <a:schemeClr val="bg1">
                  <a:lumMod val="65000"/>
                </a:schemeClr>
              </a:solidFill>
              <a:latin typeface="微软雅黑" panose="020B0503020204020204" charset="-122"/>
              <a:ea typeface="微软雅黑" panose="020B0503020204020204" charset="-122"/>
              <a:cs typeface="微软雅黑" panose="020B0503020204020204" charset="-122"/>
            </a:endParaRPr>
          </a:p>
        </p:txBody>
      </p:sp>
      <p:pic>
        <p:nvPicPr>
          <p:cNvPr id="10" name="图片 9"/>
          <p:cNvPicPr>
            <a:picLocks noChangeAspect="1"/>
          </p:cNvPicPr>
          <p:nvPr/>
        </p:nvPicPr>
        <p:blipFill>
          <a:blip r:embed="rId4" cstate="screen"/>
          <a:stretch>
            <a:fillRect/>
          </a:stretch>
        </p:blipFill>
        <p:spPr>
          <a:xfrm>
            <a:off x="7820221" y="2133600"/>
            <a:ext cx="4926953" cy="4724400"/>
          </a:xfrm>
          <a:prstGeom prst="rect">
            <a:avLst/>
          </a:prstGeom>
        </p:spPr>
      </p:pic>
      <p:grpSp>
        <p:nvGrpSpPr>
          <p:cNvPr id="2" name="组合 40"/>
          <p:cNvGrpSpPr/>
          <p:nvPr/>
        </p:nvGrpSpPr>
        <p:grpSpPr>
          <a:xfrm>
            <a:off x="3594521" y="2415363"/>
            <a:ext cx="6211572" cy="1169551"/>
            <a:chOff x="5616530" y="-1285285"/>
            <a:chExt cx="8282095" cy="1559404"/>
          </a:xfrm>
        </p:grpSpPr>
        <p:sp>
          <p:nvSpPr>
            <p:cNvPr id="3" name="矩形 2"/>
            <p:cNvSpPr/>
            <p:nvPr>
              <p:custDataLst>
                <p:tags r:id="rId1"/>
              </p:custDataLst>
            </p:nvPr>
          </p:nvSpPr>
          <p:spPr>
            <a:xfrm>
              <a:off x="5637293" y="-136251"/>
              <a:ext cx="3835694" cy="410370"/>
            </a:xfrm>
            <a:prstGeom prst="rect">
              <a:avLst/>
            </a:prstGeom>
          </p:spPr>
          <p:txBody>
            <a:bodyPr wrap="square">
              <a:spAutoFit/>
              <a:scene3d>
                <a:camera prst="orthographicFront"/>
                <a:lightRig rig="threePt" dir="t"/>
              </a:scene3d>
              <a:sp3d contourW="12700"/>
            </a:bodyPr>
            <a:lstStyle/>
            <a:p>
              <a:pPr lvl="0">
                <a:defRPr/>
              </a:pPr>
              <a:endParaRPr lang="zh-CN" altLang="en-US" sz="1400" dirty="0">
                <a:solidFill>
                  <a:schemeClr val="bg1">
                    <a:lumMod val="65000"/>
                  </a:schemeClr>
                </a:solidFill>
                <a:latin typeface="微软雅黑" panose="020B0503020204020204" charset="-122"/>
                <a:ea typeface="微软雅黑" panose="020B0503020204020204" charset="-122"/>
                <a:cs typeface="微软雅黑" panose="020B0503020204020204" charset="-122"/>
              </a:endParaRPr>
            </a:p>
          </p:txBody>
        </p:sp>
        <p:sp>
          <p:nvSpPr>
            <p:cNvPr id="5" name="文本框 4"/>
            <p:cNvSpPr txBox="1"/>
            <p:nvPr>
              <p:custDataLst>
                <p:tags r:id="rId2"/>
              </p:custDataLst>
            </p:nvPr>
          </p:nvSpPr>
          <p:spPr>
            <a:xfrm>
              <a:off x="5616530" y="-1285285"/>
              <a:ext cx="8282095" cy="1107998"/>
            </a:xfrm>
            <a:prstGeom prst="rect">
              <a:avLst/>
            </a:prstGeom>
            <a:noFill/>
          </p:spPr>
          <p:txBody>
            <a:bodyPr wrap="none" rtlCol="0">
              <a:spAutoFit/>
              <a:scene3d>
                <a:camera prst="orthographicFront"/>
                <a:lightRig rig="threePt" dir="t"/>
              </a:scene3d>
              <a:sp3d contourW="12700"/>
            </a:bodyPr>
            <a:lstStyle/>
            <a:p>
              <a:pPr algn="l"/>
              <a:r>
                <a:rPr lang="en-US" altLang="zh-CN" sz="4800" b="1" dirty="0">
                  <a:solidFill>
                    <a:srgbClr val="4C4C4C"/>
                  </a:solidFill>
                  <a:latin typeface="微软雅黑" panose="020B0503020204020204" charset="-122"/>
                  <a:ea typeface="微软雅黑" panose="020B0503020204020204" charset="-122"/>
                  <a:cs typeface="微软雅黑" panose="020B0503020204020204" charset="-122"/>
                  <a:sym typeface="+mn-ea"/>
                </a:rPr>
                <a:t>Weaknesses of GPT</a:t>
              </a:r>
              <a:endParaRPr lang="zh-CN" altLang="en-US" sz="4800" b="1" dirty="0">
                <a:solidFill>
                  <a:srgbClr val="4C4C4C"/>
                </a:solidFill>
                <a:latin typeface="微软雅黑" panose="020B0503020204020204" charset="-122"/>
                <a:ea typeface="微软雅黑" panose="020B0503020204020204" charset="-122"/>
                <a:cs typeface="微软雅黑" panose="020B0503020204020204" charset="-122"/>
              </a:endParaRPr>
            </a:p>
          </p:txBody>
        </p:sp>
      </p:grpSp>
    </p:spTree>
  </p:cSld>
  <p:clrMapOvr>
    <a:masterClrMapping/>
  </p:clrMapOvr>
  <mc:AlternateContent xmlns:mc="http://schemas.openxmlformats.org/markup-compatibility/2006" xmlns:p14="http://schemas.microsoft.com/office/powerpoint/2010/main">
    <mc:Choice Requires="p14">
      <p:transition spd="slow" p14:dur="1500" advTm="0">
        <p:random/>
      </p:transition>
    </mc:Choice>
    <mc:Fallback xmlns="">
      <p:transition spd="slow" advTm="0">
        <p:random/>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additive="base">
                                        <p:cTn id="7" dur="500" fill="hold"/>
                                        <p:tgtEl>
                                          <p:spTgt spid="8"/>
                                        </p:tgtEl>
                                        <p:attrNameLst>
                                          <p:attrName>ppt_x</p:attrName>
                                        </p:attrNameLst>
                                      </p:cBhvr>
                                      <p:tavLst>
                                        <p:tav tm="0">
                                          <p:val>
                                            <p:strVal val="#ppt_x"/>
                                          </p:val>
                                        </p:tav>
                                        <p:tav tm="100000">
                                          <p:val>
                                            <p:strVal val="#ppt_x"/>
                                          </p:val>
                                        </p:tav>
                                      </p:tavLst>
                                    </p:anim>
                                    <p:anim calcmode="lin" valueType="num">
                                      <p:cBhvr additive="base">
                                        <p:cTn id="8" dur="500" fill="hold"/>
                                        <p:tgtEl>
                                          <p:spTgt spid="8"/>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53" presetClass="entr" presetSubtype="16" fill="hold" nodeType="clickEffect">
                                  <p:stCondLst>
                                    <p:cond delay="0"/>
                                  </p:stCondLst>
                                  <p:childTnLst>
                                    <p:set>
                                      <p:cBhvr>
                                        <p:cTn id="12" dur="1" fill="hold">
                                          <p:stCondLst>
                                            <p:cond delay="0"/>
                                          </p:stCondLst>
                                        </p:cTn>
                                        <p:tgtEl>
                                          <p:spTgt spid="10"/>
                                        </p:tgtEl>
                                        <p:attrNameLst>
                                          <p:attrName>style.visibility</p:attrName>
                                        </p:attrNameLst>
                                      </p:cBhvr>
                                      <p:to>
                                        <p:strVal val="visible"/>
                                      </p:to>
                                    </p:set>
                                    <p:anim calcmode="lin" valueType="num">
                                      <p:cBhvr>
                                        <p:cTn id="13" dur="500" fill="hold"/>
                                        <p:tgtEl>
                                          <p:spTgt spid="10"/>
                                        </p:tgtEl>
                                        <p:attrNameLst>
                                          <p:attrName>ppt_w</p:attrName>
                                        </p:attrNameLst>
                                      </p:cBhvr>
                                      <p:tavLst>
                                        <p:tav tm="0">
                                          <p:val>
                                            <p:fltVal val="0"/>
                                          </p:val>
                                        </p:tav>
                                        <p:tav tm="100000">
                                          <p:val>
                                            <p:strVal val="#ppt_w"/>
                                          </p:val>
                                        </p:tav>
                                      </p:tavLst>
                                    </p:anim>
                                    <p:anim calcmode="lin" valueType="num">
                                      <p:cBhvr>
                                        <p:cTn id="14" dur="500" fill="hold"/>
                                        <p:tgtEl>
                                          <p:spTgt spid="10"/>
                                        </p:tgtEl>
                                        <p:attrNameLst>
                                          <p:attrName>ppt_h</p:attrName>
                                        </p:attrNameLst>
                                      </p:cBhvr>
                                      <p:tavLst>
                                        <p:tav tm="0">
                                          <p:val>
                                            <p:fltVal val="0"/>
                                          </p:val>
                                        </p:tav>
                                        <p:tav tm="100000">
                                          <p:val>
                                            <p:strVal val="#ppt_h"/>
                                          </p:val>
                                        </p:tav>
                                      </p:tavLst>
                                    </p:anim>
                                    <p:animEffect transition="in" filter="fade">
                                      <p:cBhvr>
                                        <p:cTn id="15" dur="500"/>
                                        <p:tgtEl>
                                          <p:spTgt spid="10"/>
                                        </p:tgtEl>
                                      </p:cBhvr>
                                    </p:animEffect>
                                  </p:childTnLst>
                                </p:cTn>
                              </p:par>
                            </p:childTnLst>
                          </p:cTn>
                        </p:par>
                      </p:childTnLst>
                    </p:cTn>
                  </p:par>
                  <p:par>
                    <p:cTn id="16" fill="hold">
                      <p:stCondLst>
                        <p:cond delay="indefinite"/>
                      </p:stCondLst>
                      <p:childTnLst>
                        <p:par>
                          <p:cTn id="17" fill="hold">
                            <p:stCondLst>
                              <p:cond delay="0"/>
                            </p:stCondLst>
                            <p:childTnLst>
                              <p:par>
                                <p:cTn id="18" presetID="2" presetClass="entr" presetSubtype="4" fill="hold" nodeType="clickEffect">
                                  <p:stCondLst>
                                    <p:cond delay="0"/>
                                  </p:stCondLst>
                                  <p:childTnLst>
                                    <p:set>
                                      <p:cBhvr>
                                        <p:cTn id="19" dur="1" fill="hold">
                                          <p:stCondLst>
                                            <p:cond delay="0"/>
                                          </p:stCondLst>
                                        </p:cTn>
                                        <p:tgtEl>
                                          <p:spTgt spid="2"/>
                                        </p:tgtEl>
                                        <p:attrNameLst>
                                          <p:attrName>style.visibility</p:attrName>
                                        </p:attrNameLst>
                                      </p:cBhvr>
                                      <p:to>
                                        <p:strVal val="visible"/>
                                      </p:to>
                                    </p:set>
                                    <p:anim calcmode="lin" valueType="num">
                                      <p:cBhvr additive="base">
                                        <p:cTn id="20" dur="500" fill="hold"/>
                                        <p:tgtEl>
                                          <p:spTgt spid="2"/>
                                        </p:tgtEl>
                                        <p:attrNameLst>
                                          <p:attrName>ppt_x</p:attrName>
                                        </p:attrNameLst>
                                      </p:cBhvr>
                                      <p:tavLst>
                                        <p:tav tm="0">
                                          <p:val>
                                            <p:strVal val="#ppt_x"/>
                                          </p:val>
                                        </p:tav>
                                        <p:tav tm="100000">
                                          <p:val>
                                            <p:strVal val="#ppt_x"/>
                                          </p:val>
                                        </p:tav>
                                      </p:tavLst>
                                    </p:anim>
                                    <p:anim calcmode="lin" valueType="num">
                                      <p:cBhvr additive="base">
                                        <p:cTn id="21" dur="500" fill="hold"/>
                                        <p:tgtEl>
                                          <p:spTgt spid="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24"/>
          <p:cNvGrpSpPr/>
          <p:nvPr/>
        </p:nvGrpSpPr>
        <p:grpSpPr>
          <a:xfrm>
            <a:off x="585126" y="1170635"/>
            <a:ext cx="659155" cy="3658951"/>
            <a:chOff x="6629352" y="1760489"/>
            <a:chExt cx="878876" cy="4878607"/>
          </a:xfrm>
        </p:grpSpPr>
        <p:sp>
          <p:nvSpPr>
            <p:cNvPr id="3" name="文本框 2"/>
            <p:cNvSpPr txBox="1"/>
            <p:nvPr/>
          </p:nvSpPr>
          <p:spPr>
            <a:xfrm rot="10800000">
              <a:off x="6674731" y="2499154"/>
              <a:ext cx="738666" cy="4139942"/>
            </a:xfrm>
            <a:prstGeom prst="rect">
              <a:avLst/>
            </a:prstGeom>
            <a:noFill/>
          </p:spPr>
          <p:txBody>
            <a:bodyPr vert="eaVert" wrap="none" rtlCol="0">
              <a:spAutoFit/>
              <a:scene3d>
                <a:camera prst="orthographicFront"/>
                <a:lightRig rig="threePt" dir="t"/>
              </a:scene3d>
              <a:sp3d contourW="12700"/>
            </a:bodyPr>
            <a:lstStyle/>
            <a:p>
              <a:pPr algn="l"/>
              <a:r>
                <a:rPr lang="en-US" altLang="zh-CN" sz="2400" b="1" dirty="0">
                  <a:solidFill>
                    <a:srgbClr val="4C4C4C"/>
                  </a:solidFill>
                  <a:latin typeface="微软雅黑" panose="020B0503020204020204" charset="-122"/>
                  <a:ea typeface="微软雅黑" panose="020B0503020204020204" charset="-122"/>
                  <a:cs typeface="微软雅黑" panose="020B0503020204020204" charset="-122"/>
                  <a:sym typeface="+mn-ea"/>
                </a:rPr>
                <a:t>Weaknesses of GPT</a:t>
              </a:r>
              <a:endParaRPr lang="zh-CN" altLang="en-US" sz="2400" b="1" dirty="0">
                <a:solidFill>
                  <a:srgbClr val="4C4C4C"/>
                </a:solidFill>
                <a:latin typeface="微软雅黑" panose="020B0503020204020204" charset="-122"/>
                <a:ea typeface="微软雅黑" panose="020B0503020204020204" charset="-122"/>
                <a:cs typeface="微软雅黑" panose="020B0503020204020204" charset="-122"/>
              </a:endParaRPr>
            </a:p>
          </p:txBody>
        </p:sp>
        <p:sp>
          <p:nvSpPr>
            <p:cNvPr id="4" name="文本框 3"/>
            <p:cNvSpPr txBox="1"/>
            <p:nvPr/>
          </p:nvSpPr>
          <p:spPr>
            <a:xfrm>
              <a:off x="6629352" y="1760489"/>
              <a:ext cx="878876" cy="738665"/>
            </a:xfrm>
            <a:prstGeom prst="rect">
              <a:avLst/>
            </a:prstGeom>
            <a:noFill/>
          </p:spPr>
          <p:txBody>
            <a:bodyPr wrap="none" rtlCol="0">
              <a:spAutoFit/>
              <a:scene3d>
                <a:camera prst="orthographicFront"/>
                <a:lightRig rig="threePt" dir="t"/>
              </a:scene3d>
              <a:sp3d contourW="12700"/>
            </a:bodyPr>
            <a:lstStyle/>
            <a:p>
              <a:r>
                <a:rPr lang="en-US" altLang="zh-CN" sz="3000" b="1" dirty="0">
                  <a:solidFill>
                    <a:srgbClr val="4C4C4C"/>
                  </a:solidFill>
                  <a:latin typeface="微软雅黑" panose="020B0503020204020204" charset="-122"/>
                  <a:ea typeface="微软雅黑" panose="020B0503020204020204" charset="-122"/>
                  <a:cs typeface="微软雅黑" panose="020B0503020204020204" charset="-122"/>
                </a:rPr>
                <a:t>05</a:t>
              </a:r>
              <a:endParaRPr lang="zh-CN" altLang="en-US" sz="3000" b="1" dirty="0">
                <a:solidFill>
                  <a:srgbClr val="4C4C4C"/>
                </a:solidFill>
                <a:latin typeface="微软雅黑" panose="020B0503020204020204" charset="-122"/>
                <a:ea typeface="微软雅黑" panose="020B0503020204020204" charset="-122"/>
                <a:cs typeface="微软雅黑" panose="020B0503020204020204" charset="-122"/>
              </a:endParaRPr>
            </a:p>
          </p:txBody>
        </p:sp>
      </p:grpSp>
      <p:sp>
        <p:nvSpPr>
          <p:cNvPr id="5" name="TextBox 33"/>
          <p:cNvSpPr txBox="1"/>
          <p:nvPr/>
        </p:nvSpPr>
        <p:spPr>
          <a:xfrm>
            <a:off x="1908577" y="1532968"/>
            <a:ext cx="6591479" cy="3044825"/>
          </a:xfrm>
          <a:prstGeom prst="rect">
            <a:avLst/>
          </a:prstGeom>
          <a:noFill/>
        </p:spPr>
        <p:txBody>
          <a:bodyPr wrap="square" lIns="91360" tIns="45680" rIns="91360" bIns="45680" rtlCol="0">
            <a:spAutoFit/>
          </a:bodyPr>
          <a:lstStyle/>
          <a:p>
            <a:pPr indent="0">
              <a:lnSpc>
                <a:spcPct val="200000"/>
              </a:lnSpc>
              <a:buFont typeface="Wingdings" panose="05000000000000000000" pitchFamily="2" charset="2"/>
              <a:buNone/>
            </a:pPr>
            <a:endParaRPr lang="en-US" altLang="zh-CN" sz="1200" dirty="0">
              <a:solidFill>
                <a:schemeClr val="bg1">
                  <a:lumMod val="50000"/>
                </a:schemeClr>
              </a:solidFill>
              <a:latin typeface="微软雅黑" panose="020B0503020204020204" charset="-122"/>
              <a:ea typeface="微软雅黑" panose="020B0503020204020204" charset="-122"/>
              <a:cs typeface="微软雅黑" panose="020B0503020204020204" charset="-122"/>
              <a:sym typeface="+mn-lt"/>
            </a:endParaRPr>
          </a:p>
          <a:p>
            <a:pPr marL="171450" indent="-171450">
              <a:lnSpc>
                <a:spcPct val="200000"/>
              </a:lnSpc>
              <a:buFont typeface="Wingdings" panose="05000000000000000000" pitchFamily="2" charset="2"/>
              <a:buChar char="ü"/>
            </a:pPr>
            <a:r>
              <a:rPr lang="en-US" altLang="zh-CN" sz="1200" b="1" dirty="0">
                <a:solidFill>
                  <a:schemeClr val="bg1">
                    <a:lumMod val="50000"/>
                  </a:schemeClr>
                </a:solidFill>
                <a:latin typeface="微软雅黑" panose="020B0503020204020204" charset="-122"/>
                <a:ea typeface="微软雅黑" panose="020B0503020204020204" charset="-122"/>
                <a:cs typeface="微软雅黑" panose="020B0503020204020204" charset="-122"/>
                <a:sym typeface="+mn-lt"/>
              </a:rPr>
              <a:t>Weaknesses: </a:t>
            </a:r>
            <a:r>
              <a:rPr lang="en-US" altLang="zh-CN" sz="1200" dirty="0">
                <a:solidFill>
                  <a:schemeClr val="bg1">
                    <a:lumMod val="50000"/>
                  </a:schemeClr>
                </a:solidFill>
                <a:latin typeface="微软雅黑" panose="020B0503020204020204" charset="-122"/>
                <a:ea typeface="微软雅黑" panose="020B0503020204020204" charset="-122"/>
                <a:cs typeface="微软雅黑" panose="020B0503020204020204" charset="-122"/>
                <a:sym typeface="+mn-lt"/>
              </a:rPr>
              <a:t>Although the advantages of GPT have been explained above, GPT has its weaknesses. It doesn't truly understand language or context. For example, it might generate inaccurate information if the input is ambiguous or misleading. It also has the potential for misuse, such as generating spam or misinformation. Furthermore, training and deploying GPT models can be resource-intensive, requiring significant computational power and data. For instance, OpenAI's GPT-3 model required a substantial amount of computational resources for training.</a:t>
            </a:r>
            <a:endParaRPr lang="zh-CN" altLang="en-US" sz="1200" dirty="0">
              <a:solidFill>
                <a:schemeClr val="bg1">
                  <a:lumMod val="50000"/>
                </a:schemeClr>
              </a:solidFill>
              <a:latin typeface="微软雅黑" panose="020B0503020204020204" charset="-122"/>
              <a:ea typeface="微软雅黑" panose="020B0503020204020204" charset="-122"/>
              <a:cs typeface="微软雅黑" panose="020B0503020204020204" charset="-122"/>
              <a:sym typeface="+mn-lt"/>
            </a:endParaRPr>
          </a:p>
        </p:txBody>
      </p:sp>
      <p:pic>
        <p:nvPicPr>
          <p:cNvPr id="6" name="图片 5"/>
          <p:cNvPicPr>
            <a:picLocks noChangeAspect="1"/>
          </p:cNvPicPr>
          <p:nvPr/>
        </p:nvPicPr>
        <p:blipFill>
          <a:blip r:embed="rId2" cstate="screen"/>
          <a:stretch>
            <a:fillRect/>
          </a:stretch>
        </p:blipFill>
        <p:spPr>
          <a:xfrm>
            <a:off x="8389665" y="656927"/>
            <a:ext cx="3962400" cy="4843272"/>
          </a:xfrm>
          <a:prstGeom prst="rect">
            <a:avLst/>
          </a:prstGeom>
          <a:effectLst>
            <a:outerShdw blurRad="50800" dist="76200" dir="5400000" algn="t" rotWithShape="0">
              <a:prstClr val="black">
                <a:alpha val="40000"/>
              </a:prstClr>
            </a:outerShdw>
          </a:effectLst>
        </p:spPr>
      </p:pic>
      <p:sp>
        <p:nvSpPr>
          <p:cNvPr id="7" name="TextBox 13"/>
          <p:cNvSpPr txBox="1"/>
          <p:nvPr/>
        </p:nvSpPr>
        <p:spPr>
          <a:xfrm>
            <a:off x="1656032" y="958835"/>
            <a:ext cx="7457176" cy="572135"/>
          </a:xfrm>
          <a:prstGeom prst="rect">
            <a:avLst/>
          </a:prstGeom>
          <a:noFill/>
        </p:spPr>
        <p:txBody>
          <a:bodyPr wrap="square" lIns="80899" tIns="40450" rIns="80899" bIns="40450" rtlCol="0">
            <a:spAutoFit/>
          </a:bodyPr>
          <a:lstStyle/>
          <a:p>
            <a:r>
              <a:rPr lang="en-US" altLang="zh-CN" sz="3200" b="1" dirty="0">
                <a:solidFill>
                  <a:srgbClr val="4C4C4C"/>
                </a:solidFill>
                <a:latin typeface="微软雅黑" panose="020B0503020204020204" charset="-122"/>
                <a:ea typeface="微软雅黑" panose="020B0503020204020204" charset="-122"/>
                <a:cs typeface="微软雅黑" panose="020B0503020204020204" charset="-122"/>
              </a:rPr>
              <a:t>Weaknesses of GPT</a:t>
            </a:r>
            <a:endParaRPr lang="zh-CN" altLang="en-US" sz="3200" b="1" dirty="0">
              <a:solidFill>
                <a:srgbClr val="4C4C4C"/>
              </a:solidFill>
              <a:latin typeface="微软雅黑" panose="020B0503020204020204" charset="-122"/>
              <a:ea typeface="微软雅黑" panose="020B0503020204020204" charset="-122"/>
              <a:cs typeface="微软雅黑" panose="020B0503020204020204" charset="-122"/>
            </a:endParaRPr>
          </a:p>
        </p:txBody>
      </p:sp>
    </p:spTree>
  </p:cSld>
  <p:clrMapOvr>
    <a:masterClrMapping/>
  </p:clrMapOvr>
  <mc:AlternateContent xmlns:mc="http://schemas.openxmlformats.org/markup-compatibility/2006" xmlns:p14="http://schemas.microsoft.com/office/powerpoint/2010/main">
    <mc:Choice Requires="p14">
      <p:transition spd="slow" p14:dur="1500" advTm="0">
        <p:random/>
      </p:transition>
    </mc:Choice>
    <mc:Fallback xmlns="">
      <p:transition spd="slow" advTm="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53" presetClass="entr" presetSubtype="16" fill="hold" nodeType="clickEffect">
                                  <p:stCondLst>
                                    <p:cond delay="0"/>
                                  </p:stCondLst>
                                  <p:childTnLst>
                                    <p:set>
                                      <p:cBhvr>
                                        <p:cTn id="11" dur="1" fill="hold">
                                          <p:stCondLst>
                                            <p:cond delay="0"/>
                                          </p:stCondLst>
                                        </p:cTn>
                                        <p:tgtEl>
                                          <p:spTgt spid="7">
                                            <p:txEl>
                                              <p:pRg st="0" end="0"/>
                                            </p:txEl>
                                          </p:spTgt>
                                        </p:tgtEl>
                                        <p:attrNameLst>
                                          <p:attrName>style.visibility</p:attrName>
                                        </p:attrNameLst>
                                      </p:cBhvr>
                                      <p:to>
                                        <p:strVal val="visible"/>
                                      </p:to>
                                    </p:set>
                                    <p:anim calcmode="lin" valueType="num">
                                      <p:cBhvr>
                                        <p:cTn id="12" dur="500" fill="hold"/>
                                        <p:tgtEl>
                                          <p:spTgt spid="7">
                                            <p:txEl>
                                              <p:pRg st="0" end="0"/>
                                            </p:txEl>
                                          </p:spTgt>
                                        </p:tgtEl>
                                        <p:attrNameLst>
                                          <p:attrName>ppt_w</p:attrName>
                                        </p:attrNameLst>
                                      </p:cBhvr>
                                      <p:tavLst>
                                        <p:tav tm="0">
                                          <p:val>
                                            <p:fltVal val="0"/>
                                          </p:val>
                                        </p:tav>
                                        <p:tav tm="100000">
                                          <p:val>
                                            <p:strVal val="#ppt_w"/>
                                          </p:val>
                                        </p:tav>
                                      </p:tavLst>
                                    </p:anim>
                                    <p:anim calcmode="lin" valueType="num">
                                      <p:cBhvr>
                                        <p:cTn id="13" dur="500" fill="hold"/>
                                        <p:tgtEl>
                                          <p:spTgt spid="7">
                                            <p:txEl>
                                              <p:pRg st="0" end="0"/>
                                            </p:txEl>
                                          </p:spTgt>
                                        </p:tgtEl>
                                        <p:attrNameLst>
                                          <p:attrName>ppt_h</p:attrName>
                                        </p:attrNameLst>
                                      </p:cBhvr>
                                      <p:tavLst>
                                        <p:tav tm="0">
                                          <p:val>
                                            <p:fltVal val="0"/>
                                          </p:val>
                                        </p:tav>
                                        <p:tav tm="100000">
                                          <p:val>
                                            <p:strVal val="#ppt_h"/>
                                          </p:val>
                                        </p:tav>
                                      </p:tavLst>
                                    </p:anim>
                                    <p:animEffect transition="in" filter="fade">
                                      <p:cBhvr>
                                        <p:cTn id="14" dur="500"/>
                                        <p:tgtEl>
                                          <p:spTgt spid="7">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40"/>
          <p:cNvGrpSpPr/>
          <p:nvPr/>
        </p:nvGrpSpPr>
        <p:grpSpPr>
          <a:xfrm>
            <a:off x="3221034" y="2415363"/>
            <a:ext cx="5698611" cy="1169551"/>
            <a:chOff x="5118547" y="-1285285"/>
            <a:chExt cx="7598147" cy="1559404"/>
          </a:xfrm>
        </p:grpSpPr>
        <p:sp>
          <p:nvSpPr>
            <p:cNvPr id="6" name="矩形 5"/>
            <p:cNvSpPr/>
            <p:nvPr/>
          </p:nvSpPr>
          <p:spPr>
            <a:xfrm>
              <a:off x="5637293" y="-136251"/>
              <a:ext cx="3835694" cy="410370"/>
            </a:xfrm>
            <a:prstGeom prst="rect">
              <a:avLst/>
            </a:prstGeom>
          </p:spPr>
          <p:txBody>
            <a:bodyPr wrap="square">
              <a:spAutoFit/>
              <a:scene3d>
                <a:camera prst="orthographicFront"/>
                <a:lightRig rig="threePt" dir="t"/>
              </a:scene3d>
              <a:sp3d contourW="12700"/>
            </a:bodyPr>
            <a:lstStyle/>
            <a:p>
              <a:pPr lvl="0">
                <a:defRPr/>
              </a:pPr>
              <a:endParaRPr lang="zh-CN" altLang="en-US" sz="1400" dirty="0">
                <a:solidFill>
                  <a:schemeClr val="bg1">
                    <a:lumMod val="65000"/>
                  </a:schemeClr>
                </a:solidFill>
                <a:latin typeface="微软雅黑" panose="020B0503020204020204" charset="-122"/>
                <a:ea typeface="微软雅黑" panose="020B0503020204020204" charset="-122"/>
                <a:cs typeface="微软雅黑" panose="020B0503020204020204" charset="-122"/>
              </a:endParaRPr>
            </a:p>
          </p:txBody>
        </p:sp>
        <p:sp>
          <p:nvSpPr>
            <p:cNvPr id="7" name="文本框 6"/>
            <p:cNvSpPr txBox="1"/>
            <p:nvPr/>
          </p:nvSpPr>
          <p:spPr>
            <a:xfrm>
              <a:off x="5118547" y="-1285285"/>
              <a:ext cx="7598147" cy="1107998"/>
            </a:xfrm>
            <a:prstGeom prst="rect">
              <a:avLst/>
            </a:prstGeom>
            <a:noFill/>
          </p:spPr>
          <p:txBody>
            <a:bodyPr wrap="none" rtlCol="0">
              <a:spAutoFit/>
              <a:scene3d>
                <a:camera prst="orthographicFront"/>
                <a:lightRig rig="threePt" dir="t"/>
              </a:scene3d>
              <a:sp3d contourW="12700"/>
            </a:bodyPr>
            <a:lstStyle/>
            <a:p>
              <a:r>
                <a:rPr lang="en-US" altLang="zh-CN" sz="4800" b="1" dirty="0">
                  <a:solidFill>
                    <a:srgbClr val="4C4C4C"/>
                  </a:solidFill>
                  <a:latin typeface="微软雅黑" panose="020B0503020204020204" charset="-122"/>
                  <a:ea typeface="微软雅黑" panose="020B0503020204020204" charset="-122"/>
                  <a:cs typeface="微软雅黑" panose="020B0503020204020204" charset="-122"/>
                </a:rPr>
                <a:t>The future of GPT</a:t>
              </a:r>
              <a:endParaRPr lang="zh-CN" altLang="en-US" sz="4800" b="1" dirty="0">
                <a:solidFill>
                  <a:srgbClr val="4C4C4C"/>
                </a:solidFill>
                <a:latin typeface="微软雅黑" panose="020B0503020204020204" charset="-122"/>
                <a:ea typeface="微软雅黑" panose="020B0503020204020204" charset="-122"/>
                <a:cs typeface="微软雅黑" panose="020B0503020204020204" charset="-122"/>
              </a:endParaRPr>
            </a:p>
          </p:txBody>
        </p:sp>
      </p:grpSp>
      <p:sp>
        <p:nvSpPr>
          <p:cNvPr id="8" name="文本框 7"/>
          <p:cNvSpPr txBox="1"/>
          <p:nvPr/>
        </p:nvSpPr>
        <p:spPr>
          <a:xfrm>
            <a:off x="784267" y="2015254"/>
            <a:ext cx="2825828" cy="2092881"/>
          </a:xfrm>
          <a:prstGeom prst="rect">
            <a:avLst/>
          </a:prstGeom>
          <a:noFill/>
        </p:spPr>
        <p:txBody>
          <a:bodyPr wrap="square" rtlCol="0">
            <a:spAutoFit/>
          </a:bodyPr>
          <a:lstStyle/>
          <a:p>
            <a:r>
              <a:rPr kumimoji="1" lang="en-US" altLang="zh-CN" sz="13000" b="1" i="1" dirty="0">
                <a:solidFill>
                  <a:schemeClr val="bg1">
                    <a:lumMod val="65000"/>
                  </a:schemeClr>
                </a:solidFill>
                <a:latin typeface="微软雅黑" panose="020B0503020204020204" charset="-122"/>
                <a:ea typeface="微软雅黑" panose="020B0503020204020204" charset="-122"/>
                <a:cs typeface="微软雅黑" panose="020B0503020204020204" charset="-122"/>
              </a:rPr>
              <a:t>06.</a:t>
            </a:r>
            <a:endParaRPr kumimoji="1" lang="zh-CN" altLang="en-US" sz="13000" b="1" i="1" dirty="0">
              <a:solidFill>
                <a:schemeClr val="bg1">
                  <a:lumMod val="65000"/>
                </a:schemeClr>
              </a:solidFill>
              <a:latin typeface="微软雅黑" panose="020B0503020204020204" charset="-122"/>
              <a:ea typeface="微软雅黑" panose="020B0503020204020204" charset="-122"/>
              <a:cs typeface="微软雅黑" panose="020B0503020204020204" charset="-122"/>
            </a:endParaRPr>
          </a:p>
        </p:txBody>
      </p:sp>
      <p:pic>
        <p:nvPicPr>
          <p:cNvPr id="10" name="图片 9"/>
          <p:cNvPicPr>
            <a:picLocks noChangeAspect="1"/>
          </p:cNvPicPr>
          <p:nvPr/>
        </p:nvPicPr>
        <p:blipFill>
          <a:blip r:embed="rId2" cstate="screen"/>
          <a:stretch>
            <a:fillRect/>
          </a:stretch>
        </p:blipFill>
        <p:spPr>
          <a:xfrm>
            <a:off x="7265049" y="2133600"/>
            <a:ext cx="4926953" cy="4724400"/>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1500" advTm="0">
        <p:random/>
      </p:transition>
    </mc:Choice>
    <mc:Fallback xmlns="">
      <p:transition spd="slow" advTm="0">
        <p:random/>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additive="base">
                                        <p:cTn id="7" dur="500" fill="hold"/>
                                        <p:tgtEl>
                                          <p:spTgt spid="8"/>
                                        </p:tgtEl>
                                        <p:attrNameLst>
                                          <p:attrName>ppt_x</p:attrName>
                                        </p:attrNameLst>
                                      </p:cBhvr>
                                      <p:tavLst>
                                        <p:tav tm="0">
                                          <p:val>
                                            <p:strVal val="#ppt_x"/>
                                          </p:val>
                                        </p:tav>
                                        <p:tav tm="100000">
                                          <p:val>
                                            <p:strVal val="#ppt_x"/>
                                          </p:val>
                                        </p:tav>
                                      </p:tavLst>
                                    </p:anim>
                                    <p:anim calcmode="lin" valueType="num">
                                      <p:cBhvr additive="base">
                                        <p:cTn id="8" dur="500" fill="hold"/>
                                        <p:tgtEl>
                                          <p:spTgt spid="8"/>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4"/>
                                        </p:tgtEl>
                                        <p:attrNameLst>
                                          <p:attrName>style.visibility</p:attrName>
                                        </p:attrNameLst>
                                      </p:cBhvr>
                                      <p:to>
                                        <p:strVal val="visible"/>
                                      </p:to>
                                    </p:set>
                                    <p:anim calcmode="lin" valueType="num">
                                      <p:cBhvr additive="base">
                                        <p:cTn id="13" dur="500" fill="hold"/>
                                        <p:tgtEl>
                                          <p:spTgt spid="4"/>
                                        </p:tgtEl>
                                        <p:attrNameLst>
                                          <p:attrName>ppt_x</p:attrName>
                                        </p:attrNameLst>
                                      </p:cBhvr>
                                      <p:tavLst>
                                        <p:tav tm="0">
                                          <p:val>
                                            <p:strVal val="#ppt_x"/>
                                          </p:val>
                                        </p:tav>
                                        <p:tav tm="100000">
                                          <p:val>
                                            <p:strVal val="#ppt_x"/>
                                          </p:val>
                                        </p:tav>
                                      </p:tavLst>
                                    </p:anim>
                                    <p:anim calcmode="lin" valueType="num">
                                      <p:cBhvr additive="base">
                                        <p:cTn id="14" dur="500" fill="hold"/>
                                        <p:tgtEl>
                                          <p:spTgt spid="4"/>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53" presetClass="entr" presetSubtype="16" fill="hold" nodeType="clickEffect">
                                  <p:stCondLst>
                                    <p:cond delay="0"/>
                                  </p:stCondLst>
                                  <p:childTnLst>
                                    <p:set>
                                      <p:cBhvr>
                                        <p:cTn id="18" dur="1" fill="hold">
                                          <p:stCondLst>
                                            <p:cond delay="0"/>
                                          </p:stCondLst>
                                        </p:cTn>
                                        <p:tgtEl>
                                          <p:spTgt spid="10"/>
                                        </p:tgtEl>
                                        <p:attrNameLst>
                                          <p:attrName>style.visibility</p:attrName>
                                        </p:attrNameLst>
                                      </p:cBhvr>
                                      <p:to>
                                        <p:strVal val="visible"/>
                                      </p:to>
                                    </p:set>
                                    <p:anim calcmode="lin" valueType="num">
                                      <p:cBhvr>
                                        <p:cTn id="19" dur="500" fill="hold"/>
                                        <p:tgtEl>
                                          <p:spTgt spid="10"/>
                                        </p:tgtEl>
                                        <p:attrNameLst>
                                          <p:attrName>ppt_w</p:attrName>
                                        </p:attrNameLst>
                                      </p:cBhvr>
                                      <p:tavLst>
                                        <p:tav tm="0">
                                          <p:val>
                                            <p:fltVal val="0"/>
                                          </p:val>
                                        </p:tav>
                                        <p:tav tm="100000">
                                          <p:val>
                                            <p:strVal val="#ppt_w"/>
                                          </p:val>
                                        </p:tav>
                                      </p:tavLst>
                                    </p:anim>
                                    <p:anim calcmode="lin" valueType="num">
                                      <p:cBhvr>
                                        <p:cTn id="20" dur="500" fill="hold"/>
                                        <p:tgtEl>
                                          <p:spTgt spid="10"/>
                                        </p:tgtEl>
                                        <p:attrNameLst>
                                          <p:attrName>ppt_h</p:attrName>
                                        </p:attrNameLst>
                                      </p:cBhvr>
                                      <p:tavLst>
                                        <p:tav tm="0">
                                          <p:val>
                                            <p:fltVal val="0"/>
                                          </p:val>
                                        </p:tav>
                                        <p:tav tm="100000">
                                          <p:val>
                                            <p:strVal val="#ppt_h"/>
                                          </p:val>
                                        </p:tav>
                                      </p:tavLst>
                                    </p:anim>
                                    <p:animEffect transition="in" filter="fade">
                                      <p:cBhvr>
                                        <p:cTn id="21"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24"/>
          <p:cNvGrpSpPr/>
          <p:nvPr/>
        </p:nvGrpSpPr>
        <p:grpSpPr>
          <a:xfrm>
            <a:off x="585126" y="1170635"/>
            <a:ext cx="659155" cy="3374033"/>
            <a:chOff x="6629352" y="1760489"/>
            <a:chExt cx="878876" cy="4498716"/>
          </a:xfrm>
        </p:grpSpPr>
        <p:sp>
          <p:nvSpPr>
            <p:cNvPr id="3" name="文本框 2"/>
            <p:cNvSpPr txBox="1"/>
            <p:nvPr/>
          </p:nvSpPr>
          <p:spPr>
            <a:xfrm rot="10800000">
              <a:off x="6700911" y="2499154"/>
              <a:ext cx="735756" cy="3760051"/>
            </a:xfrm>
            <a:prstGeom prst="rect">
              <a:avLst/>
            </a:prstGeom>
            <a:noFill/>
          </p:spPr>
          <p:txBody>
            <a:bodyPr vert="eaVert" wrap="none" rtlCol="0">
              <a:spAutoFit/>
              <a:scene3d>
                <a:camera prst="orthographicFront"/>
                <a:lightRig rig="threePt" dir="t"/>
              </a:scene3d>
              <a:sp3d contourW="12700"/>
            </a:bodyPr>
            <a:lstStyle/>
            <a:p>
              <a:pPr algn="l"/>
              <a:r>
                <a:rPr lang="en-US" altLang="zh-CN" sz="2400" b="1" dirty="0">
                  <a:solidFill>
                    <a:srgbClr val="4C4C4C"/>
                  </a:solidFill>
                  <a:latin typeface="微软雅黑" panose="020B0503020204020204" charset="-122"/>
                  <a:ea typeface="微软雅黑" panose="020B0503020204020204" charset="-122"/>
                  <a:cs typeface="微软雅黑" panose="020B0503020204020204" charset="-122"/>
                  <a:sym typeface="+mn-ea"/>
                </a:rPr>
                <a:t>The future of GPT</a:t>
              </a:r>
              <a:endParaRPr lang="zh-CN" altLang="en-US" sz="2400" b="1" dirty="0">
                <a:solidFill>
                  <a:srgbClr val="4C4C4C"/>
                </a:solidFill>
                <a:latin typeface="微软雅黑" panose="020B0503020204020204" charset="-122"/>
                <a:ea typeface="微软雅黑" panose="020B0503020204020204" charset="-122"/>
                <a:cs typeface="微软雅黑" panose="020B0503020204020204" charset="-122"/>
              </a:endParaRPr>
            </a:p>
          </p:txBody>
        </p:sp>
        <p:sp>
          <p:nvSpPr>
            <p:cNvPr id="4" name="文本框 3"/>
            <p:cNvSpPr txBox="1"/>
            <p:nvPr/>
          </p:nvSpPr>
          <p:spPr>
            <a:xfrm>
              <a:off x="6629352" y="1760489"/>
              <a:ext cx="878876" cy="738665"/>
            </a:xfrm>
            <a:prstGeom prst="rect">
              <a:avLst/>
            </a:prstGeom>
            <a:noFill/>
          </p:spPr>
          <p:txBody>
            <a:bodyPr wrap="none" rtlCol="0">
              <a:spAutoFit/>
              <a:scene3d>
                <a:camera prst="orthographicFront"/>
                <a:lightRig rig="threePt" dir="t"/>
              </a:scene3d>
              <a:sp3d contourW="12700"/>
            </a:bodyPr>
            <a:lstStyle/>
            <a:p>
              <a:r>
                <a:rPr lang="en-US" altLang="zh-CN" sz="3000" b="1" dirty="0">
                  <a:solidFill>
                    <a:srgbClr val="4C4C4C"/>
                  </a:solidFill>
                  <a:latin typeface="微软雅黑" panose="020B0503020204020204" charset="-122"/>
                  <a:ea typeface="微软雅黑" panose="020B0503020204020204" charset="-122"/>
                  <a:cs typeface="微软雅黑" panose="020B0503020204020204" charset="-122"/>
                </a:rPr>
                <a:t>06</a:t>
              </a:r>
              <a:endParaRPr lang="zh-CN" altLang="en-US" sz="3000" b="1" dirty="0">
                <a:solidFill>
                  <a:srgbClr val="4C4C4C"/>
                </a:solidFill>
                <a:latin typeface="微软雅黑" panose="020B0503020204020204" charset="-122"/>
                <a:ea typeface="微软雅黑" panose="020B0503020204020204" charset="-122"/>
                <a:cs typeface="微软雅黑" panose="020B0503020204020204" charset="-122"/>
              </a:endParaRPr>
            </a:p>
          </p:txBody>
        </p:sp>
      </p:grpSp>
      <p:sp>
        <p:nvSpPr>
          <p:cNvPr id="8" name="TextBox 33"/>
          <p:cNvSpPr txBox="1"/>
          <p:nvPr/>
        </p:nvSpPr>
        <p:spPr>
          <a:xfrm>
            <a:off x="6236784" y="695469"/>
            <a:ext cx="5285293" cy="5576510"/>
          </a:xfrm>
          <a:prstGeom prst="rect">
            <a:avLst/>
          </a:prstGeom>
          <a:noFill/>
        </p:spPr>
        <p:txBody>
          <a:bodyPr wrap="square" lIns="91360" tIns="45680" rIns="91360" bIns="45680" rtlCol="0">
            <a:spAutoFit/>
          </a:bodyPr>
          <a:lstStyle/>
          <a:p>
            <a:pPr>
              <a:lnSpc>
                <a:spcPct val="200000"/>
              </a:lnSpc>
            </a:pPr>
            <a:r>
              <a:rPr lang="en-US" altLang="zh-CN" b="1" dirty="0">
                <a:solidFill>
                  <a:schemeClr val="bg1">
                    <a:lumMod val="50000"/>
                  </a:schemeClr>
                </a:solidFill>
                <a:latin typeface="微软雅黑" panose="020B0503020204020204" charset="-122"/>
                <a:ea typeface="微软雅黑" panose="020B0503020204020204" charset="-122"/>
                <a:cs typeface="微软雅黑" panose="020B0503020204020204" charset="-122"/>
                <a:sym typeface="+mn-lt"/>
              </a:rPr>
              <a:t>Improved Performance: </a:t>
            </a:r>
          </a:p>
          <a:p>
            <a:pPr>
              <a:lnSpc>
                <a:spcPct val="200000"/>
              </a:lnSpc>
            </a:pPr>
            <a:r>
              <a:rPr lang="en-US" altLang="zh-CN" sz="1200" b="1" dirty="0">
                <a:solidFill>
                  <a:schemeClr val="bg1">
                    <a:lumMod val="50000"/>
                  </a:schemeClr>
                </a:solidFill>
                <a:latin typeface="微软雅黑" panose="020B0503020204020204" charset="-122"/>
                <a:ea typeface="微软雅黑" panose="020B0503020204020204" charset="-122"/>
                <a:cs typeface="微软雅黑" panose="020B0503020204020204" charset="-122"/>
                <a:sym typeface="+mn-lt"/>
              </a:rPr>
              <a:t>       </a:t>
            </a:r>
            <a:r>
              <a:rPr lang="en-US" altLang="zh-CN" sz="1200" dirty="0">
                <a:solidFill>
                  <a:schemeClr val="bg1">
                    <a:lumMod val="50000"/>
                  </a:schemeClr>
                </a:solidFill>
                <a:latin typeface="微软雅黑" panose="020B0503020204020204" charset="-122"/>
                <a:ea typeface="微软雅黑" panose="020B0503020204020204" charset="-122"/>
                <a:cs typeface="微软雅黑" panose="020B0503020204020204" charset="-122"/>
                <a:sym typeface="+mn-lt"/>
              </a:rPr>
              <a:t>Future versions of GPT are likely to show improved performance in understanding and generating human-like text. This could be achieved through advancements in model architecture, training techniques, and computational power.</a:t>
            </a:r>
          </a:p>
          <a:p>
            <a:pPr>
              <a:lnSpc>
                <a:spcPct val="200000"/>
              </a:lnSpc>
            </a:pPr>
            <a:r>
              <a:rPr lang="en-US" altLang="zh-CN" b="1" dirty="0">
                <a:solidFill>
                  <a:schemeClr val="bg1">
                    <a:lumMod val="50000"/>
                  </a:schemeClr>
                </a:solidFill>
                <a:latin typeface="微软雅黑" panose="020B0503020204020204" charset="-122"/>
                <a:ea typeface="微软雅黑" panose="020B0503020204020204" charset="-122"/>
                <a:cs typeface="微软雅黑" panose="020B0503020204020204" charset="-122"/>
                <a:sym typeface="+mn-lt"/>
              </a:rPr>
              <a:t>New Applications: </a:t>
            </a:r>
          </a:p>
          <a:p>
            <a:pPr>
              <a:lnSpc>
                <a:spcPct val="200000"/>
              </a:lnSpc>
            </a:pPr>
            <a:r>
              <a:rPr lang="en-US" altLang="zh-CN" sz="1200" b="1" dirty="0">
                <a:solidFill>
                  <a:schemeClr val="bg1">
                    <a:lumMod val="50000"/>
                  </a:schemeClr>
                </a:solidFill>
                <a:latin typeface="微软雅黑" panose="020B0503020204020204" charset="-122"/>
                <a:ea typeface="微软雅黑" panose="020B0503020204020204" charset="-122"/>
                <a:cs typeface="微软雅黑" panose="020B0503020204020204" charset="-122"/>
                <a:sym typeface="+mn-lt"/>
              </a:rPr>
              <a:t>        </a:t>
            </a:r>
            <a:r>
              <a:rPr lang="en-US" altLang="zh-CN" sz="1200" dirty="0">
                <a:solidFill>
                  <a:schemeClr val="bg1">
                    <a:lumMod val="50000"/>
                  </a:schemeClr>
                </a:solidFill>
                <a:latin typeface="微软雅黑" panose="020B0503020204020204" charset="-122"/>
                <a:ea typeface="微软雅黑" panose="020B0503020204020204" charset="-122"/>
                <a:cs typeface="微软雅黑" panose="020B0503020204020204" charset="-122"/>
                <a:sym typeface="+mn-lt"/>
              </a:rPr>
              <a:t>As GPT's capabilities improve, it could be applied in new domains. For instance, it could be used in more complex tasks, such as scientific research or high-level decision-making.</a:t>
            </a:r>
          </a:p>
          <a:p>
            <a:pPr>
              <a:lnSpc>
                <a:spcPct val="200000"/>
              </a:lnSpc>
            </a:pPr>
            <a:r>
              <a:rPr lang="en-US" altLang="zh-CN" b="1" dirty="0">
                <a:solidFill>
                  <a:schemeClr val="bg1">
                    <a:lumMod val="50000"/>
                  </a:schemeClr>
                </a:solidFill>
                <a:latin typeface="微软雅黑" panose="020B0503020204020204" charset="-122"/>
                <a:ea typeface="微软雅黑" panose="020B0503020204020204" charset="-122"/>
                <a:cs typeface="微软雅黑" panose="020B0503020204020204" charset="-122"/>
                <a:sym typeface="+mn-lt"/>
              </a:rPr>
              <a:t>Responsible AI Use:</a:t>
            </a:r>
          </a:p>
          <a:p>
            <a:pPr>
              <a:lnSpc>
                <a:spcPct val="200000"/>
              </a:lnSpc>
            </a:pPr>
            <a:r>
              <a:rPr lang="en-US" altLang="zh-CN" b="1" dirty="0">
                <a:solidFill>
                  <a:schemeClr val="bg1">
                    <a:lumMod val="50000"/>
                  </a:schemeClr>
                </a:solidFill>
                <a:latin typeface="微软雅黑" panose="020B0503020204020204" charset="-122"/>
                <a:ea typeface="微软雅黑" panose="020B0503020204020204" charset="-122"/>
                <a:cs typeface="微软雅黑" panose="020B0503020204020204" charset="-122"/>
                <a:sym typeface="+mn-lt"/>
              </a:rPr>
              <a:t>     </a:t>
            </a:r>
            <a:r>
              <a:rPr lang="en-US" altLang="zh-CN" sz="1200" dirty="0">
                <a:solidFill>
                  <a:schemeClr val="bg1">
                    <a:lumMod val="50000"/>
                  </a:schemeClr>
                </a:solidFill>
                <a:latin typeface="微软雅黑" panose="020B0503020204020204" charset="-122"/>
                <a:ea typeface="微软雅黑" panose="020B0503020204020204" charset="-122"/>
                <a:cs typeface="微软雅黑" panose="020B0503020204020204" charset="-122"/>
                <a:sym typeface="+mn-lt"/>
              </a:rPr>
              <a:t>The future of GPT also involves responsible AI use. This includes ensuring fairness, transparency, and privacy, and addressing ethical considerations.</a:t>
            </a:r>
            <a:endParaRPr lang="zh-CN" altLang="en-US" sz="1200" dirty="0">
              <a:solidFill>
                <a:schemeClr val="bg1">
                  <a:lumMod val="50000"/>
                </a:schemeClr>
              </a:solidFill>
              <a:latin typeface="微软雅黑" panose="020B0503020204020204" charset="-122"/>
              <a:ea typeface="微软雅黑" panose="020B0503020204020204" charset="-122"/>
              <a:cs typeface="微软雅黑" panose="020B0503020204020204" charset="-122"/>
              <a:sym typeface="+mn-lt"/>
            </a:endParaRPr>
          </a:p>
        </p:txBody>
      </p:sp>
      <p:pic>
        <p:nvPicPr>
          <p:cNvPr id="9" name="图片 8"/>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901298" y="899798"/>
            <a:ext cx="3574941" cy="5372181"/>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1500" advTm="0">
        <p:random/>
      </p:transition>
    </mc:Choice>
    <mc:Fallback xmlns="">
      <p:transition spd="slow" advTm="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nvPicPr>
        <p:blipFill>
          <a:blip r:embed="rId2"/>
          <a:stretch>
            <a:fillRect/>
          </a:stretch>
        </p:blipFill>
        <p:spPr>
          <a:xfrm>
            <a:off x="6069864" y="987552"/>
            <a:ext cx="6122136" cy="5870448"/>
          </a:xfrm>
          <a:prstGeom prst="rect">
            <a:avLst/>
          </a:prstGeom>
        </p:spPr>
      </p:pic>
      <p:sp>
        <p:nvSpPr>
          <p:cNvPr id="3" name="文本框 2"/>
          <p:cNvSpPr txBox="1"/>
          <p:nvPr/>
        </p:nvSpPr>
        <p:spPr>
          <a:xfrm>
            <a:off x="1233959" y="1541546"/>
            <a:ext cx="5010912" cy="1200329"/>
          </a:xfrm>
          <a:prstGeom prst="rect">
            <a:avLst/>
          </a:prstGeom>
          <a:noFill/>
        </p:spPr>
        <p:txBody>
          <a:bodyPr wrap="square" rtlCol="0">
            <a:spAutoFit/>
          </a:bodyPr>
          <a:lstStyle/>
          <a:p>
            <a:pPr algn="ctr"/>
            <a:r>
              <a:rPr kumimoji="1" lang="en-US" altLang="zh-CN" sz="7200" b="1" dirty="0">
                <a:solidFill>
                  <a:srgbClr val="4C4C4C"/>
                </a:solidFill>
                <a:latin typeface="微软雅黑" panose="020B0503020204020204" charset="-122"/>
                <a:ea typeface="微软雅黑" panose="020B0503020204020204" charset="-122"/>
                <a:cs typeface="微软雅黑" panose="020B0503020204020204" charset="-122"/>
              </a:rPr>
              <a:t>THANKS!</a:t>
            </a:r>
            <a:endParaRPr kumimoji="1" lang="zh-CN" altLang="en-US" sz="7200" b="1" dirty="0">
              <a:solidFill>
                <a:srgbClr val="4C4C4C"/>
              </a:solidFill>
              <a:latin typeface="微软雅黑" panose="020B0503020204020204" charset="-122"/>
              <a:ea typeface="微软雅黑" panose="020B0503020204020204" charset="-122"/>
              <a:cs typeface="微软雅黑" panose="020B0503020204020204" charset="-122"/>
            </a:endParaRPr>
          </a:p>
        </p:txBody>
      </p:sp>
      <p:sp>
        <p:nvSpPr>
          <p:cNvPr id="5" name="文本框 4"/>
          <p:cNvSpPr txBox="1"/>
          <p:nvPr/>
        </p:nvSpPr>
        <p:spPr>
          <a:xfrm>
            <a:off x="1364160" y="2953824"/>
            <a:ext cx="4575504" cy="369332"/>
          </a:xfrm>
          <a:prstGeom prst="rect">
            <a:avLst/>
          </a:prstGeom>
          <a:noFill/>
        </p:spPr>
        <p:txBody>
          <a:bodyPr wrap="square" rtlCol="0">
            <a:spAutoFit/>
          </a:bodyPr>
          <a:lstStyle/>
          <a:p>
            <a:pPr algn="ctr"/>
            <a:r>
              <a:rPr kumimoji="1" lang="en-US" altLang="zh-CN" dirty="0">
                <a:solidFill>
                  <a:srgbClr val="4C4C4C"/>
                </a:solidFill>
                <a:latin typeface="微软雅黑" panose="020B0503020204020204" charset="-122"/>
                <a:ea typeface="微软雅黑" panose="020B0503020204020204" charset="-122"/>
                <a:cs typeface="微软雅黑" panose="020B0503020204020204" charset="-122"/>
              </a:rPr>
              <a:t>THE POWER OF GPT</a:t>
            </a:r>
            <a:endParaRPr kumimoji="1" lang="zh-CN" altLang="en-US" dirty="0">
              <a:solidFill>
                <a:srgbClr val="4C4C4C"/>
              </a:solidFill>
              <a:latin typeface="微软雅黑" panose="020B0503020204020204" charset="-122"/>
              <a:ea typeface="微软雅黑" panose="020B0503020204020204" charset="-122"/>
              <a:cs typeface="微软雅黑" panose="020B0503020204020204" charset="-122"/>
            </a:endParaRPr>
          </a:p>
        </p:txBody>
      </p:sp>
      <p:sp>
        <p:nvSpPr>
          <p:cNvPr id="10" name="文本框 9"/>
          <p:cNvSpPr txBox="1"/>
          <p:nvPr/>
        </p:nvSpPr>
        <p:spPr>
          <a:xfrm>
            <a:off x="2245360" y="4019769"/>
            <a:ext cx="6096000" cy="1754326"/>
          </a:xfrm>
          <a:prstGeom prst="rect">
            <a:avLst/>
          </a:prstGeom>
          <a:noFill/>
        </p:spPr>
        <p:txBody>
          <a:bodyPr wrap="square">
            <a:spAutoFit/>
          </a:bodyPr>
          <a:lstStyle/>
          <a:p>
            <a:r>
              <a:rPr kumimoji="1" lang="en-US" altLang="zh-CN" dirty="0">
                <a:solidFill>
                  <a:srgbClr val="4C4C4C"/>
                </a:solidFill>
                <a:latin typeface="微软雅黑 Light" panose="020B0502040204020203" charset="-122"/>
                <a:ea typeface="微软雅黑 Light" panose="020B0502040204020203" charset="-122"/>
                <a:cs typeface="微软雅黑 Light" panose="020B0502040204020203" charset="-122"/>
              </a:rPr>
              <a:t>Team Member Responsibilities</a:t>
            </a:r>
            <a:r>
              <a:rPr kumimoji="1" lang="zh-CN" altLang="en-US" dirty="0">
                <a:solidFill>
                  <a:srgbClr val="4C4C4C"/>
                </a:solidFill>
                <a:latin typeface="微软雅黑 Light" panose="020B0502040204020203" charset="-122"/>
                <a:ea typeface="微软雅黑 Light" panose="020B0502040204020203" charset="-122"/>
                <a:cs typeface="微软雅黑 Light" panose="020B0502040204020203" charset="-122"/>
              </a:rPr>
              <a:t>：</a:t>
            </a:r>
            <a:endParaRPr kumimoji="1" lang="en-US" altLang="zh-CN" dirty="0">
              <a:solidFill>
                <a:srgbClr val="4C4C4C"/>
              </a:solidFill>
              <a:latin typeface="微软雅黑 Light" panose="020B0502040204020203" charset="-122"/>
              <a:ea typeface="微软雅黑 Light" panose="020B0502040204020203" charset="-122"/>
              <a:cs typeface="微软雅黑 Light" panose="020B0502040204020203" charset="-122"/>
            </a:endParaRPr>
          </a:p>
          <a:p>
            <a:pPr algn="ctr"/>
            <a:endParaRPr kumimoji="1" lang="en-US" altLang="zh-CN" dirty="0">
              <a:solidFill>
                <a:srgbClr val="4C4C4C"/>
              </a:solidFill>
              <a:latin typeface="微软雅黑 Light" panose="020B0502040204020203" charset="-122"/>
              <a:ea typeface="微软雅黑 Light" panose="020B0502040204020203" charset="-122"/>
              <a:cs typeface="微软雅黑 Light" panose="020B0502040204020203" charset="-122"/>
            </a:endParaRPr>
          </a:p>
          <a:p>
            <a:r>
              <a:rPr kumimoji="1" lang="zh-CN" altLang="en-US" dirty="0">
                <a:solidFill>
                  <a:srgbClr val="4C4C4C"/>
                </a:solidFill>
                <a:latin typeface="微软雅黑 Light" panose="020B0502040204020203" charset="-122"/>
                <a:ea typeface="微软雅黑 Light" panose="020B0502040204020203" charset="-122"/>
                <a:cs typeface="微软雅黑 Light" panose="020B0502040204020203" charset="-122"/>
              </a:rPr>
              <a:t>温家振：</a:t>
            </a:r>
            <a:r>
              <a:rPr kumimoji="1" lang="en-US" altLang="zh-CN" dirty="0">
                <a:solidFill>
                  <a:srgbClr val="4C4C4C"/>
                </a:solidFill>
                <a:latin typeface="微软雅黑 Light" panose="020B0502040204020203" charset="-122"/>
                <a:ea typeface="微软雅黑 Light" panose="020B0502040204020203" charset="-122"/>
                <a:cs typeface="微软雅黑 Light" panose="020B0502040204020203" charset="-122"/>
              </a:rPr>
              <a:t>PPT making</a:t>
            </a:r>
          </a:p>
          <a:p>
            <a:r>
              <a:rPr kumimoji="1" lang="zh-CN" altLang="en-US" dirty="0">
                <a:solidFill>
                  <a:srgbClr val="4C4C4C"/>
                </a:solidFill>
                <a:latin typeface="微软雅黑 Light" panose="020B0502040204020203" charset="-122"/>
                <a:ea typeface="微软雅黑 Light" panose="020B0502040204020203" charset="-122"/>
                <a:cs typeface="微软雅黑 Light" panose="020B0502040204020203" charset="-122"/>
              </a:rPr>
              <a:t>周同阳：Speech writing</a:t>
            </a:r>
          </a:p>
          <a:p>
            <a:r>
              <a:rPr kumimoji="1" lang="zh-CN" altLang="en-US" dirty="0">
                <a:solidFill>
                  <a:srgbClr val="4C4C4C"/>
                </a:solidFill>
                <a:latin typeface="微软雅黑 Light" panose="020B0502040204020203" charset="-122"/>
                <a:ea typeface="微软雅黑 Light" panose="020B0502040204020203" charset="-122"/>
                <a:cs typeface="微软雅黑 Light" panose="020B0502040204020203" charset="-122"/>
              </a:rPr>
              <a:t>章鹏程：</a:t>
            </a:r>
            <a:r>
              <a:rPr kumimoji="1" lang="en-US" altLang="zh-CN" dirty="0">
                <a:solidFill>
                  <a:srgbClr val="4C4C4C"/>
                </a:solidFill>
                <a:latin typeface="微软雅黑 Light" panose="020B0502040204020203" charset="-122"/>
                <a:ea typeface="微软雅黑 Light" panose="020B0502040204020203" charset="-122"/>
                <a:cs typeface="微软雅黑 Light" panose="020B0502040204020203" charset="-122"/>
              </a:rPr>
              <a:t>Presenter</a:t>
            </a:r>
          </a:p>
          <a:p>
            <a:r>
              <a:rPr kumimoji="1" lang="zh-CN" altLang="en-US" dirty="0">
                <a:solidFill>
                  <a:srgbClr val="4C4C4C"/>
                </a:solidFill>
                <a:latin typeface="微软雅黑 Light" panose="020B0502040204020203" charset="-122"/>
                <a:ea typeface="微软雅黑 Light" panose="020B0502040204020203" charset="-122"/>
                <a:cs typeface="微软雅黑 Light" panose="020B0502040204020203" charset="-122"/>
              </a:rPr>
              <a:t>王昱硕：</a:t>
            </a:r>
            <a:r>
              <a:rPr kumimoji="1" lang="en-US" altLang="zh-CN" dirty="0">
                <a:solidFill>
                  <a:srgbClr val="4C4C4C"/>
                </a:solidFill>
                <a:latin typeface="微软雅黑 Light" panose="020B0502040204020203" charset="-122"/>
                <a:ea typeface="微软雅黑 Light" panose="020B0502040204020203" charset="-122"/>
                <a:cs typeface="微软雅黑 Light" panose="020B0502040204020203" charset="-122"/>
              </a:rPr>
              <a:t>Video clip</a:t>
            </a:r>
            <a:endParaRPr kumimoji="1" lang="zh-CN" altLang="en-US" dirty="0">
              <a:solidFill>
                <a:srgbClr val="4C4C4C"/>
              </a:solidFill>
              <a:latin typeface="微软雅黑 Light" panose="020B0502040204020203" charset="-122"/>
              <a:ea typeface="微软雅黑 Light" panose="020B0502040204020203" charset="-122"/>
              <a:cs typeface="微软雅黑 Light" panose="020B0502040204020203" charset="-122"/>
            </a:endParaRPr>
          </a:p>
        </p:txBody>
      </p:sp>
    </p:spTree>
  </p:cSld>
  <p:clrMapOvr>
    <a:masterClrMapping/>
  </p:clrMapOvr>
  <mc:AlternateContent xmlns:mc="http://schemas.openxmlformats.org/markup-compatibility/2006" xmlns:p14="http://schemas.microsoft.com/office/powerpoint/2010/main">
    <mc:Choice Requires="p14">
      <p:transition spd="slow" p14:dur="1500" advTm="0">
        <p:random/>
      </p:transition>
    </mc:Choice>
    <mc:Fallback xmlns="">
      <p:transition spd="slow" advTm="0">
        <p:random/>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ppt_x"/>
                                          </p:val>
                                        </p:tav>
                                        <p:tav tm="100000">
                                          <p:val>
                                            <p:strVal val="#ppt_x"/>
                                          </p:val>
                                        </p:tav>
                                      </p:tavLst>
                                    </p:anim>
                                    <p:anim calcmode="lin" valueType="num">
                                      <p:cBhvr additive="base">
                                        <p:cTn id="8" dur="500" fill="hold"/>
                                        <p:tgtEl>
                                          <p:spTgt spid="3"/>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42" presetClass="entr" presetSubtype="0" fill="hold" grpId="0" nodeType="clickEffect">
                                  <p:stCondLst>
                                    <p:cond delay="0"/>
                                  </p:stCondLst>
                                  <p:childTnLst>
                                    <p:set>
                                      <p:cBhvr>
                                        <p:cTn id="12" dur="1" fill="hold">
                                          <p:stCondLst>
                                            <p:cond delay="0"/>
                                          </p:stCondLst>
                                        </p:cTn>
                                        <p:tgtEl>
                                          <p:spTgt spid="5"/>
                                        </p:tgtEl>
                                        <p:attrNameLst>
                                          <p:attrName>style.visibility</p:attrName>
                                        </p:attrNameLst>
                                      </p:cBhvr>
                                      <p:to>
                                        <p:strVal val="visible"/>
                                      </p:to>
                                    </p:set>
                                    <p:animEffect transition="in" filter="fade">
                                      <p:cBhvr>
                                        <p:cTn id="13" dur="1000"/>
                                        <p:tgtEl>
                                          <p:spTgt spid="5"/>
                                        </p:tgtEl>
                                      </p:cBhvr>
                                    </p:animEffect>
                                    <p:anim calcmode="lin" valueType="num">
                                      <p:cBhvr>
                                        <p:cTn id="14" dur="1000" fill="hold"/>
                                        <p:tgtEl>
                                          <p:spTgt spid="5"/>
                                        </p:tgtEl>
                                        <p:attrNameLst>
                                          <p:attrName>ppt_x</p:attrName>
                                        </p:attrNameLst>
                                      </p:cBhvr>
                                      <p:tavLst>
                                        <p:tav tm="0">
                                          <p:val>
                                            <p:strVal val="#ppt_x"/>
                                          </p:val>
                                        </p:tav>
                                        <p:tav tm="100000">
                                          <p:val>
                                            <p:strVal val="#ppt_x"/>
                                          </p:val>
                                        </p:tav>
                                      </p:tavLst>
                                    </p:anim>
                                    <p:anim calcmode="lin" valueType="num">
                                      <p:cBhvr>
                                        <p:cTn id="15" dur="1000" fill="hold"/>
                                        <p:tgtEl>
                                          <p:spTgt spid="5"/>
                                        </p:tgtEl>
                                        <p:attrNameLst>
                                          <p:attrName>ppt_y</p:attrName>
                                        </p:attrNameLst>
                                      </p:cBhvr>
                                      <p:tavLst>
                                        <p:tav tm="0">
                                          <p:val>
                                            <p:strVal val="#ppt_y+.1"/>
                                          </p:val>
                                        </p:tav>
                                        <p:tav tm="100000">
                                          <p:val>
                                            <p:strVal val="#ppt_y"/>
                                          </p:val>
                                        </p:tav>
                                      </p:tavLst>
                                    </p:anim>
                                  </p:childTnLst>
                                </p:cTn>
                              </p:par>
                            </p:childTnLst>
                          </p:cTn>
                        </p:par>
                      </p:childTnLst>
                    </p:cTn>
                  </p:par>
                  <p:par>
                    <p:cTn id="16" fill="hold">
                      <p:stCondLst>
                        <p:cond delay="indefinite"/>
                      </p:stCondLst>
                      <p:childTnLst>
                        <p:par>
                          <p:cTn id="17" fill="hold">
                            <p:stCondLst>
                              <p:cond delay="0"/>
                            </p:stCondLst>
                            <p:childTnLst>
                              <p:par>
                                <p:cTn id="18" presetID="53" presetClass="entr" presetSubtype="16" fill="hold" nodeType="clickEffect">
                                  <p:stCondLst>
                                    <p:cond delay="0"/>
                                  </p:stCondLst>
                                  <p:childTnLst>
                                    <p:set>
                                      <p:cBhvr>
                                        <p:cTn id="19" dur="1" fill="hold">
                                          <p:stCondLst>
                                            <p:cond delay="0"/>
                                          </p:stCondLst>
                                        </p:cTn>
                                        <p:tgtEl>
                                          <p:spTgt spid="2"/>
                                        </p:tgtEl>
                                        <p:attrNameLst>
                                          <p:attrName>style.visibility</p:attrName>
                                        </p:attrNameLst>
                                      </p:cBhvr>
                                      <p:to>
                                        <p:strVal val="visible"/>
                                      </p:to>
                                    </p:set>
                                    <p:anim calcmode="lin" valueType="num">
                                      <p:cBhvr>
                                        <p:cTn id="20" dur="500" fill="hold"/>
                                        <p:tgtEl>
                                          <p:spTgt spid="2"/>
                                        </p:tgtEl>
                                        <p:attrNameLst>
                                          <p:attrName>ppt_w</p:attrName>
                                        </p:attrNameLst>
                                      </p:cBhvr>
                                      <p:tavLst>
                                        <p:tav tm="0">
                                          <p:val>
                                            <p:fltVal val="0"/>
                                          </p:val>
                                        </p:tav>
                                        <p:tav tm="100000">
                                          <p:val>
                                            <p:strVal val="#ppt_w"/>
                                          </p:val>
                                        </p:tav>
                                      </p:tavLst>
                                    </p:anim>
                                    <p:anim calcmode="lin" valueType="num">
                                      <p:cBhvr>
                                        <p:cTn id="21" dur="500" fill="hold"/>
                                        <p:tgtEl>
                                          <p:spTgt spid="2"/>
                                        </p:tgtEl>
                                        <p:attrNameLst>
                                          <p:attrName>ppt_h</p:attrName>
                                        </p:attrNameLst>
                                      </p:cBhvr>
                                      <p:tavLst>
                                        <p:tav tm="0">
                                          <p:val>
                                            <p:fltVal val="0"/>
                                          </p:val>
                                        </p:tav>
                                        <p:tav tm="100000">
                                          <p:val>
                                            <p:strVal val="#ppt_h"/>
                                          </p:val>
                                        </p:tav>
                                      </p:tavLst>
                                    </p:anim>
                                    <p:animEffect transition="in" filter="fade">
                                      <p:cBhvr>
                                        <p:cTn id="22"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5" grpId="0"/>
    </p:bldLst>
  </p:timing>
</p:sld>
</file>

<file path=ppt/tags/tag1.xml><?xml version="1.0" encoding="utf-8"?>
<p:tagLst xmlns:a="http://schemas.openxmlformats.org/drawingml/2006/main" xmlns:r="http://schemas.openxmlformats.org/officeDocument/2006/relationships" xmlns:p="http://schemas.openxmlformats.org/presentationml/2006/main">
  <p:tag name="COMMONDATA" val="eyJoZGlkIjoiM2ZhZGJlNTY5ZTM0NTZlZDFjMjllM2Q3YzQzNjYxMmUifQ=="/>
</p:tagLst>
</file>

<file path=ppt/tags/tag2.xml><?xml version="1.0" encoding="utf-8"?>
<p:tagLst xmlns:a="http://schemas.openxmlformats.org/drawingml/2006/main" xmlns:r="http://schemas.openxmlformats.org/officeDocument/2006/relationships" xmlns:p="http://schemas.openxmlformats.org/presentationml/2006/main">
  <p:tag name="KSO_WM_DIAGRAM_VIRTUALLY_FRAME" val="{&quot;height&quot;:259.0214173228347,&quot;left&quot;:229.95881889763777,&quot;top&quot;:106.12031496062991,&quot;width&quot;:726.261968503937}"/>
</p:tagLst>
</file>

<file path=ppt/tags/tag3.xml><?xml version="1.0" encoding="utf-8"?>
<p:tagLst xmlns:a="http://schemas.openxmlformats.org/drawingml/2006/main" xmlns:r="http://schemas.openxmlformats.org/officeDocument/2006/relationships" xmlns:p="http://schemas.openxmlformats.org/presentationml/2006/main">
  <p:tag name="KSO_WM_DIAGRAM_VIRTUALLY_FRAME" val="{&quot;height&quot;:259.0214173228347,&quot;left&quot;:229.95881889763777,&quot;top&quot;:106.12031496062991,&quot;width&quot;:726.261968503937}"/>
</p:tagLst>
</file>

<file path=ppt/tags/tag4.xml><?xml version="1.0" encoding="utf-8"?>
<p:tagLst xmlns:a="http://schemas.openxmlformats.org/drawingml/2006/main" xmlns:r="http://schemas.openxmlformats.org/officeDocument/2006/relationships" xmlns:p="http://schemas.openxmlformats.org/presentationml/2006/main">
  <p:tag name="KSO_WM_DIAGRAM_VIRTUALLY_FRAME" val="{&quot;height&quot;:259.0214173228347,&quot;left&quot;:229.95881889763777,&quot;top&quot;:106.12031496062991,&quot;width&quot;:726.261968503937}"/>
</p:tagLst>
</file>

<file path=ppt/tags/tag5.xml><?xml version="1.0" encoding="utf-8"?>
<p:tagLst xmlns:a="http://schemas.openxmlformats.org/drawingml/2006/main" xmlns:r="http://schemas.openxmlformats.org/officeDocument/2006/relationships" xmlns:p="http://schemas.openxmlformats.org/presentationml/2006/main">
  <p:tag name="KSO_WM_DIAGRAM_VIRTUALLY_FRAME" val="{&quot;height&quot;:259.0214173228347,&quot;left&quot;:229.95881889763777,&quot;top&quot;:106.12031496062991,&quot;width&quot;:726.261968503937}"/>
</p:tagLst>
</file>

<file path=ppt/tags/tag6.xml><?xml version="1.0" encoding="utf-8"?>
<p:tagLst xmlns:a="http://schemas.openxmlformats.org/drawingml/2006/main" xmlns:r="http://schemas.openxmlformats.org/officeDocument/2006/relationships" xmlns:p="http://schemas.openxmlformats.org/presentationml/2006/main">
  <p:tag name="KSO_WM_DIAGRAM_VIRTUALLY_FRAME" val="{&quot;height&quot;:259.0214173228347,&quot;left&quot;:229.95881889763777,&quot;top&quot;:106.12031496062991,&quot;width&quot;:726.261968503937}"/>
</p:tagLst>
</file>

<file path=ppt/tags/tag7.xml><?xml version="1.0" encoding="utf-8"?>
<p:tagLst xmlns:a="http://schemas.openxmlformats.org/drawingml/2006/main" xmlns:r="http://schemas.openxmlformats.org/officeDocument/2006/relationships" xmlns:p="http://schemas.openxmlformats.org/presentationml/2006/main">
  <p:tag name="KSO_WM_DIAGRAM_VIRTUALLY_FRAME" val="{&quot;height&quot;:259.0214173228347,&quot;left&quot;:229.95881889763777,&quot;top&quot;:106.12031496062991,&quot;width&quot;:726.261968503937}"/>
</p:tagLst>
</file>

<file path=ppt/tags/tag8.xml><?xml version="1.0" encoding="utf-8"?>
<p:tagLst xmlns:a="http://schemas.openxmlformats.org/drawingml/2006/main" xmlns:r="http://schemas.openxmlformats.org/officeDocument/2006/relationships" xmlns:p="http://schemas.openxmlformats.org/presentationml/2006/main">
  <p:tag name="KSO_WM_DIAGRAM_VIRTUALLY_FRAME" val="{&quot;height&quot;:291.7994815660427,&quot;left&quot;:229.95881889763777,&quot;top&quot;:106.12031496062991,&quot;width&quot;:726.261968503937}"/>
</p:tagLst>
</file>

<file path=ppt/tags/tag9.xml><?xml version="1.0" encoding="utf-8"?>
<p:tagLst xmlns:a="http://schemas.openxmlformats.org/drawingml/2006/main" xmlns:r="http://schemas.openxmlformats.org/officeDocument/2006/relationships" xmlns:p="http://schemas.openxmlformats.org/presentationml/2006/main">
  <p:tag name="KSO_WM_DIAGRAM_VIRTUALLY_FRAME" val="{&quot;height&quot;:291.7994815660427,&quot;left&quot;:229.95881889763777,&quot;top&quot;:106.12031496062991,&quot;width&quot;:726.261968503937}"/>
</p:tagLst>
</file>

<file path=ppt/tags/tag10.xml><?xml version="1.0" encoding="utf-8"?>
<p:tagLst xmlns:a="http://schemas.openxmlformats.org/drawingml/2006/main" xmlns:r="http://schemas.openxmlformats.org/officeDocument/2006/relationships" xmlns:p="http://schemas.openxmlformats.org/presentationml/2006/main">
  <p:tag name="KSO_WM_DIAGRAM_VIRTUALLY_FRAME" val="{&quot;height&quot;:291.7994815660427,&quot;left&quot;:229.95881889763777,&quot;top&quot;:106.12031496062991,&quot;width&quot;:726.261968503937}"/>
</p:tagLst>
</file>

<file path=ppt/tags/tag11.xml><?xml version="1.0" encoding="utf-8"?>
<p:tagLst xmlns:a="http://schemas.openxmlformats.org/drawingml/2006/main" xmlns:r="http://schemas.openxmlformats.org/officeDocument/2006/relationships" xmlns:p="http://schemas.openxmlformats.org/presentationml/2006/main">
  <p:tag name="KSO_WM_DIAGRAM_VIRTUALLY_FRAME" val="{&quot;height&quot;:291.7994815660427,&quot;left&quot;:229.95881889763777,&quot;top&quot;:106.12031496062991,&quot;width&quot;:726.261968503937}"/>
</p:tagLst>
</file>

<file path=ppt/tags/tag12.xml><?xml version="1.0" encoding="utf-8"?>
<p:tagLst xmlns:a="http://schemas.openxmlformats.org/drawingml/2006/main" xmlns:r="http://schemas.openxmlformats.org/officeDocument/2006/relationships" xmlns:p="http://schemas.openxmlformats.org/presentationml/2006/main">
  <p:tag name="KSO_WM_DIAGRAM_VIRTUALLY_FRAME" val="{&quot;height&quot;:291.7994815660427,&quot;left&quot;:229.95881889763777,&quot;top&quot;:106.12031496062991,&quot;width&quot;:726.261968503937}"/>
</p:tagLst>
</file>

<file path=ppt/tags/tag13.xml><?xml version="1.0" encoding="utf-8"?>
<p:tagLst xmlns:a="http://schemas.openxmlformats.org/drawingml/2006/main" xmlns:r="http://schemas.openxmlformats.org/officeDocument/2006/relationships" xmlns:p="http://schemas.openxmlformats.org/presentationml/2006/main">
  <p:tag name="KSO_WM_DIAGRAM_VIRTUALLY_FRAME" val="{&quot;height&quot;:291.7994815660427,&quot;left&quot;:229.95881889763777,&quot;top&quot;:106.12031496062991,&quot;width&quot;:726.261968503937}"/>
</p:tagLst>
</file>

<file path=ppt/tags/tag14.xml><?xml version="1.0" encoding="utf-8"?>
<p:tagLst xmlns:a="http://schemas.openxmlformats.org/drawingml/2006/main" xmlns:r="http://schemas.openxmlformats.org/officeDocument/2006/relationships" xmlns:p="http://schemas.openxmlformats.org/presentationml/2006/main">
  <p:tag name="KSO_WM_DIAGRAM_VIRTUALLY_FRAME" val="{&quot;height&quot;:291.7994815660427,&quot;left&quot;:229.95881889763777,&quot;top&quot;:106.12031496062991,&quot;width&quot;:726.261968503937}"/>
</p:tagLst>
</file>

<file path=ppt/tags/tag15.xml><?xml version="1.0" encoding="utf-8"?>
<p:tagLst xmlns:a="http://schemas.openxmlformats.org/drawingml/2006/main" xmlns:r="http://schemas.openxmlformats.org/officeDocument/2006/relationships" xmlns:p="http://schemas.openxmlformats.org/presentationml/2006/main">
  <p:tag name="KSO_WM_DIAGRAM_VIRTUALLY_FRAME" val="{&quot;height&quot;:291.7994815660427,&quot;left&quot;:229.95881889763777,&quot;top&quot;:106.12031496062991,&quot;width&quot;:726.261968503937}"/>
</p:tagLst>
</file>

<file path=ppt/tags/tag16.xml><?xml version="1.0" encoding="utf-8"?>
<p:tagLst xmlns:a="http://schemas.openxmlformats.org/drawingml/2006/main" xmlns:r="http://schemas.openxmlformats.org/officeDocument/2006/relationships" xmlns:p="http://schemas.openxmlformats.org/presentationml/2006/main">
  <p:tag name="KSO_WM_DIAGRAM_VIRTUALLY_FRAME" val="{&quot;height&quot;:291.7994815660427,&quot;left&quot;:229.95881889763777,&quot;top&quot;:106.12031496062991,&quot;width&quot;:726.261968503937}"/>
</p:tagLst>
</file>

<file path=ppt/tags/tag17.xml><?xml version="1.0" encoding="utf-8"?>
<p:tagLst xmlns:a="http://schemas.openxmlformats.org/drawingml/2006/main" xmlns:r="http://schemas.openxmlformats.org/officeDocument/2006/relationships" xmlns:p="http://schemas.openxmlformats.org/presentationml/2006/main">
  <p:tag name="KSO_WM_DIAGRAM_VIRTUALLY_FRAME" val="{&quot;height&quot;:291.7994815660427,&quot;left&quot;:229.95881889763777,&quot;top&quot;:106.12031496062991,&quot;width&quot;:726.261968503937}"/>
</p:tagLst>
</file>

<file path=ppt/tags/tag18.xml><?xml version="1.0" encoding="utf-8"?>
<p:tagLst xmlns:a="http://schemas.openxmlformats.org/drawingml/2006/main" xmlns:r="http://schemas.openxmlformats.org/officeDocument/2006/relationships" xmlns:p="http://schemas.openxmlformats.org/presentationml/2006/main">
  <p:tag name="KSO_WM_DIAGRAM_VIRTUALLY_FRAME" val="{&quot;height&quot;:291.7994815660427,&quot;left&quot;:229.95881889763777,&quot;top&quot;:106.12031496062991,&quot;width&quot;:726.261968503937}"/>
</p:tagLst>
</file>

<file path=ppt/tags/tag19.xml><?xml version="1.0" encoding="utf-8"?>
<p:tagLst xmlns:a="http://schemas.openxmlformats.org/drawingml/2006/main" xmlns:r="http://schemas.openxmlformats.org/officeDocument/2006/relationships" xmlns:p="http://schemas.openxmlformats.org/presentationml/2006/main">
  <p:tag name="KSO_WM_DIAGRAM_VIRTUALLY_FRAME" val="{&quot;height&quot;:291.7994815660427,&quot;left&quot;:229.95881889763777,&quot;top&quot;:106.12031496062991,&quot;width&quot;:726.261968503937}"/>
</p:tagLst>
</file>

<file path=ppt/tags/tag2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1.xml><?xml version="1.0" encoding="utf-8"?>
<p:tagLst xmlns:a="http://schemas.openxmlformats.org/drawingml/2006/main" xmlns:r="http://schemas.openxmlformats.org/officeDocument/2006/relationships" xmlns:p="http://schemas.openxmlformats.org/presentationml/2006/main">
  <p:tag name="KSO_WM_BEAUTIFY_FLAG" val=""/>
</p:tagLst>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15</TotalTime>
  <Words>943</Words>
  <Application>Microsoft Office PowerPoint</Application>
  <PresentationFormat>宽屏</PresentationFormat>
  <Paragraphs>106</Paragraphs>
  <Slides>17</Slides>
  <Notes>4</Notes>
  <HiddenSlides>0</HiddenSlides>
  <MMClips>0</MMClips>
  <ScaleCrop>false</ScaleCrop>
  <HeadingPairs>
    <vt:vector size="6" baseType="variant">
      <vt:variant>
        <vt:lpstr>已用的字体</vt:lpstr>
      </vt:variant>
      <vt:variant>
        <vt:i4>7</vt:i4>
      </vt:variant>
      <vt:variant>
        <vt:lpstr>主题</vt:lpstr>
      </vt:variant>
      <vt:variant>
        <vt:i4>1</vt:i4>
      </vt:variant>
      <vt:variant>
        <vt:lpstr>幻灯片标题</vt:lpstr>
      </vt:variant>
      <vt:variant>
        <vt:i4>17</vt:i4>
      </vt:variant>
    </vt:vector>
  </HeadingPairs>
  <TitlesOfParts>
    <vt:vector size="25" baseType="lpstr">
      <vt:lpstr>ui-sans-serif</vt:lpstr>
      <vt:lpstr>等线</vt:lpstr>
      <vt:lpstr>等线 Light</vt:lpstr>
      <vt:lpstr>微软雅黑</vt:lpstr>
      <vt:lpstr>微软雅黑 Light</vt:lpstr>
      <vt:lpstr>Arial</vt:lpstr>
      <vt:lpstr>Wingdings</vt:lpstr>
      <vt:lpstr>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WJZ一 一</dc:creator>
  <cp:lastModifiedBy>Ayubass</cp:lastModifiedBy>
  <cp:revision>16</cp:revision>
  <dcterms:created xsi:type="dcterms:W3CDTF">2024-04-01T14:24:00Z</dcterms:created>
  <dcterms:modified xsi:type="dcterms:W3CDTF">2024-04-16T06:02:16Z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8432E55AE9C5483489F281028754E3D0_12</vt:lpwstr>
  </property>
  <property fmtid="{D5CDD505-2E9C-101B-9397-08002B2CF9AE}" pid="3" name="KSOProductBuildVer">
    <vt:lpwstr>2052-12.1.0.16250</vt:lpwstr>
  </property>
</Properties>
</file>